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70" r:id="rId12"/>
    <p:sldId id="266" r:id="rId13"/>
    <p:sldId id="267" r:id="rId14"/>
    <p:sldId id="269" r:id="rId15"/>
  </p:sldIdLst>
  <p:sldSz cx="12192000" cy="6858000"/>
  <p:notesSz cx="6858000" cy="9144000"/>
  <p:defaultTextStyle>
    <a:defPPr>
      <a:defRPr lang="en-K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2" autoAdjust="0"/>
    <p:restoredTop sz="94660"/>
  </p:normalViewPr>
  <p:slideViewPr>
    <p:cSldViewPr snapToGrid="0">
      <p:cViewPr varScale="1">
        <p:scale>
          <a:sx n="65" d="100"/>
          <a:sy n="65" d="100"/>
        </p:scale>
        <p:origin x="936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0933C46E-DCBC-47D0-912B-689655DAEF82}" type="doc">
      <dgm:prSet loTypeId="urn:microsoft.com/office/officeart/2008/layout/LinedList" loCatId="list" qsTypeId="urn:microsoft.com/office/officeart/2005/8/quickstyle/simple1" qsCatId="simple" csTypeId="urn:microsoft.com/office/officeart/2005/8/colors/colorful5" csCatId="colorful" phldr="1"/>
      <dgm:spPr/>
      <dgm:t>
        <a:bodyPr/>
        <a:lstStyle/>
        <a:p>
          <a:endParaRPr lang="en-US"/>
        </a:p>
      </dgm:t>
    </dgm:pt>
    <dgm:pt modelId="{972DBFF2-02FD-4F78-8992-BD025A460D5B}">
      <dgm:prSet/>
      <dgm:spPr/>
      <dgm:t>
        <a:bodyPr/>
        <a:lstStyle/>
        <a:p>
          <a:r>
            <a:rPr lang="en-US" dirty="0"/>
            <a:t>Definition of sexual harassment-unwelcome sexual advances, requests for sexual favors, and other verbal or physical harassment of a sexual nature(Welsh, 1999)</a:t>
          </a:r>
        </a:p>
      </dgm:t>
    </dgm:pt>
    <dgm:pt modelId="{FB1530B1-9CFD-4205-B4E7-645D35F998ED}" type="parTrans" cxnId="{7A2373C5-6163-416D-A899-2FF725700EEB}">
      <dgm:prSet/>
      <dgm:spPr/>
      <dgm:t>
        <a:bodyPr/>
        <a:lstStyle/>
        <a:p>
          <a:endParaRPr lang="en-US"/>
        </a:p>
      </dgm:t>
    </dgm:pt>
    <dgm:pt modelId="{A01CC2DD-1C5D-4E95-91AE-04035E935C7B}" type="sibTrans" cxnId="{7A2373C5-6163-416D-A899-2FF725700EEB}">
      <dgm:prSet/>
      <dgm:spPr/>
      <dgm:t>
        <a:bodyPr/>
        <a:lstStyle/>
        <a:p>
          <a:endParaRPr lang="en-US"/>
        </a:p>
      </dgm:t>
    </dgm:pt>
    <dgm:pt modelId="{B38E5317-72AC-4363-8B1D-86259D17828C}">
      <dgm:prSet/>
      <dgm:spPr/>
      <dgm:t>
        <a:bodyPr/>
        <a:lstStyle/>
        <a:p>
          <a:r>
            <a:rPr lang="en-US" dirty="0"/>
            <a:t>Sexual harassment violates Title VII of the Civil Rights Act (Peirce, 1988).</a:t>
          </a:r>
        </a:p>
      </dgm:t>
    </dgm:pt>
    <dgm:pt modelId="{A5CB173C-2A25-4B2F-BF08-1EFA2BA05DA2}" type="parTrans" cxnId="{88EF92CE-C119-4056-A291-75484AEF2671}">
      <dgm:prSet/>
      <dgm:spPr/>
      <dgm:t>
        <a:bodyPr/>
        <a:lstStyle/>
        <a:p>
          <a:endParaRPr lang="en-US"/>
        </a:p>
      </dgm:t>
    </dgm:pt>
    <dgm:pt modelId="{7D920B27-020C-4F94-89A5-690F60E98C6C}" type="sibTrans" cxnId="{88EF92CE-C119-4056-A291-75484AEF2671}">
      <dgm:prSet/>
      <dgm:spPr/>
      <dgm:t>
        <a:bodyPr/>
        <a:lstStyle/>
        <a:p>
          <a:endParaRPr lang="en-US"/>
        </a:p>
      </dgm:t>
    </dgm:pt>
    <dgm:pt modelId="{ED428F2F-6E9A-4A36-AD20-1E11683BA33E}">
      <dgm:prSet/>
      <dgm:spPr/>
      <dgm:t>
        <a:bodyPr/>
        <a:lstStyle/>
        <a:p>
          <a:pPr rtl="0"/>
          <a:endParaRPr lang="en-US" dirty="0"/>
        </a:p>
      </dgm:t>
    </dgm:pt>
    <dgm:pt modelId="{5B1036D2-67BD-4F9E-897B-8107AB50FE99}" type="parTrans" cxnId="{27E28F6B-8931-4D2C-AB04-9D9F9184D100}">
      <dgm:prSet/>
      <dgm:spPr/>
      <dgm:t>
        <a:bodyPr/>
        <a:lstStyle/>
        <a:p>
          <a:endParaRPr lang="en-US"/>
        </a:p>
      </dgm:t>
    </dgm:pt>
    <dgm:pt modelId="{07A0EC85-8E82-43F1-8E59-95F15AE533B8}" type="sibTrans" cxnId="{27E28F6B-8931-4D2C-AB04-9D9F9184D100}">
      <dgm:prSet/>
      <dgm:spPr/>
      <dgm:t>
        <a:bodyPr/>
        <a:lstStyle/>
        <a:p>
          <a:endParaRPr lang="en-US"/>
        </a:p>
      </dgm:t>
    </dgm:pt>
    <dgm:pt modelId="{C78E6BCF-4DDC-4F83-A9C3-3D6AFF4CE4CD}" type="pres">
      <dgm:prSet presAssocID="{0933C46E-DCBC-47D0-912B-689655DAEF82}" presName="vert0" presStyleCnt="0">
        <dgm:presLayoutVars>
          <dgm:dir/>
          <dgm:animOne val="branch"/>
          <dgm:animLvl val="lvl"/>
        </dgm:presLayoutVars>
      </dgm:prSet>
      <dgm:spPr/>
    </dgm:pt>
    <dgm:pt modelId="{E73E714E-99A8-4559-88C2-3C43BC0E6FBF}" type="pres">
      <dgm:prSet presAssocID="{972DBFF2-02FD-4F78-8992-BD025A460D5B}" presName="thickLine" presStyleLbl="alignNode1" presStyleIdx="0" presStyleCnt="3"/>
      <dgm:spPr/>
    </dgm:pt>
    <dgm:pt modelId="{B8D8BC16-3F1C-4D68-96FD-9F03937B7F90}" type="pres">
      <dgm:prSet presAssocID="{972DBFF2-02FD-4F78-8992-BD025A460D5B}" presName="horz1" presStyleCnt="0"/>
      <dgm:spPr/>
    </dgm:pt>
    <dgm:pt modelId="{99BDC941-0EC8-46E3-B3E5-719510ECE2C3}" type="pres">
      <dgm:prSet presAssocID="{972DBFF2-02FD-4F78-8992-BD025A460D5B}" presName="tx1" presStyleLbl="revTx" presStyleIdx="0" presStyleCnt="3"/>
      <dgm:spPr/>
    </dgm:pt>
    <dgm:pt modelId="{683D3956-370A-4464-A4D7-0FAE16ACAAFF}" type="pres">
      <dgm:prSet presAssocID="{972DBFF2-02FD-4F78-8992-BD025A460D5B}" presName="vert1" presStyleCnt="0"/>
      <dgm:spPr/>
    </dgm:pt>
    <dgm:pt modelId="{749EA498-EDF9-4568-B29B-FE9D0E0E90D7}" type="pres">
      <dgm:prSet presAssocID="{B38E5317-72AC-4363-8B1D-86259D17828C}" presName="thickLine" presStyleLbl="alignNode1" presStyleIdx="1" presStyleCnt="3"/>
      <dgm:spPr/>
    </dgm:pt>
    <dgm:pt modelId="{0F000B62-D072-4DFE-943E-1C5149F17E28}" type="pres">
      <dgm:prSet presAssocID="{B38E5317-72AC-4363-8B1D-86259D17828C}" presName="horz1" presStyleCnt="0"/>
      <dgm:spPr/>
    </dgm:pt>
    <dgm:pt modelId="{32BC068A-0E2A-41C9-874F-BBE9869DBCC1}" type="pres">
      <dgm:prSet presAssocID="{B38E5317-72AC-4363-8B1D-86259D17828C}" presName="tx1" presStyleLbl="revTx" presStyleIdx="1" presStyleCnt="3"/>
      <dgm:spPr/>
    </dgm:pt>
    <dgm:pt modelId="{36FCF7E7-889B-4702-9C5D-5F6C0BC8B150}" type="pres">
      <dgm:prSet presAssocID="{B38E5317-72AC-4363-8B1D-86259D17828C}" presName="vert1" presStyleCnt="0"/>
      <dgm:spPr/>
    </dgm:pt>
    <dgm:pt modelId="{76333351-D8A4-4434-B950-E7632CC1F216}" type="pres">
      <dgm:prSet presAssocID="{ED428F2F-6E9A-4A36-AD20-1E11683BA33E}" presName="thickLine" presStyleLbl="alignNode1" presStyleIdx="2" presStyleCnt="3"/>
      <dgm:spPr/>
    </dgm:pt>
    <dgm:pt modelId="{B4EC0F96-EDEA-441A-A5CB-12D7561B5B31}" type="pres">
      <dgm:prSet presAssocID="{ED428F2F-6E9A-4A36-AD20-1E11683BA33E}" presName="horz1" presStyleCnt="0"/>
      <dgm:spPr/>
    </dgm:pt>
    <dgm:pt modelId="{C52C3FF0-5EC4-4403-BBDC-2A7E1866C083}" type="pres">
      <dgm:prSet presAssocID="{ED428F2F-6E9A-4A36-AD20-1E11683BA33E}" presName="tx1" presStyleLbl="revTx" presStyleIdx="2" presStyleCnt="3"/>
      <dgm:spPr/>
    </dgm:pt>
    <dgm:pt modelId="{6D2671C2-41D4-4203-8322-E59C12C7DA4E}" type="pres">
      <dgm:prSet presAssocID="{ED428F2F-6E9A-4A36-AD20-1E11683BA33E}" presName="vert1" presStyleCnt="0"/>
      <dgm:spPr/>
    </dgm:pt>
  </dgm:ptLst>
  <dgm:cxnLst>
    <dgm:cxn modelId="{48D62B2B-6B48-46B5-B1A8-11DCF358CA94}" type="presOf" srcId="{ED428F2F-6E9A-4A36-AD20-1E11683BA33E}" destId="{C52C3FF0-5EC4-4403-BBDC-2A7E1866C083}" srcOrd="0" destOrd="0" presId="urn:microsoft.com/office/officeart/2008/layout/LinedList"/>
    <dgm:cxn modelId="{3337562D-1D47-4C56-9A9F-F4F902C174D4}" type="presOf" srcId="{0933C46E-DCBC-47D0-912B-689655DAEF82}" destId="{C78E6BCF-4DDC-4F83-A9C3-3D6AFF4CE4CD}" srcOrd="0" destOrd="0" presId="urn:microsoft.com/office/officeart/2008/layout/LinedList"/>
    <dgm:cxn modelId="{DDDF0A4A-0894-4946-BCC1-A091B14B2E30}" type="presOf" srcId="{972DBFF2-02FD-4F78-8992-BD025A460D5B}" destId="{99BDC941-0EC8-46E3-B3E5-719510ECE2C3}" srcOrd="0" destOrd="0" presId="urn:microsoft.com/office/officeart/2008/layout/LinedList"/>
    <dgm:cxn modelId="{27E28F6B-8931-4D2C-AB04-9D9F9184D100}" srcId="{0933C46E-DCBC-47D0-912B-689655DAEF82}" destId="{ED428F2F-6E9A-4A36-AD20-1E11683BA33E}" srcOrd="2" destOrd="0" parTransId="{5B1036D2-67BD-4F9E-897B-8107AB50FE99}" sibTransId="{07A0EC85-8E82-43F1-8E59-95F15AE533B8}"/>
    <dgm:cxn modelId="{9CFCB4C0-486E-4DFB-81A3-2B02076A94E3}" type="presOf" srcId="{B38E5317-72AC-4363-8B1D-86259D17828C}" destId="{32BC068A-0E2A-41C9-874F-BBE9869DBCC1}" srcOrd="0" destOrd="0" presId="urn:microsoft.com/office/officeart/2008/layout/LinedList"/>
    <dgm:cxn modelId="{7A2373C5-6163-416D-A899-2FF725700EEB}" srcId="{0933C46E-DCBC-47D0-912B-689655DAEF82}" destId="{972DBFF2-02FD-4F78-8992-BD025A460D5B}" srcOrd="0" destOrd="0" parTransId="{FB1530B1-9CFD-4205-B4E7-645D35F998ED}" sibTransId="{A01CC2DD-1C5D-4E95-91AE-04035E935C7B}"/>
    <dgm:cxn modelId="{88EF92CE-C119-4056-A291-75484AEF2671}" srcId="{0933C46E-DCBC-47D0-912B-689655DAEF82}" destId="{B38E5317-72AC-4363-8B1D-86259D17828C}" srcOrd="1" destOrd="0" parTransId="{A5CB173C-2A25-4B2F-BF08-1EFA2BA05DA2}" sibTransId="{7D920B27-020C-4F94-89A5-690F60E98C6C}"/>
    <dgm:cxn modelId="{9C9674C9-B36F-453B-BA1E-F470CD37E425}" type="presParOf" srcId="{C78E6BCF-4DDC-4F83-A9C3-3D6AFF4CE4CD}" destId="{E73E714E-99A8-4559-88C2-3C43BC0E6FBF}" srcOrd="0" destOrd="0" presId="urn:microsoft.com/office/officeart/2008/layout/LinedList"/>
    <dgm:cxn modelId="{DAA71AF4-9A2F-4791-BFE8-075EDE6CE055}" type="presParOf" srcId="{C78E6BCF-4DDC-4F83-A9C3-3D6AFF4CE4CD}" destId="{B8D8BC16-3F1C-4D68-96FD-9F03937B7F90}" srcOrd="1" destOrd="0" presId="urn:microsoft.com/office/officeart/2008/layout/LinedList"/>
    <dgm:cxn modelId="{8B156895-D579-4B1D-8CA3-2024E3B32478}" type="presParOf" srcId="{B8D8BC16-3F1C-4D68-96FD-9F03937B7F90}" destId="{99BDC941-0EC8-46E3-B3E5-719510ECE2C3}" srcOrd="0" destOrd="0" presId="urn:microsoft.com/office/officeart/2008/layout/LinedList"/>
    <dgm:cxn modelId="{1A19E88F-A714-44E4-BDBB-163629662F06}" type="presParOf" srcId="{B8D8BC16-3F1C-4D68-96FD-9F03937B7F90}" destId="{683D3956-370A-4464-A4D7-0FAE16ACAAFF}" srcOrd="1" destOrd="0" presId="urn:microsoft.com/office/officeart/2008/layout/LinedList"/>
    <dgm:cxn modelId="{D954E4DB-A083-4D47-9D40-234C61EF69B3}" type="presParOf" srcId="{C78E6BCF-4DDC-4F83-A9C3-3D6AFF4CE4CD}" destId="{749EA498-EDF9-4568-B29B-FE9D0E0E90D7}" srcOrd="2" destOrd="0" presId="urn:microsoft.com/office/officeart/2008/layout/LinedList"/>
    <dgm:cxn modelId="{6F9C764F-E1BF-4322-B840-386526E16AEB}" type="presParOf" srcId="{C78E6BCF-4DDC-4F83-A9C3-3D6AFF4CE4CD}" destId="{0F000B62-D072-4DFE-943E-1C5149F17E28}" srcOrd="3" destOrd="0" presId="urn:microsoft.com/office/officeart/2008/layout/LinedList"/>
    <dgm:cxn modelId="{47EC9919-6809-43DE-A505-4D387EAA20E1}" type="presParOf" srcId="{0F000B62-D072-4DFE-943E-1C5149F17E28}" destId="{32BC068A-0E2A-41C9-874F-BBE9869DBCC1}" srcOrd="0" destOrd="0" presId="urn:microsoft.com/office/officeart/2008/layout/LinedList"/>
    <dgm:cxn modelId="{3FCF2688-31BF-4771-A733-12C06117743F}" type="presParOf" srcId="{0F000B62-D072-4DFE-943E-1C5149F17E28}" destId="{36FCF7E7-889B-4702-9C5D-5F6C0BC8B150}" srcOrd="1" destOrd="0" presId="urn:microsoft.com/office/officeart/2008/layout/LinedList"/>
    <dgm:cxn modelId="{160ADFCE-C007-4DFC-AB92-02CF0F164F39}" type="presParOf" srcId="{C78E6BCF-4DDC-4F83-A9C3-3D6AFF4CE4CD}" destId="{76333351-D8A4-4434-B950-E7632CC1F216}" srcOrd="4" destOrd="0" presId="urn:microsoft.com/office/officeart/2008/layout/LinedList"/>
    <dgm:cxn modelId="{5D5158C6-8FA9-47C7-BF9F-E52D8D2BC547}" type="presParOf" srcId="{C78E6BCF-4DDC-4F83-A9C3-3D6AFF4CE4CD}" destId="{B4EC0F96-EDEA-441A-A5CB-12D7561B5B31}" srcOrd="5" destOrd="0" presId="urn:microsoft.com/office/officeart/2008/layout/LinedList"/>
    <dgm:cxn modelId="{81CD3998-DA04-4C1C-9777-E39663134A23}" type="presParOf" srcId="{B4EC0F96-EDEA-441A-A5CB-12D7561B5B31}" destId="{C52C3FF0-5EC4-4403-BBDC-2A7E1866C083}" srcOrd="0" destOrd="0" presId="urn:microsoft.com/office/officeart/2008/layout/LinedList"/>
    <dgm:cxn modelId="{4812FC66-9B7D-45ED-B3E8-0993F69C011D}" type="presParOf" srcId="{B4EC0F96-EDEA-441A-A5CB-12D7561B5B31}" destId="{6D2671C2-41D4-4203-8322-E59C12C7DA4E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BBAF810E-294E-4020-A751-D4CFFB4C808F}" type="doc">
      <dgm:prSet loTypeId="urn:microsoft.com/office/officeart/2005/8/layout/list1" loCatId="list" qsTypeId="urn:microsoft.com/office/officeart/2005/8/quickstyle/simple1" qsCatId="simple" csTypeId="urn:microsoft.com/office/officeart/2005/8/colors/colorful1" csCatId="colorful" phldr="1"/>
      <dgm:spPr/>
      <dgm:t>
        <a:bodyPr/>
        <a:lstStyle/>
        <a:p>
          <a:endParaRPr lang="en-US"/>
        </a:p>
      </dgm:t>
    </dgm:pt>
    <dgm:pt modelId="{02BAE14F-20B0-4FA5-B10B-F5929EE1E960}">
      <dgm:prSet/>
      <dgm:spPr/>
      <dgm:t>
        <a:bodyPr/>
        <a:lstStyle/>
        <a:p>
          <a:r>
            <a:rPr lang="en-US"/>
            <a:t>Statistics</a:t>
          </a:r>
        </a:p>
      </dgm:t>
    </dgm:pt>
    <dgm:pt modelId="{919A68D7-94FF-4002-A4C9-AE47B4E507BC}" type="parTrans" cxnId="{7F0D76EB-4798-405D-B7EF-3BCAD3F5C59A}">
      <dgm:prSet/>
      <dgm:spPr/>
      <dgm:t>
        <a:bodyPr/>
        <a:lstStyle/>
        <a:p>
          <a:endParaRPr lang="en-US"/>
        </a:p>
      </dgm:t>
    </dgm:pt>
    <dgm:pt modelId="{E590DE1E-78B2-4578-8E8C-A4A2C556D284}" type="sibTrans" cxnId="{7F0D76EB-4798-405D-B7EF-3BCAD3F5C59A}">
      <dgm:prSet/>
      <dgm:spPr/>
      <dgm:t>
        <a:bodyPr/>
        <a:lstStyle/>
        <a:p>
          <a:endParaRPr lang="en-US"/>
        </a:p>
      </dgm:t>
    </dgm:pt>
    <dgm:pt modelId="{D255DC71-797F-40AE-B377-D4B6E4B5021D}">
      <dgm:prSet/>
      <dgm:spPr/>
      <dgm:t>
        <a:bodyPr/>
        <a:lstStyle/>
        <a:p>
          <a:r>
            <a:rPr lang="en-US"/>
            <a:t>Over 60% of restaurant employees experience some form of sexual harassment</a:t>
          </a:r>
        </a:p>
      </dgm:t>
    </dgm:pt>
    <dgm:pt modelId="{41D10775-93FC-4808-9647-4DC1ED966613}" type="parTrans" cxnId="{F318E25C-EE2E-4F44-8E8B-B12372D7C958}">
      <dgm:prSet/>
      <dgm:spPr/>
      <dgm:t>
        <a:bodyPr/>
        <a:lstStyle/>
        <a:p>
          <a:endParaRPr lang="en-US"/>
        </a:p>
      </dgm:t>
    </dgm:pt>
    <dgm:pt modelId="{BBC12D26-DAB1-415D-AB54-9BE459B939A4}" type="sibTrans" cxnId="{F318E25C-EE2E-4F44-8E8B-B12372D7C958}">
      <dgm:prSet/>
      <dgm:spPr/>
      <dgm:t>
        <a:bodyPr/>
        <a:lstStyle/>
        <a:p>
          <a:endParaRPr lang="en-US"/>
        </a:p>
      </dgm:t>
    </dgm:pt>
    <dgm:pt modelId="{088A326E-23FE-42EA-BECD-D317BA097D63}">
      <dgm:prSet/>
      <dgm:spPr/>
      <dgm:t>
        <a:bodyPr/>
        <a:lstStyle/>
        <a:p>
          <a:r>
            <a:rPr lang="en-US"/>
            <a:t>80% of incidents go unreported</a:t>
          </a:r>
        </a:p>
      </dgm:t>
    </dgm:pt>
    <dgm:pt modelId="{1FE1EF29-AD34-4A66-B068-7C5D42F5E84E}" type="parTrans" cxnId="{007F4F5D-6AE0-4E36-94FE-CA825DE109F2}">
      <dgm:prSet/>
      <dgm:spPr/>
      <dgm:t>
        <a:bodyPr/>
        <a:lstStyle/>
        <a:p>
          <a:endParaRPr lang="en-US"/>
        </a:p>
      </dgm:t>
    </dgm:pt>
    <dgm:pt modelId="{D5C19D3E-EE8F-4C21-B2D5-8E507260288F}" type="sibTrans" cxnId="{007F4F5D-6AE0-4E36-94FE-CA825DE109F2}">
      <dgm:prSet/>
      <dgm:spPr/>
      <dgm:t>
        <a:bodyPr/>
        <a:lstStyle/>
        <a:p>
          <a:endParaRPr lang="en-US"/>
        </a:p>
      </dgm:t>
    </dgm:pt>
    <dgm:pt modelId="{E6479026-C0C6-4A74-B776-872186802A04}">
      <dgm:prSet/>
      <dgm:spPr/>
      <dgm:t>
        <a:bodyPr/>
        <a:lstStyle/>
        <a:p>
          <a:r>
            <a:rPr lang="en-US"/>
            <a:t>Contributing factors</a:t>
          </a:r>
        </a:p>
      </dgm:t>
    </dgm:pt>
    <dgm:pt modelId="{E87A09D3-DF74-4CDD-A676-358E3880D80A}" type="parTrans" cxnId="{C1D6C0C8-5D6C-47CF-ADE0-B2A49142B86D}">
      <dgm:prSet/>
      <dgm:spPr/>
      <dgm:t>
        <a:bodyPr/>
        <a:lstStyle/>
        <a:p>
          <a:endParaRPr lang="en-US"/>
        </a:p>
      </dgm:t>
    </dgm:pt>
    <dgm:pt modelId="{EFD0406F-4723-487A-BD01-960C45C73195}" type="sibTrans" cxnId="{C1D6C0C8-5D6C-47CF-ADE0-B2A49142B86D}">
      <dgm:prSet/>
      <dgm:spPr/>
      <dgm:t>
        <a:bodyPr/>
        <a:lstStyle/>
        <a:p>
          <a:endParaRPr lang="en-US"/>
        </a:p>
      </dgm:t>
    </dgm:pt>
    <dgm:pt modelId="{7BAC2A72-3F52-4345-95E3-ACA043F5BA9F}">
      <dgm:prSet/>
      <dgm:spPr/>
      <dgm:t>
        <a:bodyPr/>
        <a:lstStyle/>
        <a:p>
          <a:r>
            <a:rPr lang="en-US"/>
            <a:t>Close interactions with customers</a:t>
          </a:r>
        </a:p>
      </dgm:t>
    </dgm:pt>
    <dgm:pt modelId="{F4990B0F-ECC8-4375-B0DE-9D012CE5B463}" type="parTrans" cxnId="{E828B011-A5BB-43AA-9AD6-CA5AC00565BA}">
      <dgm:prSet/>
      <dgm:spPr/>
      <dgm:t>
        <a:bodyPr/>
        <a:lstStyle/>
        <a:p>
          <a:endParaRPr lang="en-US"/>
        </a:p>
      </dgm:t>
    </dgm:pt>
    <dgm:pt modelId="{DD0220D0-B267-4C90-8927-D79EDD3A34EE}" type="sibTrans" cxnId="{E828B011-A5BB-43AA-9AD6-CA5AC00565BA}">
      <dgm:prSet/>
      <dgm:spPr/>
      <dgm:t>
        <a:bodyPr/>
        <a:lstStyle/>
        <a:p>
          <a:endParaRPr lang="en-US"/>
        </a:p>
      </dgm:t>
    </dgm:pt>
    <dgm:pt modelId="{1DECEF1A-FE5D-42CF-89F4-B2EBBA38FCAA}">
      <dgm:prSet/>
      <dgm:spPr/>
      <dgm:t>
        <a:bodyPr/>
        <a:lstStyle/>
        <a:p>
          <a:r>
            <a:rPr lang="en-US" dirty="0"/>
            <a:t>Alcohol consumption (</a:t>
          </a:r>
          <a:r>
            <a:rPr lang="en-US" b="0" i="0" dirty="0">
              <a:solidFill>
                <a:srgbClr val="222222"/>
              </a:solidFill>
              <a:effectLst/>
              <a:latin typeface="Arial" panose="020B0604020202020204" pitchFamily="34" charset="0"/>
            </a:rPr>
            <a:t>Nawyn et al. 2000)</a:t>
          </a:r>
          <a:endParaRPr lang="en-US" dirty="0"/>
        </a:p>
      </dgm:t>
    </dgm:pt>
    <dgm:pt modelId="{BD66232B-3E3A-46D1-92AB-2E683B28A44C}" type="parTrans" cxnId="{8365BFF1-A422-44E1-BB11-ACFFE4613F2B}">
      <dgm:prSet/>
      <dgm:spPr/>
      <dgm:t>
        <a:bodyPr/>
        <a:lstStyle/>
        <a:p>
          <a:endParaRPr lang="en-US"/>
        </a:p>
      </dgm:t>
    </dgm:pt>
    <dgm:pt modelId="{AF41732B-85FC-4E4C-AE1B-8D895B7158A2}" type="sibTrans" cxnId="{8365BFF1-A422-44E1-BB11-ACFFE4613F2B}">
      <dgm:prSet/>
      <dgm:spPr/>
      <dgm:t>
        <a:bodyPr/>
        <a:lstStyle/>
        <a:p>
          <a:endParaRPr lang="en-US"/>
        </a:p>
      </dgm:t>
    </dgm:pt>
    <dgm:pt modelId="{67DC9F9A-27B0-48CE-A7A7-0FD4F1B1C9AD}">
      <dgm:prSet/>
      <dgm:spPr/>
      <dgm:t>
        <a:bodyPr/>
        <a:lstStyle/>
        <a:p>
          <a:r>
            <a:rPr lang="en-US"/>
            <a:t>Imbalance of power</a:t>
          </a:r>
        </a:p>
      </dgm:t>
    </dgm:pt>
    <dgm:pt modelId="{3A9CB217-848C-4351-AB7D-0FA0B7F186A1}" type="parTrans" cxnId="{A5147928-E8CA-42EE-AED2-93FF94F452A0}">
      <dgm:prSet/>
      <dgm:spPr/>
      <dgm:t>
        <a:bodyPr/>
        <a:lstStyle/>
        <a:p>
          <a:endParaRPr lang="en-US"/>
        </a:p>
      </dgm:t>
    </dgm:pt>
    <dgm:pt modelId="{733D6EC8-7C60-4622-AE40-22178A5D2ADF}" type="sibTrans" cxnId="{A5147928-E8CA-42EE-AED2-93FF94F452A0}">
      <dgm:prSet/>
      <dgm:spPr/>
      <dgm:t>
        <a:bodyPr/>
        <a:lstStyle/>
        <a:p>
          <a:endParaRPr lang="en-US"/>
        </a:p>
      </dgm:t>
    </dgm:pt>
    <dgm:pt modelId="{ABC6F0F2-7F36-48F8-895E-9ACC8B37AA6F}" type="pres">
      <dgm:prSet presAssocID="{BBAF810E-294E-4020-A751-D4CFFB4C808F}" presName="linear" presStyleCnt="0">
        <dgm:presLayoutVars>
          <dgm:dir/>
          <dgm:animLvl val="lvl"/>
          <dgm:resizeHandles val="exact"/>
        </dgm:presLayoutVars>
      </dgm:prSet>
      <dgm:spPr/>
    </dgm:pt>
    <dgm:pt modelId="{E5AC65AD-A05B-4B9E-B9AC-482B68725AAA}" type="pres">
      <dgm:prSet presAssocID="{02BAE14F-20B0-4FA5-B10B-F5929EE1E960}" presName="parentLin" presStyleCnt="0"/>
      <dgm:spPr/>
    </dgm:pt>
    <dgm:pt modelId="{B5A477E6-C3A2-402C-8928-D76BBFD98C5F}" type="pres">
      <dgm:prSet presAssocID="{02BAE14F-20B0-4FA5-B10B-F5929EE1E960}" presName="parentLeftMargin" presStyleLbl="node1" presStyleIdx="0" presStyleCnt="2"/>
      <dgm:spPr/>
    </dgm:pt>
    <dgm:pt modelId="{1A8FE0B8-F802-4F6B-846F-FD0E6E26EFE6}" type="pres">
      <dgm:prSet presAssocID="{02BAE14F-20B0-4FA5-B10B-F5929EE1E960}" presName="parentText" presStyleLbl="node1" presStyleIdx="0" presStyleCnt="2">
        <dgm:presLayoutVars>
          <dgm:chMax val="0"/>
          <dgm:bulletEnabled val="1"/>
        </dgm:presLayoutVars>
      </dgm:prSet>
      <dgm:spPr/>
    </dgm:pt>
    <dgm:pt modelId="{BC0A7FF1-43DA-4100-98B6-17C0783742BC}" type="pres">
      <dgm:prSet presAssocID="{02BAE14F-20B0-4FA5-B10B-F5929EE1E960}" presName="negativeSpace" presStyleCnt="0"/>
      <dgm:spPr/>
    </dgm:pt>
    <dgm:pt modelId="{A649ED84-11E0-4135-8F64-83DB7652EF00}" type="pres">
      <dgm:prSet presAssocID="{02BAE14F-20B0-4FA5-B10B-F5929EE1E960}" presName="childText" presStyleLbl="conFgAcc1" presStyleIdx="0" presStyleCnt="2">
        <dgm:presLayoutVars>
          <dgm:bulletEnabled val="1"/>
        </dgm:presLayoutVars>
      </dgm:prSet>
      <dgm:spPr/>
    </dgm:pt>
    <dgm:pt modelId="{6305DDDF-E206-4E06-8A8D-D2CA938B0D40}" type="pres">
      <dgm:prSet presAssocID="{E590DE1E-78B2-4578-8E8C-A4A2C556D284}" presName="spaceBetweenRectangles" presStyleCnt="0"/>
      <dgm:spPr/>
    </dgm:pt>
    <dgm:pt modelId="{DACE20BE-F650-4E86-947A-1CF4A703BAA3}" type="pres">
      <dgm:prSet presAssocID="{E6479026-C0C6-4A74-B776-872186802A04}" presName="parentLin" presStyleCnt="0"/>
      <dgm:spPr/>
    </dgm:pt>
    <dgm:pt modelId="{322C5392-C303-4018-BA61-AAC46C963C39}" type="pres">
      <dgm:prSet presAssocID="{E6479026-C0C6-4A74-B776-872186802A04}" presName="parentLeftMargin" presStyleLbl="node1" presStyleIdx="0" presStyleCnt="2"/>
      <dgm:spPr/>
    </dgm:pt>
    <dgm:pt modelId="{7C9C7E16-09DE-4970-9DC3-E85626F0ED4A}" type="pres">
      <dgm:prSet presAssocID="{E6479026-C0C6-4A74-B776-872186802A04}" presName="parentText" presStyleLbl="node1" presStyleIdx="1" presStyleCnt="2">
        <dgm:presLayoutVars>
          <dgm:chMax val="0"/>
          <dgm:bulletEnabled val="1"/>
        </dgm:presLayoutVars>
      </dgm:prSet>
      <dgm:spPr/>
    </dgm:pt>
    <dgm:pt modelId="{F76B5734-09A3-4DEA-889C-AD7DE0E06C18}" type="pres">
      <dgm:prSet presAssocID="{E6479026-C0C6-4A74-B776-872186802A04}" presName="negativeSpace" presStyleCnt="0"/>
      <dgm:spPr/>
    </dgm:pt>
    <dgm:pt modelId="{79F3D4F1-864C-4039-8E31-1813EF055423}" type="pres">
      <dgm:prSet presAssocID="{E6479026-C0C6-4A74-B776-872186802A04}" presName="childText" presStyleLbl="conFgAcc1" presStyleIdx="1" presStyleCnt="2">
        <dgm:presLayoutVars>
          <dgm:bulletEnabled val="1"/>
        </dgm:presLayoutVars>
      </dgm:prSet>
      <dgm:spPr/>
    </dgm:pt>
  </dgm:ptLst>
  <dgm:cxnLst>
    <dgm:cxn modelId="{E828B011-A5BB-43AA-9AD6-CA5AC00565BA}" srcId="{E6479026-C0C6-4A74-B776-872186802A04}" destId="{7BAC2A72-3F52-4345-95E3-ACA043F5BA9F}" srcOrd="0" destOrd="0" parTransId="{F4990B0F-ECC8-4375-B0DE-9D012CE5B463}" sibTransId="{DD0220D0-B267-4C90-8927-D79EDD3A34EE}"/>
    <dgm:cxn modelId="{80C29E20-7BCA-42AC-814F-B0623A245F1C}" type="presOf" srcId="{02BAE14F-20B0-4FA5-B10B-F5929EE1E960}" destId="{B5A477E6-C3A2-402C-8928-D76BBFD98C5F}" srcOrd="0" destOrd="0" presId="urn:microsoft.com/office/officeart/2005/8/layout/list1"/>
    <dgm:cxn modelId="{BC23E322-5BEE-42AA-BC87-628D6CB5DED7}" type="presOf" srcId="{1DECEF1A-FE5D-42CF-89F4-B2EBBA38FCAA}" destId="{79F3D4F1-864C-4039-8E31-1813EF055423}" srcOrd="0" destOrd="1" presId="urn:microsoft.com/office/officeart/2005/8/layout/list1"/>
    <dgm:cxn modelId="{A5147928-E8CA-42EE-AED2-93FF94F452A0}" srcId="{E6479026-C0C6-4A74-B776-872186802A04}" destId="{67DC9F9A-27B0-48CE-A7A7-0FD4F1B1C9AD}" srcOrd="2" destOrd="0" parTransId="{3A9CB217-848C-4351-AB7D-0FA0B7F186A1}" sibTransId="{733D6EC8-7C60-4622-AE40-22178A5D2ADF}"/>
    <dgm:cxn modelId="{50C1CA34-1D29-4193-8166-9E3C5B25CEE8}" type="presOf" srcId="{67DC9F9A-27B0-48CE-A7A7-0FD4F1B1C9AD}" destId="{79F3D4F1-864C-4039-8E31-1813EF055423}" srcOrd="0" destOrd="2" presId="urn:microsoft.com/office/officeart/2005/8/layout/list1"/>
    <dgm:cxn modelId="{3547F73B-8A03-4189-9E7E-A9E9CE529109}" type="presOf" srcId="{D255DC71-797F-40AE-B377-D4B6E4B5021D}" destId="{A649ED84-11E0-4135-8F64-83DB7652EF00}" srcOrd="0" destOrd="0" presId="urn:microsoft.com/office/officeart/2005/8/layout/list1"/>
    <dgm:cxn modelId="{F318E25C-EE2E-4F44-8E8B-B12372D7C958}" srcId="{02BAE14F-20B0-4FA5-B10B-F5929EE1E960}" destId="{D255DC71-797F-40AE-B377-D4B6E4B5021D}" srcOrd="0" destOrd="0" parTransId="{41D10775-93FC-4808-9647-4DC1ED966613}" sibTransId="{BBC12D26-DAB1-415D-AB54-9BE459B939A4}"/>
    <dgm:cxn modelId="{007F4F5D-6AE0-4E36-94FE-CA825DE109F2}" srcId="{02BAE14F-20B0-4FA5-B10B-F5929EE1E960}" destId="{088A326E-23FE-42EA-BECD-D317BA097D63}" srcOrd="1" destOrd="0" parTransId="{1FE1EF29-AD34-4A66-B068-7C5D42F5E84E}" sibTransId="{D5C19D3E-EE8F-4C21-B2D5-8E507260288F}"/>
    <dgm:cxn modelId="{FA6DA146-4BEE-4FA5-8E76-59DEEF311CC6}" type="presOf" srcId="{02BAE14F-20B0-4FA5-B10B-F5929EE1E960}" destId="{1A8FE0B8-F802-4F6B-846F-FD0E6E26EFE6}" srcOrd="1" destOrd="0" presId="urn:microsoft.com/office/officeart/2005/8/layout/list1"/>
    <dgm:cxn modelId="{41276E55-8D6B-448A-B20E-32800ED8A8C9}" type="presOf" srcId="{BBAF810E-294E-4020-A751-D4CFFB4C808F}" destId="{ABC6F0F2-7F36-48F8-895E-9ACC8B37AA6F}" srcOrd="0" destOrd="0" presId="urn:microsoft.com/office/officeart/2005/8/layout/list1"/>
    <dgm:cxn modelId="{3B37F859-8D1F-4E8B-B085-86CCCE580387}" type="presOf" srcId="{E6479026-C0C6-4A74-B776-872186802A04}" destId="{322C5392-C303-4018-BA61-AAC46C963C39}" srcOrd="0" destOrd="0" presId="urn:microsoft.com/office/officeart/2005/8/layout/list1"/>
    <dgm:cxn modelId="{6FF7D583-E86A-4340-AFC6-47BFC9166244}" type="presOf" srcId="{E6479026-C0C6-4A74-B776-872186802A04}" destId="{7C9C7E16-09DE-4970-9DC3-E85626F0ED4A}" srcOrd="1" destOrd="0" presId="urn:microsoft.com/office/officeart/2005/8/layout/list1"/>
    <dgm:cxn modelId="{6D0D19C5-A556-435C-BB76-505E4DA768E5}" type="presOf" srcId="{088A326E-23FE-42EA-BECD-D317BA097D63}" destId="{A649ED84-11E0-4135-8F64-83DB7652EF00}" srcOrd="0" destOrd="1" presId="urn:microsoft.com/office/officeart/2005/8/layout/list1"/>
    <dgm:cxn modelId="{C1D6C0C8-5D6C-47CF-ADE0-B2A49142B86D}" srcId="{BBAF810E-294E-4020-A751-D4CFFB4C808F}" destId="{E6479026-C0C6-4A74-B776-872186802A04}" srcOrd="1" destOrd="0" parTransId="{E87A09D3-DF74-4CDD-A676-358E3880D80A}" sibTransId="{EFD0406F-4723-487A-BD01-960C45C73195}"/>
    <dgm:cxn modelId="{6907D7CB-DD71-42E5-BCEA-0CE4F28CA532}" type="presOf" srcId="{7BAC2A72-3F52-4345-95E3-ACA043F5BA9F}" destId="{79F3D4F1-864C-4039-8E31-1813EF055423}" srcOrd="0" destOrd="0" presId="urn:microsoft.com/office/officeart/2005/8/layout/list1"/>
    <dgm:cxn modelId="{7F0D76EB-4798-405D-B7EF-3BCAD3F5C59A}" srcId="{BBAF810E-294E-4020-A751-D4CFFB4C808F}" destId="{02BAE14F-20B0-4FA5-B10B-F5929EE1E960}" srcOrd="0" destOrd="0" parTransId="{919A68D7-94FF-4002-A4C9-AE47B4E507BC}" sibTransId="{E590DE1E-78B2-4578-8E8C-A4A2C556D284}"/>
    <dgm:cxn modelId="{8365BFF1-A422-44E1-BB11-ACFFE4613F2B}" srcId="{E6479026-C0C6-4A74-B776-872186802A04}" destId="{1DECEF1A-FE5D-42CF-89F4-B2EBBA38FCAA}" srcOrd="1" destOrd="0" parTransId="{BD66232B-3E3A-46D1-92AB-2E683B28A44C}" sibTransId="{AF41732B-85FC-4E4C-AE1B-8D895B7158A2}"/>
    <dgm:cxn modelId="{206B79DE-A90E-4788-AB84-EE1417EE8925}" type="presParOf" srcId="{ABC6F0F2-7F36-48F8-895E-9ACC8B37AA6F}" destId="{E5AC65AD-A05B-4B9E-B9AC-482B68725AAA}" srcOrd="0" destOrd="0" presId="urn:microsoft.com/office/officeart/2005/8/layout/list1"/>
    <dgm:cxn modelId="{2C568143-EC3F-47D3-A46B-68D23FF8B255}" type="presParOf" srcId="{E5AC65AD-A05B-4B9E-B9AC-482B68725AAA}" destId="{B5A477E6-C3A2-402C-8928-D76BBFD98C5F}" srcOrd="0" destOrd="0" presId="urn:microsoft.com/office/officeart/2005/8/layout/list1"/>
    <dgm:cxn modelId="{10A97E6F-4323-4904-BF4E-89DDB3E726AA}" type="presParOf" srcId="{E5AC65AD-A05B-4B9E-B9AC-482B68725AAA}" destId="{1A8FE0B8-F802-4F6B-846F-FD0E6E26EFE6}" srcOrd="1" destOrd="0" presId="urn:microsoft.com/office/officeart/2005/8/layout/list1"/>
    <dgm:cxn modelId="{F3BDCAB1-CFE7-41BA-B171-597BB16167FB}" type="presParOf" srcId="{ABC6F0F2-7F36-48F8-895E-9ACC8B37AA6F}" destId="{BC0A7FF1-43DA-4100-98B6-17C0783742BC}" srcOrd="1" destOrd="0" presId="urn:microsoft.com/office/officeart/2005/8/layout/list1"/>
    <dgm:cxn modelId="{01A1FF62-F746-48BA-A78B-ADA36211675F}" type="presParOf" srcId="{ABC6F0F2-7F36-48F8-895E-9ACC8B37AA6F}" destId="{A649ED84-11E0-4135-8F64-83DB7652EF00}" srcOrd="2" destOrd="0" presId="urn:microsoft.com/office/officeart/2005/8/layout/list1"/>
    <dgm:cxn modelId="{EEA43FA5-A7E5-47F1-8889-35B883C4B37F}" type="presParOf" srcId="{ABC6F0F2-7F36-48F8-895E-9ACC8B37AA6F}" destId="{6305DDDF-E206-4E06-8A8D-D2CA938B0D40}" srcOrd="3" destOrd="0" presId="urn:microsoft.com/office/officeart/2005/8/layout/list1"/>
    <dgm:cxn modelId="{848B9222-CC4E-4817-BE03-6B9F87998438}" type="presParOf" srcId="{ABC6F0F2-7F36-48F8-895E-9ACC8B37AA6F}" destId="{DACE20BE-F650-4E86-947A-1CF4A703BAA3}" srcOrd="4" destOrd="0" presId="urn:microsoft.com/office/officeart/2005/8/layout/list1"/>
    <dgm:cxn modelId="{8FCF3D1E-998E-4FDB-8703-742A539011F0}" type="presParOf" srcId="{DACE20BE-F650-4E86-947A-1CF4A703BAA3}" destId="{322C5392-C303-4018-BA61-AAC46C963C39}" srcOrd="0" destOrd="0" presId="urn:microsoft.com/office/officeart/2005/8/layout/list1"/>
    <dgm:cxn modelId="{34AB8885-1E2B-4E86-A634-C7E8DBC59E00}" type="presParOf" srcId="{DACE20BE-F650-4E86-947A-1CF4A703BAA3}" destId="{7C9C7E16-09DE-4970-9DC3-E85626F0ED4A}" srcOrd="1" destOrd="0" presId="urn:microsoft.com/office/officeart/2005/8/layout/list1"/>
    <dgm:cxn modelId="{2825B796-0DA1-4FBE-AE71-08A1CD4D9BBA}" type="presParOf" srcId="{ABC6F0F2-7F36-48F8-895E-9ACC8B37AA6F}" destId="{F76B5734-09A3-4DEA-889C-AD7DE0E06C18}" srcOrd="5" destOrd="0" presId="urn:microsoft.com/office/officeart/2005/8/layout/list1"/>
    <dgm:cxn modelId="{B93720F3-38E6-4362-B10E-0C7058A80C09}" type="presParOf" srcId="{ABC6F0F2-7F36-48F8-895E-9ACC8B37AA6F}" destId="{79F3D4F1-864C-4039-8E31-1813EF055423}" srcOrd="6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0E05147C-58A5-407B-B8FF-B006C2F73C46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0C399571-7998-4FD0-A3E3-D8802796A93F}">
      <dgm:prSet/>
      <dgm:spPr/>
      <dgm:t>
        <a:bodyPr/>
        <a:lstStyle/>
        <a:p>
          <a:r>
            <a:rPr lang="en-US"/>
            <a:t>Manager responsibilities:</a:t>
          </a:r>
        </a:p>
      </dgm:t>
    </dgm:pt>
    <dgm:pt modelId="{28473F7C-6447-4715-B6E1-DC86AB2BA957}" type="parTrans" cxnId="{DB723602-155D-400C-9B6C-ECF7BFA8635F}">
      <dgm:prSet/>
      <dgm:spPr/>
      <dgm:t>
        <a:bodyPr/>
        <a:lstStyle/>
        <a:p>
          <a:endParaRPr lang="en-US"/>
        </a:p>
      </dgm:t>
    </dgm:pt>
    <dgm:pt modelId="{7938E051-2863-4C31-B2D8-5504A9F3C9BE}" type="sibTrans" cxnId="{DB723602-155D-400C-9B6C-ECF7BFA8635F}">
      <dgm:prSet/>
      <dgm:spPr/>
      <dgm:t>
        <a:bodyPr/>
        <a:lstStyle/>
        <a:p>
          <a:endParaRPr lang="en-US"/>
        </a:p>
      </dgm:t>
    </dgm:pt>
    <dgm:pt modelId="{8D911073-D067-46AD-A64D-E8E028C4ECF0}">
      <dgm:prSet/>
      <dgm:spPr/>
      <dgm:t>
        <a:bodyPr/>
        <a:lstStyle/>
        <a:p>
          <a:r>
            <a:rPr lang="en-US"/>
            <a:t>Implement clear sexual harassment policies</a:t>
          </a:r>
        </a:p>
      </dgm:t>
    </dgm:pt>
    <dgm:pt modelId="{34BE51C3-A099-44C1-8DB0-E9E5E9BFA51D}" type="parTrans" cxnId="{090B3507-3980-4BCC-841F-F4677687815E}">
      <dgm:prSet/>
      <dgm:spPr/>
      <dgm:t>
        <a:bodyPr/>
        <a:lstStyle/>
        <a:p>
          <a:endParaRPr lang="en-US"/>
        </a:p>
      </dgm:t>
    </dgm:pt>
    <dgm:pt modelId="{6D02E139-42D2-496B-BD3C-3748ABF48DC5}" type="sibTrans" cxnId="{090B3507-3980-4BCC-841F-F4677687815E}">
      <dgm:prSet/>
      <dgm:spPr/>
      <dgm:t>
        <a:bodyPr/>
        <a:lstStyle/>
        <a:p>
          <a:endParaRPr lang="en-US"/>
        </a:p>
      </dgm:t>
    </dgm:pt>
    <dgm:pt modelId="{10B2CA00-A2BE-4429-8A6F-3BBB860DC49E}">
      <dgm:prSet/>
      <dgm:spPr/>
      <dgm:t>
        <a:bodyPr/>
        <a:lstStyle/>
        <a:p>
          <a:r>
            <a:rPr lang="en-US"/>
            <a:t>Train staff on policies and reporting</a:t>
          </a:r>
        </a:p>
      </dgm:t>
    </dgm:pt>
    <dgm:pt modelId="{2A17BEBF-54A1-4DCC-8299-05844EBC652C}" type="parTrans" cxnId="{BBF91A97-CEDE-487D-9406-D9DACD1277EA}">
      <dgm:prSet/>
      <dgm:spPr/>
      <dgm:t>
        <a:bodyPr/>
        <a:lstStyle/>
        <a:p>
          <a:endParaRPr lang="en-US"/>
        </a:p>
      </dgm:t>
    </dgm:pt>
    <dgm:pt modelId="{C36844D3-4B90-4237-BD70-5D2968AA1D9C}" type="sibTrans" cxnId="{BBF91A97-CEDE-487D-9406-D9DACD1277EA}">
      <dgm:prSet/>
      <dgm:spPr/>
      <dgm:t>
        <a:bodyPr/>
        <a:lstStyle/>
        <a:p>
          <a:endParaRPr lang="en-US"/>
        </a:p>
      </dgm:t>
    </dgm:pt>
    <dgm:pt modelId="{F3706B33-76E4-45B7-8D2D-1C800AC55199}">
      <dgm:prSet/>
      <dgm:spPr/>
      <dgm:t>
        <a:bodyPr/>
        <a:lstStyle/>
        <a:p>
          <a:r>
            <a:rPr lang="en-US"/>
            <a:t>Take every claim seriously and investigate promptly</a:t>
          </a:r>
        </a:p>
      </dgm:t>
    </dgm:pt>
    <dgm:pt modelId="{164734D2-F276-4B00-8503-179C92AFDA3D}" type="parTrans" cxnId="{43DDFCAE-7A07-4FF9-9145-3FBD90ED82DE}">
      <dgm:prSet/>
      <dgm:spPr/>
      <dgm:t>
        <a:bodyPr/>
        <a:lstStyle/>
        <a:p>
          <a:endParaRPr lang="en-US"/>
        </a:p>
      </dgm:t>
    </dgm:pt>
    <dgm:pt modelId="{113BE6B1-1BC3-4620-8E48-1183468AA72B}" type="sibTrans" cxnId="{43DDFCAE-7A07-4FF9-9145-3FBD90ED82DE}">
      <dgm:prSet/>
      <dgm:spPr/>
      <dgm:t>
        <a:bodyPr/>
        <a:lstStyle/>
        <a:p>
          <a:endParaRPr lang="en-US"/>
        </a:p>
      </dgm:t>
    </dgm:pt>
    <dgm:pt modelId="{A4D00750-1EA1-449B-8AA1-24190D6AA3D7}" type="pres">
      <dgm:prSet presAssocID="{0E05147C-58A5-407B-B8FF-B006C2F73C46}" presName="linear" presStyleCnt="0">
        <dgm:presLayoutVars>
          <dgm:animLvl val="lvl"/>
          <dgm:resizeHandles val="exact"/>
        </dgm:presLayoutVars>
      </dgm:prSet>
      <dgm:spPr/>
    </dgm:pt>
    <dgm:pt modelId="{C2101138-D224-47EF-ADAD-A4B872EC1495}" type="pres">
      <dgm:prSet presAssocID="{0C399571-7998-4FD0-A3E3-D8802796A93F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9845E9DC-684A-4E1B-B692-F4A5559F6932}" type="pres">
      <dgm:prSet presAssocID="{7938E051-2863-4C31-B2D8-5504A9F3C9BE}" presName="spacer" presStyleCnt="0"/>
      <dgm:spPr/>
    </dgm:pt>
    <dgm:pt modelId="{7C43AF98-41FA-43B2-A025-B1307FD852CF}" type="pres">
      <dgm:prSet presAssocID="{8D911073-D067-46AD-A64D-E8E028C4ECF0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1FAA3DAD-F256-4930-B98C-F161CAE66742}" type="pres">
      <dgm:prSet presAssocID="{6D02E139-42D2-496B-BD3C-3748ABF48DC5}" presName="spacer" presStyleCnt="0"/>
      <dgm:spPr/>
    </dgm:pt>
    <dgm:pt modelId="{9953968C-5C77-41CF-A7EF-1674084CACF6}" type="pres">
      <dgm:prSet presAssocID="{10B2CA00-A2BE-4429-8A6F-3BBB860DC49E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28661811-DC25-4D2D-AF4F-3DC8B651BDE1}" type="pres">
      <dgm:prSet presAssocID="{C36844D3-4B90-4237-BD70-5D2968AA1D9C}" presName="spacer" presStyleCnt="0"/>
      <dgm:spPr/>
    </dgm:pt>
    <dgm:pt modelId="{0AB3CB4A-6D31-4A38-95EA-E577ACAA1D4B}" type="pres">
      <dgm:prSet presAssocID="{F3706B33-76E4-45B7-8D2D-1C800AC55199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DB723602-155D-400C-9B6C-ECF7BFA8635F}" srcId="{0E05147C-58A5-407B-B8FF-B006C2F73C46}" destId="{0C399571-7998-4FD0-A3E3-D8802796A93F}" srcOrd="0" destOrd="0" parTransId="{28473F7C-6447-4715-B6E1-DC86AB2BA957}" sibTransId="{7938E051-2863-4C31-B2D8-5504A9F3C9BE}"/>
    <dgm:cxn modelId="{090B3507-3980-4BCC-841F-F4677687815E}" srcId="{0E05147C-58A5-407B-B8FF-B006C2F73C46}" destId="{8D911073-D067-46AD-A64D-E8E028C4ECF0}" srcOrd="1" destOrd="0" parTransId="{34BE51C3-A099-44C1-8DB0-E9E5E9BFA51D}" sibTransId="{6D02E139-42D2-496B-BD3C-3748ABF48DC5}"/>
    <dgm:cxn modelId="{3B3F7E5B-A1C6-4F3C-B2E2-C1B11EDF87E7}" type="presOf" srcId="{8D911073-D067-46AD-A64D-E8E028C4ECF0}" destId="{7C43AF98-41FA-43B2-A025-B1307FD852CF}" srcOrd="0" destOrd="0" presId="urn:microsoft.com/office/officeart/2005/8/layout/vList2"/>
    <dgm:cxn modelId="{DFA43141-E39D-4D73-A1F1-7ED588E34350}" type="presOf" srcId="{F3706B33-76E4-45B7-8D2D-1C800AC55199}" destId="{0AB3CB4A-6D31-4A38-95EA-E577ACAA1D4B}" srcOrd="0" destOrd="0" presId="urn:microsoft.com/office/officeart/2005/8/layout/vList2"/>
    <dgm:cxn modelId="{107BF159-40AB-4D3E-A3F7-57C3E43C35CE}" type="presOf" srcId="{0C399571-7998-4FD0-A3E3-D8802796A93F}" destId="{C2101138-D224-47EF-ADAD-A4B872EC1495}" srcOrd="0" destOrd="0" presId="urn:microsoft.com/office/officeart/2005/8/layout/vList2"/>
    <dgm:cxn modelId="{BBF91A97-CEDE-487D-9406-D9DACD1277EA}" srcId="{0E05147C-58A5-407B-B8FF-B006C2F73C46}" destId="{10B2CA00-A2BE-4429-8A6F-3BBB860DC49E}" srcOrd="2" destOrd="0" parTransId="{2A17BEBF-54A1-4DCC-8299-05844EBC652C}" sibTransId="{C36844D3-4B90-4237-BD70-5D2968AA1D9C}"/>
    <dgm:cxn modelId="{43DDFCAE-7A07-4FF9-9145-3FBD90ED82DE}" srcId="{0E05147C-58A5-407B-B8FF-B006C2F73C46}" destId="{F3706B33-76E4-45B7-8D2D-1C800AC55199}" srcOrd="3" destOrd="0" parTransId="{164734D2-F276-4B00-8503-179C92AFDA3D}" sibTransId="{113BE6B1-1BC3-4620-8E48-1183468AA72B}"/>
    <dgm:cxn modelId="{E0F381C1-7474-4052-9692-DEA646238983}" type="presOf" srcId="{0E05147C-58A5-407B-B8FF-B006C2F73C46}" destId="{A4D00750-1EA1-449B-8AA1-24190D6AA3D7}" srcOrd="0" destOrd="0" presId="urn:microsoft.com/office/officeart/2005/8/layout/vList2"/>
    <dgm:cxn modelId="{A47D75E6-A8FF-40CD-9269-A4A0FBF54F4D}" type="presOf" srcId="{10B2CA00-A2BE-4429-8A6F-3BBB860DC49E}" destId="{9953968C-5C77-41CF-A7EF-1674084CACF6}" srcOrd="0" destOrd="0" presId="urn:microsoft.com/office/officeart/2005/8/layout/vList2"/>
    <dgm:cxn modelId="{CC82C3E1-7089-4444-AB20-E4ED60786574}" type="presParOf" srcId="{A4D00750-1EA1-449B-8AA1-24190D6AA3D7}" destId="{C2101138-D224-47EF-ADAD-A4B872EC1495}" srcOrd="0" destOrd="0" presId="urn:microsoft.com/office/officeart/2005/8/layout/vList2"/>
    <dgm:cxn modelId="{E5C39209-BBB3-4D84-AA01-94B44FD3B206}" type="presParOf" srcId="{A4D00750-1EA1-449B-8AA1-24190D6AA3D7}" destId="{9845E9DC-684A-4E1B-B692-F4A5559F6932}" srcOrd="1" destOrd="0" presId="urn:microsoft.com/office/officeart/2005/8/layout/vList2"/>
    <dgm:cxn modelId="{C5DCC583-29B6-4D03-9AE5-4D42BAA14448}" type="presParOf" srcId="{A4D00750-1EA1-449B-8AA1-24190D6AA3D7}" destId="{7C43AF98-41FA-43B2-A025-B1307FD852CF}" srcOrd="2" destOrd="0" presId="urn:microsoft.com/office/officeart/2005/8/layout/vList2"/>
    <dgm:cxn modelId="{97F614F1-A2BE-4A60-ACBC-09C1773246BC}" type="presParOf" srcId="{A4D00750-1EA1-449B-8AA1-24190D6AA3D7}" destId="{1FAA3DAD-F256-4930-B98C-F161CAE66742}" srcOrd="3" destOrd="0" presId="urn:microsoft.com/office/officeart/2005/8/layout/vList2"/>
    <dgm:cxn modelId="{6147CE2A-F9C1-4D01-9A60-31F8EFBCA534}" type="presParOf" srcId="{A4D00750-1EA1-449B-8AA1-24190D6AA3D7}" destId="{9953968C-5C77-41CF-A7EF-1674084CACF6}" srcOrd="4" destOrd="0" presId="urn:microsoft.com/office/officeart/2005/8/layout/vList2"/>
    <dgm:cxn modelId="{A4ED02F0-FBD7-436C-830D-07204FFED34B}" type="presParOf" srcId="{A4D00750-1EA1-449B-8AA1-24190D6AA3D7}" destId="{28661811-DC25-4D2D-AF4F-3DC8B651BDE1}" srcOrd="5" destOrd="0" presId="urn:microsoft.com/office/officeart/2005/8/layout/vList2"/>
    <dgm:cxn modelId="{35008281-314C-4D3E-B7F8-B8D6B29DB6E1}" type="presParOf" srcId="{A4D00750-1EA1-449B-8AA1-24190D6AA3D7}" destId="{0AB3CB4A-6D31-4A38-95EA-E577ACAA1D4B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9CBF28B8-75F9-4854-823A-6933696282C5}" type="doc">
      <dgm:prSet loTypeId="urn:microsoft.com/office/officeart/2005/8/layout/vList5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5A696D17-5F96-47BC-AAA8-96935D58774D}">
      <dgm:prSet/>
      <dgm:spPr/>
      <dgm:t>
        <a:bodyPr/>
        <a:lstStyle/>
        <a:p>
          <a:r>
            <a:rPr lang="en-US"/>
            <a:t>Adopting a Safe and Inclusive Workplace Remedial training</a:t>
          </a:r>
        </a:p>
      </dgm:t>
    </dgm:pt>
    <dgm:pt modelId="{1ED042D0-98D2-455C-ACD1-D8F022D86345}" type="parTrans" cxnId="{369C00E8-1773-4504-94E9-124472B93E49}">
      <dgm:prSet/>
      <dgm:spPr/>
      <dgm:t>
        <a:bodyPr/>
        <a:lstStyle/>
        <a:p>
          <a:endParaRPr lang="en-US"/>
        </a:p>
      </dgm:t>
    </dgm:pt>
    <dgm:pt modelId="{5E44CA7B-490F-4311-8333-FBADDF68DD44}" type="sibTrans" cxnId="{369C00E8-1773-4504-94E9-124472B93E49}">
      <dgm:prSet/>
      <dgm:spPr/>
      <dgm:t>
        <a:bodyPr/>
        <a:lstStyle/>
        <a:p>
          <a:endParaRPr lang="en-US"/>
        </a:p>
      </dgm:t>
    </dgm:pt>
    <dgm:pt modelId="{03FCA0D3-783E-4A15-9B22-BE9ABC7305FC}">
      <dgm:prSet/>
      <dgm:spPr/>
      <dgm:t>
        <a:bodyPr/>
        <a:lstStyle/>
        <a:p>
          <a:r>
            <a:rPr lang="en-US" dirty="0"/>
            <a:t>Adopting a positive workplace culture </a:t>
          </a:r>
        </a:p>
      </dgm:t>
    </dgm:pt>
    <dgm:pt modelId="{754C0C65-B29C-4817-B797-C3409707E0A9}" type="parTrans" cxnId="{740B96AA-41BF-4031-A7A9-8908961D6DF2}">
      <dgm:prSet/>
      <dgm:spPr/>
      <dgm:t>
        <a:bodyPr/>
        <a:lstStyle/>
        <a:p>
          <a:endParaRPr lang="en-US"/>
        </a:p>
      </dgm:t>
    </dgm:pt>
    <dgm:pt modelId="{9F33D45A-7A9C-4836-B021-058F910F553A}" type="sibTrans" cxnId="{740B96AA-41BF-4031-A7A9-8908961D6DF2}">
      <dgm:prSet/>
      <dgm:spPr/>
      <dgm:t>
        <a:bodyPr/>
        <a:lstStyle/>
        <a:p>
          <a:endParaRPr lang="en-US"/>
        </a:p>
      </dgm:t>
    </dgm:pt>
    <dgm:pt modelId="{47646F96-580F-4271-9313-0503D45768F6}">
      <dgm:prSet/>
      <dgm:spPr/>
      <dgm:t>
        <a:bodyPr/>
        <a:lstStyle/>
        <a:p>
          <a:r>
            <a:rPr lang="en-US" dirty="0"/>
            <a:t>Leading by example		</a:t>
          </a:r>
        </a:p>
      </dgm:t>
    </dgm:pt>
    <dgm:pt modelId="{9BB84955-9CFD-4103-9151-5DA69BCFC42B}" type="parTrans" cxnId="{9A9849A2-F260-4E7D-ACD9-5D7563F09C45}">
      <dgm:prSet/>
      <dgm:spPr/>
      <dgm:t>
        <a:bodyPr/>
        <a:lstStyle/>
        <a:p>
          <a:endParaRPr lang="en-US"/>
        </a:p>
      </dgm:t>
    </dgm:pt>
    <dgm:pt modelId="{8C4F17FB-022B-4247-9DCB-6985082B9522}" type="sibTrans" cxnId="{9A9849A2-F260-4E7D-ACD9-5D7563F09C45}">
      <dgm:prSet/>
      <dgm:spPr/>
      <dgm:t>
        <a:bodyPr/>
        <a:lstStyle/>
        <a:p>
          <a:endParaRPr lang="en-US"/>
        </a:p>
      </dgm:t>
    </dgm:pt>
    <dgm:pt modelId="{EC4EC619-5A04-4B62-90B2-105B7770ED69}" type="pres">
      <dgm:prSet presAssocID="{9CBF28B8-75F9-4854-823A-6933696282C5}" presName="Name0" presStyleCnt="0">
        <dgm:presLayoutVars>
          <dgm:dir/>
          <dgm:animLvl val="lvl"/>
          <dgm:resizeHandles val="exact"/>
        </dgm:presLayoutVars>
      </dgm:prSet>
      <dgm:spPr/>
    </dgm:pt>
    <dgm:pt modelId="{1679EDB9-94AC-4CF4-9006-40C96C1F84AD}" type="pres">
      <dgm:prSet presAssocID="{5A696D17-5F96-47BC-AAA8-96935D58774D}" presName="linNode" presStyleCnt="0"/>
      <dgm:spPr/>
    </dgm:pt>
    <dgm:pt modelId="{054C0208-2C82-45E4-ACA8-E84FC6ED67D1}" type="pres">
      <dgm:prSet presAssocID="{5A696D17-5F96-47BC-AAA8-96935D58774D}" presName="parentText" presStyleLbl="node1" presStyleIdx="0" presStyleCnt="1">
        <dgm:presLayoutVars>
          <dgm:chMax val="1"/>
          <dgm:bulletEnabled val="1"/>
        </dgm:presLayoutVars>
      </dgm:prSet>
      <dgm:spPr/>
    </dgm:pt>
    <dgm:pt modelId="{7E73DD30-C6C7-4640-A29C-7F1A19108674}" type="pres">
      <dgm:prSet presAssocID="{5A696D17-5F96-47BC-AAA8-96935D58774D}" presName="descendantText" presStyleLbl="alignAccFollowNode1" presStyleIdx="0" presStyleCnt="1">
        <dgm:presLayoutVars>
          <dgm:bulletEnabled val="1"/>
        </dgm:presLayoutVars>
      </dgm:prSet>
      <dgm:spPr/>
    </dgm:pt>
  </dgm:ptLst>
  <dgm:cxnLst>
    <dgm:cxn modelId="{9A9849A2-F260-4E7D-ACD9-5D7563F09C45}" srcId="{5A696D17-5F96-47BC-AAA8-96935D58774D}" destId="{47646F96-580F-4271-9313-0503D45768F6}" srcOrd="1" destOrd="0" parTransId="{9BB84955-9CFD-4103-9151-5DA69BCFC42B}" sibTransId="{8C4F17FB-022B-4247-9DCB-6985082B9522}"/>
    <dgm:cxn modelId="{740B96AA-41BF-4031-A7A9-8908961D6DF2}" srcId="{5A696D17-5F96-47BC-AAA8-96935D58774D}" destId="{03FCA0D3-783E-4A15-9B22-BE9ABC7305FC}" srcOrd="0" destOrd="0" parTransId="{754C0C65-B29C-4817-B797-C3409707E0A9}" sibTransId="{9F33D45A-7A9C-4836-B021-058F910F553A}"/>
    <dgm:cxn modelId="{B773FBAA-C2D6-451D-ABD5-2DD07E2C23D3}" type="presOf" srcId="{03FCA0D3-783E-4A15-9B22-BE9ABC7305FC}" destId="{7E73DD30-C6C7-4640-A29C-7F1A19108674}" srcOrd="0" destOrd="0" presId="urn:microsoft.com/office/officeart/2005/8/layout/vList5"/>
    <dgm:cxn modelId="{752D4FC0-CAD4-4A7A-8FF3-EBF7F7C1E968}" type="presOf" srcId="{9CBF28B8-75F9-4854-823A-6933696282C5}" destId="{EC4EC619-5A04-4B62-90B2-105B7770ED69}" srcOrd="0" destOrd="0" presId="urn:microsoft.com/office/officeart/2005/8/layout/vList5"/>
    <dgm:cxn modelId="{9D184EDE-FA13-4E33-A416-CE5D8998ED3C}" type="presOf" srcId="{47646F96-580F-4271-9313-0503D45768F6}" destId="{7E73DD30-C6C7-4640-A29C-7F1A19108674}" srcOrd="0" destOrd="1" presId="urn:microsoft.com/office/officeart/2005/8/layout/vList5"/>
    <dgm:cxn modelId="{369C00E8-1773-4504-94E9-124472B93E49}" srcId="{9CBF28B8-75F9-4854-823A-6933696282C5}" destId="{5A696D17-5F96-47BC-AAA8-96935D58774D}" srcOrd="0" destOrd="0" parTransId="{1ED042D0-98D2-455C-ACD1-D8F022D86345}" sibTransId="{5E44CA7B-490F-4311-8333-FBADDF68DD44}"/>
    <dgm:cxn modelId="{97B3E7E8-3084-470E-99D2-7118039D0BC1}" type="presOf" srcId="{5A696D17-5F96-47BC-AAA8-96935D58774D}" destId="{054C0208-2C82-45E4-ACA8-E84FC6ED67D1}" srcOrd="0" destOrd="0" presId="urn:microsoft.com/office/officeart/2005/8/layout/vList5"/>
    <dgm:cxn modelId="{08BA4E2B-EBE3-4A85-990B-9DA568D7C19F}" type="presParOf" srcId="{EC4EC619-5A04-4B62-90B2-105B7770ED69}" destId="{1679EDB9-94AC-4CF4-9006-40C96C1F84AD}" srcOrd="0" destOrd="0" presId="urn:microsoft.com/office/officeart/2005/8/layout/vList5"/>
    <dgm:cxn modelId="{B4988186-3ACB-4380-8176-4D547BA16A11}" type="presParOf" srcId="{1679EDB9-94AC-4CF4-9006-40C96C1F84AD}" destId="{054C0208-2C82-45E4-ACA8-E84FC6ED67D1}" srcOrd="0" destOrd="0" presId="urn:microsoft.com/office/officeart/2005/8/layout/vList5"/>
    <dgm:cxn modelId="{2450C46F-8974-40E1-B286-15904DFA16FA}" type="presParOf" srcId="{1679EDB9-94AC-4CF4-9006-40C96C1F84AD}" destId="{7E73DD30-C6C7-4640-A29C-7F1A19108674}" srcOrd="1" destOrd="0" presId="urn:microsoft.com/office/officeart/2005/8/layout/vList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B108011A-9BA4-4F74-BD57-1EA925EBE7F4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ACBE7CB0-8A3B-4439-97D3-7E06109E22EF}">
      <dgm:prSet/>
      <dgm:spPr/>
      <dgm:t>
        <a:bodyPr/>
        <a:lstStyle/>
        <a:p>
          <a:r>
            <a:rPr lang="en-US" dirty="0"/>
            <a:t>Policy Development: : These policies should define unacceptable behavior, outline reporting procedures, and establish consequences for violations</a:t>
          </a:r>
        </a:p>
      </dgm:t>
    </dgm:pt>
    <dgm:pt modelId="{4A099CF2-3C8A-43C0-A307-94D6354C6668}" type="parTrans" cxnId="{32F1B9F6-1384-44EC-B747-0582B3FB1CF2}">
      <dgm:prSet/>
      <dgm:spPr/>
      <dgm:t>
        <a:bodyPr/>
        <a:lstStyle/>
        <a:p>
          <a:endParaRPr lang="en-US"/>
        </a:p>
      </dgm:t>
    </dgm:pt>
    <dgm:pt modelId="{49A3982F-A604-460F-AC4D-7A0CD39E6EDA}" type="sibTrans" cxnId="{32F1B9F6-1384-44EC-B747-0582B3FB1CF2}">
      <dgm:prSet/>
      <dgm:spPr/>
      <dgm:t>
        <a:bodyPr/>
        <a:lstStyle/>
        <a:p>
          <a:endParaRPr lang="en-US"/>
        </a:p>
      </dgm:t>
    </dgm:pt>
    <dgm:pt modelId="{47229809-4D73-41F2-BB42-8A69B083BE8D}">
      <dgm:prSet/>
      <dgm:spPr/>
      <dgm:t>
        <a:bodyPr/>
        <a:lstStyle/>
        <a:p>
          <a:r>
            <a:rPr lang="en-US"/>
            <a:t>Effective Communication: This includes providing training sessions to ensure that staff understands what constitutes harassment and how to report incidents</a:t>
          </a:r>
        </a:p>
      </dgm:t>
    </dgm:pt>
    <dgm:pt modelId="{3E407E09-ACDE-4D1E-8266-BD2584856DE9}" type="parTrans" cxnId="{E5210A26-4B9F-4693-A0D1-4183AEE2977F}">
      <dgm:prSet/>
      <dgm:spPr/>
      <dgm:t>
        <a:bodyPr/>
        <a:lstStyle/>
        <a:p>
          <a:endParaRPr lang="en-US"/>
        </a:p>
      </dgm:t>
    </dgm:pt>
    <dgm:pt modelId="{BD95C14D-E99A-4FD1-83D4-52B81E5ABB90}" type="sibTrans" cxnId="{E5210A26-4B9F-4693-A0D1-4183AEE2977F}">
      <dgm:prSet/>
      <dgm:spPr/>
      <dgm:t>
        <a:bodyPr/>
        <a:lstStyle/>
        <a:p>
          <a:endParaRPr lang="en-US"/>
        </a:p>
      </dgm:t>
    </dgm:pt>
    <dgm:pt modelId="{E3427F6F-5DE8-48DA-9163-8A2C408951FF}">
      <dgm:prSet/>
      <dgm:spPr/>
      <dgm:t>
        <a:bodyPr/>
        <a:lstStyle/>
        <a:p>
          <a:r>
            <a:rPr lang="en-US"/>
            <a:t>Prompt and Fair Enforcement: Investigations should be thorough, and consequences for perpetrators should be fair and consistent, regardless of their position within the organization.</a:t>
          </a:r>
        </a:p>
      </dgm:t>
    </dgm:pt>
    <dgm:pt modelId="{4D4A77CB-4F2F-4EA5-ACD2-0E8D44016000}" type="parTrans" cxnId="{FD46900E-2DE7-440D-8AB3-943006056579}">
      <dgm:prSet/>
      <dgm:spPr/>
      <dgm:t>
        <a:bodyPr/>
        <a:lstStyle/>
        <a:p>
          <a:endParaRPr lang="en-US"/>
        </a:p>
      </dgm:t>
    </dgm:pt>
    <dgm:pt modelId="{A5D94AAE-F915-4E72-9CE9-562C8C1AB4F3}" type="sibTrans" cxnId="{FD46900E-2DE7-440D-8AB3-943006056579}">
      <dgm:prSet/>
      <dgm:spPr/>
      <dgm:t>
        <a:bodyPr/>
        <a:lstStyle/>
        <a:p>
          <a:endParaRPr lang="en-US"/>
        </a:p>
      </dgm:t>
    </dgm:pt>
    <dgm:pt modelId="{C81D2939-DD03-467D-9923-E1DBD0DB8A27}" type="pres">
      <dgm:prSet presAssocID="{B108011A-9BA4-4F74-BD57-1EA925EBE7F4}" presName="linear" presStyleCnt="0">
        <dgm:presLayoutVars>
          <dgm:animLvl val="lvl"/>
          <dgm:resizeHandles val="exact"/>
        </dgm:presLayoutVars>
      </dgm:prSet>
      <dgm:spPr/>
    </dgm:pt>
    <dgm:pt modelId="{1C9A485A-50A5-46B1-A878-CC907AFB9967}" type="pres">
      <dgm:prSet presAssocID="{ACBE7CB0-8A3B-4439-97D3-7E06109E22EF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37325861-46B8-4C1F-BEEC-D654E7B9B84B}" type="pres">
      <dgm:prSet presAssocID="{49A3982F-A604-460F-AC4D-7A0CD39E6EDA}" presName="spacer" presStyleCnt="0"/>
      <dgm:spPr/>
    </dgm:pt>
    <dgm:pt modelId="{50E2101A-564B-478D-A321-E9C82958AC7D}" type="pres">
      <dgm:prSet presAssocID="{47229809-4D73-41F2-BB42-8A69B083BE8D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FDF5A779-C0C0-4624-AD38-E02FC38899CA}" type="pres">
      <dgm:prSet presAssocID="{BD95C14D-E99A-4FD1-83D4-52B81E5ABB90}" presName="spacer" presStyleCnt="0"/>
      <dgm:spPr/>
    </dgm:pt>
    <dgm:pt modelId="{5EA39E1D-25F3-4625-BED5-D7C0CD0F1B10}" type="pres">
      <dgm:prSet presAssocID="{E3427F6F-5DE8-48DA-9163-8A2C408951FF}" presName="parentText" presStyleLbl="node1" presStyleIdx="2" presStyleCnt="3">
        <dgm:presLayoutVars>
          <dgm:chMax val="0"/>
          <dgm:bulletEnabled val="1"/>
        </dgm:presLayoutVars>
      </dgm:prSet>
      <dgm:spPr/>
    </dgm:pt>
  </dgm:ptLst>
  <dgm:cxnLst>
    <dgm:cxn modelId="{FD46900E-2DE7-440D-8AB3-943006056579}" srcId="{B108011A-9BA4-4F74-BD57-1EA925EBE7F4}" destId="{E3427F6F-5DE8-48DA-9163-8A2C408951FF}" srcOrd="2" destOrd="0" parTransId="{4D4A77CB-4F2F-4EA5-ACD2-0E8D44016000}" sibTransId="{A5D94AAE-F915-4E72-9CE9-562C8C1AB4F3}"/>
    <dgm:cxn modelId="{E5210A26-4B9F-4693-A0D1-4183AEE2977F}" srcId="{B108011A-9BA4-4F74-BD57-1EA925EBE7F4}" destId="{47229809-4D73-41F2-BB42-8A69B083BE8D}" srcOrd="1" destOrd="0" parTransId="{3E407E09-ACDE-4D1E-8266-BD2584856DE9}" sibTransId="{BD95C14D-E99A-4FD1-83D4-52B81E5ABB90}"/>
    <dgm:cxn modelId="{E65EE566-6342-4AA0-9F30-9E0B01260263}" type="presOf" srcId="{ACBE7CB0-8A3B-4439-97D3-7E06109E22EF}" destId="{1C9A485A-50A5-46B1-A878-CC907AFB9967}" srcOrd="0" destOrd="0" presId="urn:microsoft.com/office/officeart/2005/8/layout/vList2"/>
    <dgm:cxn modelId="{C343706C-C0A7-4271-ACFB-90C0CF95EDD3}" type="presOf" srcId="{47229809-4D73-41F2-BB42-8A69B083BE8D}" destId="{50E2101A-564B-478D-A321-E9C82958AC7D}" srcOrd="0" destOrd="0" presId="urn:microsoft.com/office/officeart/2005/8/layout/vList2"/>
    <dgm:cxn modelId="{03867C7A-4AE7-45E6-91E9-D14949B95F3D}" type="presOf" srcId="{E3427F6F-5DE8-48DA-9163-8A2C408951FF}" destId="{5EA39E1D-25F3-4625-BED5-D7C0CD0F1B10}" srcOrd="0" destOrd="0" presId="urn:microsoft.com/office/officeart/2005/8/layout/vList2"/>
    <dgm:cxn modelId="{39E1927C-86B5-492A-A1AB-9731E153BAAC}" type="presOf" srcId="{B108011A-9BA4-4F74-BD57-1EA925EBE7F4}" destId="{C81D2939-DD03-467D-9923-E1DBD0DB8A27}" srcOrd="0" destOrd="0" presId="urn:microsoft.com/office/officeart/2005/8/layout/vList2"/>
    <dgm:cxn modelId="{32F1B9F6-1384-44EC-B747-0582B3FB1CF2}" srcId="{B108011A-9BA4-4F74-BD57-1EA925EBE7F4}" destId="{ACBE7CB0-8A3B-4439-97D3-7E06109E22EF}" srcOrd="0" destOrd="0" parTransId="{4A099CF2-3C8A-43C0-A307-94D6354C6668}" sibTransId="{49A3982F-A604-460F-AC4D-7A0CD39E6EDA}"/>
    <dgm:cxn modelId="{E07A4F4C-D80C-41B2-880F-BB8113A41A7E}" type="presParOf" srcId="{C81D2939-DD03-467D-9923-E1DBD0DB8A27}" destId="{1C9A485A-50A5-46B1-A878-CC907AFB9967}" srcOrd="0" destOrd="0" presId="urn:microsoft.com/office/officeart/2005/8/layout/vList2"/>
    <dgm:cxn modelId="{0A4E15E0-9BFC-416C-91DA-6AB9C3E7BF8E}" type="presParOf" srcId="{C81D2939-DD03-467D-9923-E1DBD0DB8A27}" destId="{37325861-46B8-4C1F-BEEC-D654E7B9B84B}" srcOrd="1" destOrd="0" presId="urn:microsoft.com/office/officeart/2005/8/layout/vList2"/>
    <dgm:cxn modelId="{70A733EB-542B-4D96-8CCA-095A9ADB3423}" type="presParOf" srcId="{C81D2939-DD03-467D-9923-E1DBD0DB8A27}" destId="{50E2101A-564B-478D-A321-E9C82958AC7D}" srcOrd="2" destOrd="0" presId="urn:microsoft.com/office/officeart/2005/8/layout/vList2"/>
    <dgm:cxn modelId="{03A29305-6A9B-4FBF-9CBB-8A96020737CB}" type="presParOf" srcId="{C81D2939-DD03-467D-9923-E1DBD0DB8A27}" destId="{FDF5A779-C0C0-4624-AD38-E02FC38899CA}" srcOrd="3" destOrd="0" presId="urn:microsoft.com/office/officeart/2005/8/layout/vList2"/>
    <dgm:cxn modelId="{C79DA3D3-10A8-47A7-B0EB-33C12A933B06}" type="presParOf" srcId="{C81D2939-DD03-467D-9923-E1DBD0DB8A27}" destId="{5EA39E1D-25F3-4625-BED5-D7C0CD0F1B10}" srcOrd="4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08A64403-48D3-43EF-962D-6AC9337A18A1}" type="doc">
      <dgm:prSet loTypeId="urn:microsoft.com/office/officeart/2008/layout/LinedList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654A401C-CD19-4704-84CC-EEBC7EFBE18D}">
      <dgm:prSet/>
      <dgm:spPr/>
      <dgm:t>
        <a:bodyPr/>
        <a:lstStyle/>
        <a:p>
          <a:r>
            <a:rPr lang="en-US" dirty="0"/>
            <a:t>High-Stress Work Environments</a:t>
          </a:r>
        </a:p>
      </dgm:t>
    </dgm:pt>
    <dgm:pt modelId="{D979D835-A709-4BA4-B511-B4203C468294}" type="parTrans" cxnId="{17BC1EB1-9AC0-481A-B740-91156F01B5DB}">
      <dgm:prSet/>
      <dgm:spPr/>
      <dgm:t>
        <a:bodyPr/>
        <a:lstStyle/>
        <a:p>
          <a:endParaRPr lang="en-US"/>
        </a:p>
      </dgm:t>
    </dgm:pt>
    <dgm:pt modelId="{5F6DD4ED-88CF-4B2D-B45E-8057D8F3622D}" type="sibTrans" cxnId="{17BC1EB1-9AC0-481A-B740-91156F01B5DB}">
      <dgm:prSet/>
      <dgm:spPr/>
      <dgm:t>
        <a:bodyPr/>
        <a:lstStyle/>
        <a:p>
          <a:endParaRPr lang="en-US"/>
        </a:p>
      </dgm:t>
    </dgm:pt>
    <dgm:pt modelId="{29612F35-B05A-4E8D-9820-D86D7BE84790}">
      <dgm:prSet/>
      <dgm:spPr/>
      <dgm:t>
        <a:bodyPr/>
        <a:lstStyle/>
        <a:p>
          <a:r>
            <a:rPr lang="en-US" dirty="0"/>
            <a:t>Lack of Proper Training and Education</a:t>
          </a:r>
        </a:p>
      </dgm:t>
    </dgm:pt>
    <dgm:pt modelId="{0AFAD98C-2971-4541-978F-C7809C85E76A}" type="parTrans" cxnId="{BB73EE78-6040-40D1-B4C8-5F26B0B9404C}">
      <dgm:prSet/>
      <dgm:spPr/>
      <dgm:t>
        <a:bodyPr/>
        <a:lstStyle/>
        <a:p>
          <a:endParaRPr lang="en-US"/>
        </a:p>
      </dgm:t>
    </dgm:pt>
    <dgm:pt modelId="{0D92A859-5353-48E4-8D4B-FAC2D319C78A}" type="sibTrans" cxnId="{BB73EE78-6040-40D1-B4C8-5F26B0B9404C}">
      <dgm:prSet/>
      <dgm:spPr/>
      <dgm:t>
        <a:bodyPr/>
        <a:lstStyle/>
        <a:p>
          <a:endParaRPr lang="en-US"/>
        </a:p>
      </dgm:t>
    </dgm:pt>
    <dgm:pt modelId="{147905BD-4FE0-4320-B5E3-37A78835FA97}">
      <dgm:prSet/>
      <dgm:spPr/>
      <dgm:t>
        <a:bodyPr/>
        <a:lstStyle/>
        <a:p>
          <a:r>
            <a:rPr lang="en-US" dirty="0"/>
            <a:t>Power Dynamics within the Restaurant Pyramid</a:t>
          </a:r>
        </a:p>
      </dgm:t>
    </dgm:pt>
    <dgm:pt modelId="{FA5DDD78-B606-486C-9DB1-28F237A40734}" type="parTrans" cxnId="{E2A99445-C581-44A8-A40F-D13DCD593BED}">
      <dgm:prSet/>
      <dgm:spPr/>
      <dgm:t>
        <a:bodyPr/>
        <a:lstStyle/>
        <a:p>
          <a:endParaRPr lang="en-US"/>
        </a:p>
      </dgm:t>
    </dgm:pt>
    <dgm:pt modelId="{E4D46870-1A6D-481C-BABD-557B2F108EAA}" type="sibTrans" cxnId="{E2A99445-C581-44A8-A40F-D13DCD593BED}">
      <dgm:prSet/>
      <dgm:spPr/>
      <dgm:t>
        <a:bodyPr/>
        <a:lstStyle/>
        <a:p>
          <a:endParaRPr lang="en-US"/>
        </a:p>
      </dgm:t>
    </dgm:pt>
    <dgm:pt modelId="{F975853D-9367-401E-AA40-C82C713F468A}">
      <dgm:prSet/>
      <dgm:spPr/>
      <dgm:t>
        <a:bodyPr/>
        <a:lstStyle/>
        <a:p>
          <a:r>
            <a:rPr lang="en-US" dirty="0"/>
            <a:t>Normalization of Inappropriate Behavior</a:t>
          </a:r>
        </a:p>
      </dgm:t>
    </dgm:pt>
    <dgm:pt modelId="{15ADF76E-94BA-4EF3-AA0F-41C87F8C559B}" type="parTrans" cxnId="{269AFCD3-DACA-4E11-B601-87C08800614D}">
      <dgm:prSet/>
      <dgm:spPr/>
      <dgm:t>
        <a:bodyPr/>
        <a:lstStyle/>
        <a:p>
          <a:endParaRPr lang="en-US"/>
        </a:p>
      </dgm:t>
    </dgm:pt>
    <dgm:pt modelId="{2223C5F6-38E1-4A18-8757-3ABE64260833}" type="sibTrans" cxnId="{269AFCD3-DACA-4E11-B601-87C08800614D}">
      <dgm:prSet/>
      <dgm:spPr/>
      <dgm:t>
        <a:bodyPr/>
        <a:lstStyle/>
        <a:p>
          <a:endParaRPr lang="en-US"/>
        </a:p>
      </dgm:t>
    </dgm:pt>
    <dgm:pt modelId="{058B0B18-12CB-455B-859B-E8BB65F85162}" type="pres">
      <dgm:prSet presAssocID="{08A64403-48D3-43EF-962D-6AC9337A18A1}" presName="vert0" presStyleCnt="0">
        <dgm:presLayoutVars>
          <dgm:dir/>
          <dgm:animOne val="branch"/>
          <dgm:animLvl val="lvl"/>
        </dgm:presLayoutVars>
      </dgm:prSet>
      <dgm:spPr/>
    </dgm:pt>
    <dgm:pt modelId="{D5EFFBB5-2FE4-49C9-90D4-A612BE07655E}" type="pres">
      <dgm:prSet presAssocID="{147905BD-4FE0-4320-B5E3-37A78835FA97}" presName="thickLine" presStyleLbl="alignNode1" presStyleIdx="0" presStyleCnt="4"/>
      <dgm:spPr/>
    </dgm:pt>
    <dgm:pt modelId="{3ABFFA49-C20F-44FD-837B-B9348BF91432}" type="pres">
      <dgm:prSet presAssocID="{147905BD-4FE0-4320-B5E3-37A78835FA97}" presName="horz1" presStyleCnt="0"/>
      <dgm:spPr/>
    </dgm:pt>
    <dgm:pt modelId="{9F28DDDD-6D0C-4166-BB03-3BB1995B0A37}" type="pres">
      <dgm:prSet presAssocID="{147905BD-4FE0-4320-B5E3-37A78835FA97}" presName="tx1" presStyleLbl="revTx" presStyleIdx="0" presStyleCnt="4"/>
      <dgm:spPr/>
    </dgm:pt>
    <dgm:pt modelId="{F8A3A014-8DE7-4965-9AD2-A9107F22725B}" type="pres">
      <dgm:prSet presAssocID="{147905BD-4FE0-4320-B5E3-37A78835FA97}" presName="vert1" presStyleCnt="0"/>
      <dgm:spPr/>
    </dgm:pt>
    <dgm:pt modelId="{363623BF-CD9E-48A6-B893-12A1312188C6}" type="pres">
      <dgm:prSet presAssocID="{654A401C-CD19-4704-84CC-EEBC7EFBE18D}" presName="thickLine" presStyleLbl="alignNode1" presStyleIdx="1" presStyleCnt="4"/>
      <dgm:spPr/>
    </dgm:pt>
    <dgm:pt modelId="{183CF43D-B604-4342-8589-60B450C07820}" type="pres">
      <dgm:prSet presAssocID="{654A401C-CD19-4704-84CC-EEBC7EFBE18D}" presName="horz1" presStyleCnt="0"/>
      <dgm:spPr/>
    </dgm:pt>
    <dgm:pt modelId="{E311C302-62E2-458C-B7AA-0AB4C5864C96}" type="pres">
      <dgm:prSet presAssocID="{654A401C-CD19-4704-84CC-EEBC7EFBE18D}" presName="tx1" presStyleLbl="revTx" presStyleIdx="1" presStyleCnt="4"/>
      <dgm:spPr/>
    </dgm:pt>
    <dgm:pt modelId="{795C6C44-AF14-4512-B75B-7BD180002AA6}" type="pres">
      <dgm:prSet presAssocID="{654A401C-CD19-4704-84CC-EEBC7EFBE18D}" presName="vert1" presStyleCnt="0"/>
      <dgm:spPr/>
    </dgm:pt>
    <dgm:pt modelId="{3982A44F-9E41-40C9-B4FC-28E553892A52}" type="pres">
      <dgm:prSet presAssocID="{29612F35-B05A-4E8D-9820-D86D7BE84790}" presName="thickLine" presStyleLbl="alignNode1" presStyleIdx="2" presStyleCnt="4"/>
      <dgm:spPr/>
    </dgm:pt>
    <dgm:pt modelId="{9BCBA146-81DE-4A5F-A5C7-78A3049D3CFB}" type="pres">
      <dgm:prSet presAssocID="{29612F35-B05A-4E8D-9820-D86D7BE84790}" presName="horz1" presStyleCnt="0"/>
      <dgm:spPr/>
    </dgm:pt>
    <dgm:pt modelId="{F83C41A1-A567-40EC-8912-3E25856CF0FB}" type="pres">
      <dgm:prSet presAssocID="{29612F35-B05A-4E8D-9820-D86D7BE84790}" presName="tx1" presStyleLbl="revTx" presStyleIdx="2" presStyleCnt="4"/>
      <dgm:spPr/>
    </dgm:pt>
    <dgm:pt modelId="{75A926AA-5799-4649-99F6-12067EF08D49}" type="pres">
      <dgm:prSet presAssocID="{29612F35-B05A-4E8D-9820-D86D7BE84790}" presName="vert1" presStyleCnt="0"/>
      <dgm:spPr/>
    </dgm:pt>
    <dgm:pt modelId="{E333B28E-1A1C-47F0-B8BA-94A56C9998C9}" type="pres">
      <dgm:prSet presAssocID="{F975853D-9367-401E-AA40-C82C713F468A}" presName="thickLine" presStyleLbl="alignNode1" presStyleIdx="3" presStyleCnt="4"/>
      <dgm:spPr/>
    </dgm:pt>
    <dgm:pt modelId="{AB7A1BAD-E44C-4F8F-BA2D-DA3BB0B37D8C}" type="pres">
      <dgm:prSet presAssocID="{F975853D-9367-401E-AA40-C82C713F468A}" presName="horz1" presStyleCnt="0"/>
      <dgm:spPr/>
    </dgm:pt>
    <dgm:pt modelId="{BD5D24EF-FDBC-47C0-B940-1408D3C3DC1A}" type="pres">
      <dgm:prSet presAssocID="{F975853D-9367-401E-AA40-C82C713F468A}" presName="tx1" presStyleLbl="revTx" presStyleIdx="3" presStyleCnt="4"/>
      <dgm:spPr/>
    </dgm:pt>
    <dgm:pt modelId="{AAFD671A-48F9-43A5-AE04-2A437CAE57E5}" type="pres">
      <dgm:prSet presAssocID="{F975853D-9367-401E-AA40-C82C713F468A}" presName="vert1" presStyleCnt="0"/>
      <dgm:spPr/>
    </dgm:pt>
  </dgm:ptLst>
  <dgm:cxnLst>
    <dgm:cxn modelId="{F92FDF30-EF6D-45B0-86EA-82FA2B54D5F3}" type="presOf" srcId="{29612F35-B05A-4E8D-9820-D86D7BE84790}" destId="{F83C41A1-A567-40EC-8912-3E25856CF0FB}" srcOrd="0" destOrd="0" presId="urn:microsoft.com/office/officeart/2008/layout/LinedList"/>
    <dgm:cxn modelId="{3580BC37-8C35-44E1-BDF9-1C214B535975}" type="presOf" srcId="{654A401C-CD19-4704-84CC-EEBC7EFBE18D}" destId="{E311C302-62E2-458C-B7AA-0AB4C5864C96}" srcOrd="0" destOrd="0" presId="urn:microsoft.com/office/officeart/2008/layout/LinedList"/>
    <dgm:cxn modelId="{E2A99445-C581-44A8-A40F-D13DCD593BED}" srcId="{08A64403-48D3-43EF-962D-6AC9337A18A1}" destId="{147905BD-4FE0-4320-B5E3-37A78835FA97}" srcOrd="0" destOrd="0" parTransId="{FA5DDD78-B606-486C-9DB1-28F237A40734}" sibTransId="{E4D46870-1A6D-481C-BABD-557B2F108EAA}"/>
    <dgm:cxn modelId="{BB73EE78-6040-40D1-B4C8-5F26B0B9404C}" srcId="{08A64403-48D3-43EF-962D-6AC9337A18A1}" destId="{29612F35-B05A-4E8D-9820-D86D7BE84790}" srcOrd="2" destOrd="0" parTransId="{0AFAD98C-2971-4541-978F-C7809C85E76A}" sibTransId="{0D92A859-5353-48E4-8D4B-FAC2D319C78A}"/>
    <dgm:cxn modelId="{57A9DAAA-7288-45BA-8593-707F6E7C7B89}" type="presOf" srcId="{F975853D-9367-401E-AA40-C82C713F468A}" destId="{BD5D24EF-FDBC-47C0-B940-1408D3C3DC1A}" srcOrd="0" destOrd="0" presId="urn:microsoft.com/office/officeart/2008/layout/LinedList"/>
    <dgm:cxn modelId="{17BC1EB1-9AC0-481A-B740-91156F01B5DB}" srcId="{08A64403-48D3-43EF-962D-6AC9337A18A1}" destId="{654A401C-CD19-4704-84CC-EEBC7EFBE18D}" srcOrd="1" destOrd="0" parTransId="{D979D835-A709-4BA4-B511-B4203C468294}" sibTransId="{5F6DD4ED-88CF-4B2D-B45E-8057D8F3622D}"/>
    <dgm:cxn modelId="{F16237C8-6EBE-4B56-91C0-AC36A5E0B53E}" type="presOf" srcId="{147905BD-4FE0-4320-B5E3-37A78835FA97}" destId="{9F28DDDD-6D0C-4166-BB03-3BB1995B0A37}" srcOrd="0" destOrd="0" presId="urn:microsoft.com/office/officeart/2008/layout/LinedList"/>
    <dgm:cxn modelId="{269AFCD3-DACA-4E11-B601-87C08800614D}" srcId="{08A64403-48D3-43EF-962D-6AC9337A18A1}" destId="{F975853D-9367-401E-AA40-C82C713F468A}" srcOrd="3" destOrd="0" parTransId="{15ADF76E-94BA-4EF3-AA0F-41C87F8C559B}" sibTransId="{2223C5F6-38E1-4A18-8757-3ABE64260833}"/>
    <dgm:cxn modelId="{6CB955D4-3192-4D90-B8E1-B2E4A67C5120}" type="presOf" srcId="{08A64403-48D3-43EF-962D-6AC9337A18A1}" destId="{058B0B18-12CB-455B-859B-E8BB65F85162}" srcOrd="0" destOrd="0" presId="urn:microsoft.com/office/officeart/2008/layout/LinedList"/>
    <dgm:cxn modelId="{B7C17313-435E-4E31-B6E5-FD701F88E3BF}" type="presParOf" srcId="{058B0B18-12CB-455B-859B-E8BB65F85162}" destId="{D5EFFBB5-2FE4-49C9-90D4-A612BE07655E}" srcOrd="0" destOrd="0" presId="urn:microsoft.com/office/officeart/2008/layout/LinedList"/>
    <dgm:cxn modelId="{C55FF905-66AB-4B1E-A8B0-1438AA3B9B23}" type="presParOf" srcId="{058B0B18-12CB-455B-859B-E8BB65F85162}" destId="{3ABFFA49-C20F-44FD-837B-B9348BF91432}" srcOrd="1" destOrd="0" presId="urn:microsoft.com/office/officeart/2008/layout/LinedList"/>
    <dgm:cxn modelId="{56A9EA14-0784-4674-AB26-F81993B4F7D3}" type="presParOf" srcId="{3ABFFA49-C20F-44FD-837B-B9348BF91432}" destId="{9F28DDDD-6D0C-4166-BB03-3BB1995B0A37}" srcOrd="0" destOrd="0" presId="urn:microsoft.com/office/officeart/2008/layout/LinedList"/>
    <dgm:cxn modelId="{E607FD3C-8222-4263-A06F-FCAD85886DCA}" type="presParOf" srcId="{3ABFFA49-C20F-44FD-837B-B9348BF91432}" destId="{F8A3A014-8DE7-4965-9AD2-A9107F22725B}" srcOrd="1" destOrd="0" presId="urn:microsoft.com/office/officeart/2008/layout/LinedList"/>
    <dgm:cxn modelId="{B2BFEA8C-7E91-4549-9054-C2FE8A5171BD}" type="presParOf" srcId="{058B0B18-12CB-455B-859B-E8BB65F85162}" destId="{363623BF-CD9E-48A6-B893-12A1312188C6}" srcOrd="2" destOrd="0" presId="urn:microsoft.com/office/officeart/2008/layout/LinedList"/>
    <dgm:cxn modelId="{84C96A31-70CF-41CF-B74D-C22F7BC19076}" type="presParOf" srcId="{058B0B18-12CB-455B-859B-E8BB65F85162}" destId="{183CF43D-B604-4342-8589-60B450C07820}" srcOrd="3" destOrd="0" presId="urn:microsoft.com/office/officeart/2008/layout/LinedList"/>
    <dgm:cxn modelId="{AD78A004-D038-4E4A-824D-3EE59555A7B9}" type="presParOf" srcId="{183CF43D-B604-4342-8589-60B450C07820}" destId="{E311C302-62E2-458C-B7AA-0AB4C5864C96}" srcOrd="0" destOrd="0" presId="urn:microsoft.com/office/officeart/2008/layout/LinedList"/>
    <dgm:cxn modelId="{9EBFDC88-8402-4BB2-ACAB-A215B7B12C0F}" type="presParOf" srcId="{183CF43D-B604-4342-8589-60B450C07820}" destId="{795C6C44-AF14-4512-B75B-7BD180002AA6}" srcOrd="1" destOrd="0" presId="urn:microsoft.com/office/officeart/2008/layout/LinedList"/>
    <dgm:cxn modelId="{E29868F5-6DD4-41DE-8510-9D43FBA61CA8}" type="presParOf" srcId="{058B0B18-12CB-455B-859B-E8BB65F85162}" destId="{3982A44F-9E41-40C9-B4FC-28E553892A52}" srcOrd="4" destOrd="0" presId="urn:microsoft.com/office/officeart/2008/layout/LinedList"/>
    <dgm:cxn modelId="{C2449B28-2825-41DC-A309-2F2E5FFEF80C}" type="presParOf" srcId="{058B0B18-12CB-455B-859B-E8BB65F85162}" destId="{9BCBA146-81DE-4A5F-A5C7-78A3049D3CFB}" srcOrd="5" destOrd="0" presId="urn:microsoft.com/office/officeart/2008/layout/LinedList"/>
    <dgm:cxn modelId="{AF0A4892-4745-4F2C-924C-840461ED6960}" type="presParOf" srcId="{9BCBA146-81DE-4A5F-A5C7-78A3049D3CFB}" destId="{F83C41A1-A567-40EC-8912-3E25856CF0FB}" srcOrd="0" destOrd="0" presId="urn:microsoft.com/office/officeart/2008/layout/LinedList"/>
    <dgm:cxn modelId="{9F08192A-0034-4896-80B2-937DEA483580}" type="presParOf" srcId="{9BCBA146-81DE-4A5F-A5C7-78A3049D3CFB}" destId="{75A926AA-5799-4649-99F6-12067EF08D49}" srcOrd="1" destOrd="0" presId="urn:microsoft.com/office/officeart/2008/layout/LinedList"/>
    <dgm:cxn modelId="{05AE8F14-2F66-4E0F-9B1A-1ACA79ECCA9A}" type="presParOf" srcId="{058B0B18-12CB-455B-859B-E8BB65F85162}" destId="{E333B28E-1A1C-47F0-B8BA-94A56C9998C9}" srcOrd="6" destOrd="0" presId="urn:microsoft.com/office/officeart/2008/layout/LinedList"/>
    <dgm:cxn modelId="{AA75FD6F-4E69-4B23-86AA-00AB82D8D051}" type="presParOf" srcId="{058B0B18-12CB-455B-859B-E8BB65F85162}" destId="{AB7A1BAD-E44C-4F8F-BA2D-DA3BB0B37D8C}" srcOrd="7" destOrd="0" presId="urn:microsoft.com/office/officeart/2008/layout/LinedList"/>
    <dgm:cxn modelId="{D810F24B-BC3D-45B6-AB91-CCB105B9F54F}" type="presParOf" srcId="{AB7A1BAD-E44C-4F8F-BA2D-DA3BB0B37D8C}" destId="{BD5D24EF-FDBC-47C0-B940-1408D3C3DC1A}" srcOrd="0" destOrd="0" presId="urn:microsoft.com/office/officeart/2008/layout/LinedList"/>
    <dgm:cxn modelId="{5FB6868B-6D83-45C8-92A5-AE1C1DB9ED07}" type="presParOf" srcId="{AB7A1BAD-E44C-4F8F-BA2D-DA3BB0B37D8C}" destId="{AAFD671A-48F9-43A5-AE04-2A437CAE57E5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73E714E-99A8-4559-88C2-3C43BC0E6FBF}">
      <dsp:nvSpPr>
        <dsp:cNvPr id="0" name=""/>
        <dsp:cNvSpPr/>
      </dsp:nvSpPr>
      <dsp:spPr>
        <a:xfrm>
          <a:off x="0" y="1803"/>
          <a:ext cx="6291714" cy="0"/>
        </a:xfrm>
        <a:prstGeom prst="lin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9BDC941-0EC8-46E3-B3E5-719510ECE2C3}">
      <dsp:nvSpPr>
        <dsp:cNvPr id="0" name=""/>
        <dsp:cNvSpPr/>
      </dsp:nvSpPr>
      <dsp:spPr>
        <a:xfrm>
          <a:off x="0" y="1803"/>
          <a:ext cx="6291714" cy="122979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010" tIns="80010" rIns="80010" bIns="80010" numCol="1" spcCol="1270" anchor="t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 dirty="0"/>
            <a:t>Definition of sexual harassment-unwelcome sexual advances, requests for sexual favors, and other verbal or physical harassment of a sexual nature(Welsh, 1999)</a:t>
          </a:r>
        </a:p>
      </dsp:txBody>
      <dsp:txXfrm>
        <a:off x="0" y="1803"/>
        <a:ext cx="6291714" cy="1229799"/>
      </dsp:txXfrm>
    </dsp:sp>
    <dsp:sp modelId="{749EA498-EDF9-4568-B29B-FE9D0E0E90D7}">
      <dsp:nvSpPr>
        <dsp:cNvPr id="0" name=""/>
        <dsp:cNvSpPr/>
      </dsp:nvSpPr>
      <dsp:spPr>
        <a:xfrm>
          <a:off x="0" y="1231603"/>
          <a:ext cx="6291714" cy="0"/>
        </a:xfrm>
        <a:prstGeom prst="line">
          <a:avLst/>
        </a:prstGeom>
        <a:solidFill>
          <a:schemeClr val="accent5">
            <a:hueOff val="-3379271"/>
            <a:satOff val="-8710"/>
            <a:lumOff val="-5883"/>
            <a:alphaOff val="0"/>
          </a:schemeClr>
        </a:solidFill>
        <a:ln w="12700" cap="flat" cmpd="sng" algn="ctr">
          <a:solidFill>
            <a:schemeClr val="accent5">
              <a:hueOff val="-3379271"/>
              <a:satOff val="-8710"/>
              <a:lumOff val="-5883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2BC068A-0E2A-41C9-874F-BBE9869DBCC1}">
      <dsp:nvSpPr>
        <dsp:cNvPr id="0" name=""/>
        <dsp:cNvSpPr/>
      </dsp:nvSpPr>
      <dsp:spPr>
        <a:xfrm>
          <a:off x="0" y="1231603"/>
          <a:ext cx="6291714" cy="122979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010" tIns="80010" rIns="80010" bIns="80010" numCol="1" spcCol="1270" anchor="t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 dirty="0"/>
            <a:t>Sexual harassment violates Title VII of the Civil Rights Act (Peirce, 1988).</a:t>
          </a:r>
        </a:p>
      </dsp:txBody>
      <dsp:txXfrm>
        <a:off x="0" y="1231603"/>
        <a:ext cx="6291714" cy="1229799"/>
      </dsp:txXfrm>
    </dsp:sp>
    <dsp:sp modelId="{76333351-D8A4-4434-B950-E7632CC1F216}">
      <dsp:nvSpPr>
        <dsp:cNvPr id="0" name=""/>
        <dsp:cNvSpPr/>
      </dsp:nvSpPr>
      <dsp:spPr>
        <a:xfrm>
          <a:off x="0" y="2461402"/>
          <a:ext cx="6291714" cy="0"/>
        </a:xfrm>
        <a:prstGeom prst="line">
          <a:avLst/>
        </a:prstGeom>
        <a:solidFill>
          <a:schemeClr val="accent5">
            <a:hueOff val="-6758543"/>
            <a:satOff val="-17419"/>
            <a:lumOff val="-11765"/>
            <a:alphaOff val="0"/>
          </a:schemeClr>
        </a:solidFill>
        <a:ln w="12700" cap="flat" cmpd="sng" algn="ctr">
          <a:solidFill>
            <a:schemeClr val="accent5">
              <a:hueOff val="-6758543"/>
              <a:satOff val="-17419"/>
              <a:lumOff val="-11765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52C3FF0-5EC4-4403-BBDC-2A7E1866C083}">
      <dsp:nvSpPr>
        <dsp:cNvPr id="0" name=""/>
        <dsp:cNvSpPr/>
      </dsp:nvSpPr>
      <dsp:spPr>
        <a:xfrm>
          <a:off x="0" y="2461402"/>
          <a:ext cx="6291714" cy="122979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010" tIns="80010" rIns="80010" bIns="80010" numCol="1" spcCol="1270" anchor="t" anchorCtr="0">
          <a:noAutofit/>
        </a:bodyPr>
        <a:lstStyle/>
        <a:p>
          <a:pPr marL="0" lvl="0" indent="0" algn="l" defTabSz="9334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100" kern="1200" dirty="0"/>
        </a:p>
      </dsp:txBody>
      <dsp:txXfrm>
        <a:off x="0" y="2461402"/>
        <a:ext cx="6291714" cy="1229799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649ED84-11E0-4135-8F64-83DB7652EF00}">
      <dsp:nvSpPr>
        <dsp:cNvPr id="0" name=""/>
        <dsp:cNvSpPr/>
      </dsp:nvSpPr>
      <dsp:spPr>
        <a:xfrm>
          <a:off x="0" y="401967"/>
          <a:ext cx="6291714" cy="225225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88307" tIns="541528" rIns="488307" bIns="184912" numCol="1" spcCol="1270" anchor="t" anchorCtr="0">
          <a:noAutofit/>
        </a:bodyPr>
        <a:lstStyle/>
        <a:p>
          <a:pPr marL="228600" lvl="1" indent="-228600" algn="l" defTabSz="11557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600" kern="1200"/>
            <a:t>Over 60% of restaurant employees experience some form of sexual harassment</a:t>
          </a:r>
        </a:p>
        <a:p>
          <a:pPr marL="228600" lvl="1" indent="-228600" algn="l" defTabSz="11557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600" kern="1200"/>
            <a:t>80% of incidents go unreported</a:t>
          </a:r>
        </a:p>
      </dsp:txBody>
      <dsp:txXfrm>
        <a:off x="0" y="401967"/>
        <a:ext cx="6291714" cy="2252250"/>
      </dsp:txXfrm>
    </dsp:sp>
    <dsp:sp modelId="{1A8FE0B8-F802-4F6B-846F-FD0E6E26EFE6}">
      <dsp:nvSpPr>
        <dsp:cNvPr id="0" name=""/>
        <dsp:cNvSpPr/>
      </dsp:nvSpPr>
      <dsp:spPr>
        <a:xfrm>
          <a:off x="314585" y="18207"/>
          <a:ext cx="4404199" cy="767520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6468" tIns="0" rIns="166468" bIns="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/>
            <a:t>Statistics</a:t>
          </a:r>
        </a:p>
      </dsp:txBody>
      <dsp:txXfrm>
        <a:off x="352052" y="55674"/>
        <a:ext cx="4329265" cy="692586"/>
      </dsp:txXfrm>
    </dsp:sp>
    <dsp:sp modelId="{79F3D4F1-864C-4039-8E31-1813EF055423}">
      <dsp:nvSpPr>
        <dsp:cNvPr id="0" name=""/>
        <dsp:cNvSpPr/>
      </dsp:nvSpPr>
      <dsp:spPr>
        <a:xfrm>
          <a:off x="0" y="3178377"/>
          <a:ext cx="6291714" cy="233415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88307" tIns="541528" rIns="488307" bIns="184912" numCol="1" spcCol="1270" anchor="t" anchorCtr="0">
          <a:noAutofit/>
        </a:bodyPr>
        <a:lstStyle/>
        <a:p>
          <a:pPr marL="228600" lvl="1" indent="-228600" algn="l" defTabSz="11557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600" kern="1200"/>
            <a:t>Close interactions with customers</a:t>
          </a:r>
        </a:p>
        <a:p>
          <a:pPr marL="228600" lvl="1" indent="-228600" algn="l" defTabSz="11557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600" kern="1200" dirty="0"/>
            <a:t>Alcohol consumption (</a:t>
          </a:r>
          <a:r>
            <a:rPr lang="en-US" sz="2600" b="0" i="0" kern="1200" dirty="0">
              <a:solidFill>
                <a:srgbClr val="222222"/>
              </a:solidFill>
              <a:effectLst/>
              <a:latin typeface="Arial" panose="020B0604020202020204" pitchFamily="34" charset="0"/>
            </a:rPr>
            <a:t>Nawyn et al. 2000)</a:t>
          </a:r>
          <a:endParaRPr lang="en-US" sz="2600" kern="1200" dirty="0"/>
        </a:p>
        <a:p>
          <a:pPr marL="228600" lvl="1" indent="-228600" algn="l" defTabSz="11557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600" kern="1200"/>
            <a:t>Imbalance of power</a:t>
          </a:r>
        </a:p>
      </dsp:txBody>
      <dsp:txXfrm>
        <a:off x="0" y="3178377"/>
        <a:ext cx="6291714" cy="2334150"/>
      </dsp:txXfrm>
    </dsp:sp>
    <dsp:sp modelId="{7C9C7E16-09DE-4970-9DC3-E85626F0ED4A}">
      <dsp:nvSpPr>
        <dsp:cNvPr id="0" name=""/>
        <dsp:cNvSpPr/>
      </dsp:nvSpPr>
      <dsp:spPr>
        <a:xfrm>
          <a:off x="314585" y="2794617"/>
          <a:ext cx="4404199" cy="767520"/>
        </a:xfrm>
        <a:prstGeom prst="round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6468" tIns="0" rIns="166468" bIns="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/>
            <a:t>Contributing factors</a:t>
          </a:r>
        </a:p>
      </dsp:txBody>
      <dsp:txXfrm>
        <a:off x="352052" y="2832084"/>
        <a:ext cx="4329265" cy="692586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2101138-D224-47EF-ADAD-A4B872EC1495}">
      <dsp:nvSpPr>
        <dsp:cNvPr id="0" name=""/>
        <dsp:cNvSpPr/>
      </dsp:nvSpPr>
      <dsp:spPr>
        <a:xfrm>
          <a:off x="0" y="188649"/>
          <a:ext cx="10515600" cy="91143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4780" tIns="144780" rIns="144780" bIns="144780" numCol="1" spcCol="1270" anchor="ctr" anchorCtr="0">
          <a:noAutofit/>
        </a:bodyPr>
        <a:lstStyle/>
        <a:p>
          <a:pPr marL="0" lvl="0" indent="0" algn="l" defTabSz="1689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800" kern="1200"/>
            <a:t>Manager responsibilities:</a:t>
          </a:r>
        </a:p>
      </dsp:txBody>
      <dsp:txXfrm>
        <a:off x="44492" y="233141"/>
        <a:ext cx="10426616" cy="822446"/>
      </dsp:txXfrm>
    </dsp:sp>
    <dsp:sp modelId="{7C43AF98-41FA-43B2-A025-B1307FD852CF}">
      <dsp:nvSpPr>
        <dsp:cNvPr id="0" name=""/>
        <dsp:cNvSpPr/>
      </dsp:nvSpPr>
      <dsp:spPr>
        <a:xfrm>
          <a:off x="0" y="1209519"/>
          <a:ext cx="10515600" cy="91143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4780" tIns="144780" rIns="144780" bIns="144780" numCol="1" spcCol="1270" anchor="ctr" anchorCtr="0">
          <a:noAutofit/>
        </a:bodyPr>
        <a:lstStyle/>
        <a:p>
          <a:pPr marL="0" lvl="0" indent="0" algn="l" defTabSz="1689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800" kern="1200"/>
            <a:t>Implement clear sexual harassment policies</a:t>
          </a:r>
        </a:p>
      </dsp:txBody>
      <dsp:txXfrm>
        <a:off x="44492" y="1254011"/>
        <a:ext cx="10426616" cy="822446"/>
      </dsp:txXfrm>
    </dsp:sp>
    <dsp:sp modelId="{9953968C-5C77-41CF-A7EF-1674084CACF6}">
      <dsp:nvSpPr>
        <dsp:cNvPr id="0" name=""/>
        <dsp:cNvSpPr/>
      </dsp:nvSpPr>
      <dsp:spPr>
        <a:xfrm>
          <a:off x="0" y="2230389"/>
          <a:ext cx="10515600" cy="91143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4780" tIns="144780" rIns="144780" bIns="144780" numCol="1" spcCol="1270" anchor="ctr" anchorCtr="0">
          <a:noAutofit/>
        </a:bodyPr>
        <a:lstStyle/>
        <a:p>
          <a:pPr marL="0" lvl="0" indent="0" algn="l" defTabSz="1689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800" kern="1200"/>
            <a:t>Train staff on policies and reporting</a:t>
          </a:r>
        </a:p>
      </dsp:txBody>
      <dsp:txXfrm>
        <a:off x="44492" y="2274881"/>
        <a:ext cx="10426616" cy="822446"/>
      </dsp:txXfrm>
    </dsp:sp>
    <dsp:sp modelId="{0AB3CB4A-6D31-4A38-95EA-E577ACAA1D4B}">
      <dsp:nvSpPr>
        <dsp:cNvPr id="0" name=""/>
        <dsp:cNvSpPr/>
      </dsp:nvSpPr>
      <dsp:spPr>
        <a:xfrm>
          <a:off x="0" y="3251259"/>
          <a:ext cx="10515600" cy="91143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4780" tIns="144780" rIns="144780" bIns="144780" numCol="1" spcCol="1270" anchor="ctr" anchorCtr="0">
          <a:noAutofit/>
        </a:bodyPr>
        <a:lstStyle/>
        <a:p>
          <a:pPr marL="0" lvl="0" indent="0" algn="l" defTabSz="1689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800" kern="1200"/>
            <a:t>Take every claim seriously and investigate promptly</a:t>
          </a:r>
        </a:p>
      </dsp:txBody>
      <dsp:txXfrm>
        <a:off x="44492" y="3295751"/>
        <a:ext cx="10426616" cy="822446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E73DD30-C6C7-4640-A29C-7F1A19108674}">
      <dsp:nvSpPr>
        <dsp:cNvPr id="0" name=""/>
        <dsp:cNvSpPr/>
      </dsp:nvSpPr>
      <dsp:spPr>
        <a:xfrm rot="5400000">
          <a:off x="5410072" y="-1189323"/>
          <a:ext cx="3481070" cy="6729984"/>
        </a:xfrm>
        <a:prstGeom prst="round2Same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90500" tIns="95250" rIns="190500" bIns="95250" numCol="1" spcCol="1270" anchor="ctr" anchorCtr="0">
          <a:noAutofit/>
        </a:bodyPr>
        <a:lstStyle/>
        <a:p>
          <a:pPr marL="285750" lvl="1" indent="-285750" algn="l" defTabSz="22225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5000" kern="1200" dirty="0"/>
            <a:t>Adopting a positive workplace culture </a:t>
          </a:r>
        </a:p>
        <a:p>
          <a:pPr marL="285750" lvl="1" indent="-285750" algn="l" defTabSz="22225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5000" kern="1200" dirty="0"/>
            <a:t>Leading by example		</a:t>
          </a:r>
        </a:p>
      </dsp:txBody>
      <dsp:txXfrm rot="-5400000">
        <a:off x="3785615" y="605066"/>
        <a:ext cx="6560052" cy="3141206"/>
      </dsp:txXfrm>
    </dsp:sp>
    <dsp:sp modelId="{054C0208-2C82-45E4-ACA8-E84FC6ED67D1}">
      <dsp:nvSpPr>
        <dsp:cNvPr id="0" name=""/>
        <dsp:cNvSpPr/>
      </dsp:nvSpPr>
      <dsp:spPr>
        <a:xfrm>
          <a:off x="0" y="0"/>
          <a:ext cx="3785616" cy="4351338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1450" tIns="85725" rIns="171450" bIns="85725" numCol="1" spcCol="1270" anchor="ctr" anchorCtr="0">
          <a:noAutofit/>
        </a:bodyPr>
        <a:lstStyle/>
        <a:p>
          <a:pPr marL="0" lvl="0" indent="0" algn="ctr" defTabSz="2000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500" kern="1200"/>
            <a:t>Adopting a Safe and Inclusive Workplace Remedial training</a:t>
          </a:r>
        </a:p>
      </dsp:txBody>
      <dsp:txXfrm>
        <a:off x="184799" y="184799"/>
        <a:ext cx="3416018" cy="3981740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C9A485A-50A5-46B1-A878-CC907AFB9967}">
      <dsp:nvSpPr>
        <dsp:cNvPr id="0" name=""/>
        <dsp:cNvSpPr/>
      </dsp:nvSpPr>
      <dsp:spPr>
        <a:xfrm>
          <a:off x="0" y="5895"/>
          <a:ext cx="10515600" cy="139851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 dirty="0"/>
            <a:t>Policy Development: : These policies should define unacceptable behavior, outline reporting procedures, and establish consequences for violations</a:t>
          </a:r>
        </a:p>
      </dsp:txBody>
      <dsp:txXfrm>
        <a:off x="68270" y="74165"/>
        <a:ext cx="10379060" cy="1261975"/>
      </dsp:txXfrm>
    </dsp:sp>
    <dsp:sp modelId="{50E2101A-564B-478D-A321-E9C82958AC7D}">
      <dsp:nvSpPr>
        <dsp:cNvPr id="0" name=""/>
        <dsp:cNvSpPr/>
      </dsp:nvSpPr>
      <dsp:spPr>
        <a:xfrm>
          <a:off x="0" y="1476411"/>
          <a:ext cx="10515600" cy="139851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Effective Communication: This includes providing training sessions to ensure that staff understands what constitutes harassment and how to report incidents</a:t>
          </a:r>
        </a:p>
      </dsp:txBody>
      <dsp:txXfrm>
        <a:off x="68270" y="1544681"/>
        <a:ext cx="10379060" cy="1261975"/>
      </dsp:txXfrm>
    </dsp:sp>
    <dsp:sp modelId="{5EA39E1D-25F3-4625-BED5-D7C0CD0F1B10}">
      <dsp:nvSpPr>
        <dsp:cNvPr id="0" name=""/>
        <dsp:cNvSpPr/>
      </dsp:nvSpPr>
      <dsp:spPr>
        <a:xfrm>
          <a:off x="0" y="2946926"/>
          <a:ext cx="10515600" cy="139851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Prompt and Fair Enforcement: Investigations should be thorough, and consequences for perpetrators should be fair and consistent, regardless of their position within the organization.</a:t>
          </a:r>
        </a:p>
      </dsp:txBody>
      <dsp:txXfrm>
        <a:off x="68270" y="3015196"/>
        <a:ext cx="10379060" cy="1261975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5EFFBB5-2FE4-49C9-90D4-A612BE07655E}">
      <dsp:nvSpPr>
        <dsp:cNvPr id="0" name=""/>
        <dsp:cNvSpPr/>
      </dsp:nvSpPr>
      <dsp:spPr>
        <a:xfrm>
          <a:off x="0" y="0"/>
          <a:ext cx="1051560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F28DDDD-6D0C-4166-BB03-3BB1995B0A37}">
      <dsp:nvSpPr>
        <dsp:cNvPr id="0" name=""/>
        <dsp:cNvSpPr/>
      </dsp:nvSpPr>
      <dsp:spPr>
        <a:xfrm>
          <a:off x="0" y="0"/>
          <a:ext cx="10515600" cy="108783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6210" tIns="156210" rIns="156210" bIns="156210" numCol="1" spcCol="1270" anchor="t" anchorCtr="0">
          <a:noAutofit/>
        </a:bodyPr>
        <a:lstStyle/>
        <a:p>
          <a:pPr marL="0" lvl="0" indent="0" algn="l" defTabSz="1822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100" kern="1200" dirty="0"/>
            <a:t>Power Dynamics within the Restaurant Pyramid</a:t>
          </a:r>
        </a:p>
      </dsp:txBody>
      <dsp:txXfrm>
        <a:off x="0" y="0"/>
        <a:ext cx="10515600" cy="1087834"/>
      </dsp:txXfrm>
    </dsp:sp>
    <dsp:sp modelId="{363623BF-CD9E-48A6-B893-12A1312188C6}">
      <dsp:nvSpPr>
        <dsp:cNvPr id="0" name=""/>
        <dsp:cNvSpPr/>
      </dsp:nvSpPr>
      <dsp:spPr>
        <a:xfrm>
          <a:off x="0" y="1087834"/>
          <a:ext cx="1051560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311C302-62E2-458C-B7AA-0AB4C5864C96}">
      <dsp:nvSpPr>
        <dsp:cNvPr id="0" name=""/>
        <dsp:cNvSpPr/>
      </dsp:nvSpPr>
      <dsp:spPr>
        <a:xfrm>
          <a:off x="0" y="1087834"/>
          <a:ext cx="10515600" cy="108783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6210" tIns="156210" rIns="156210" bIns="156210" numCol="1" spcCol="1270" anchor="t" anchorCtr="0">
          <a:noAutofit/>
        </a:bodyPr>
        <a:lstStyle/>
        <a:p>
          <a:pPr marL="0" lvl="0" indent="0" algn="l" defTabSz="1822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100" kern="1200" dirty="0"/>
            <a:t>High-Stress Work Environments</a:t>
          </a:r>
        </a:p>
      </dsp:txBody>
      <dsp:txXfrm>
        <a:off x="0" y="1087834"/>
        <a:ext cx="10515600" cy="1087834"/>
      </dsp:txXfrm>
    </dsp:sp>
    <dsp:sp modelId="{3982A44F-9E41-40C9-B4FC-28E553892A52}">
      <dsp:nvSpPr>
        <dsp:cNvPr id="0" name=""/>
        <dsp:cNvSpPr/>
      </dsp:nvSpPr>
      <dsp:spPr>
        <a:xfrm>
          <a:off x="0" y="2175669"/>
          <a:ext cx="1051560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83C41A1-A567-40EC-8912-3E25856CF0FB}">
      <dsp:nvSpPr>
        <dsp:cNvPr id="0" name=""/>
        <dsp:cNvSpPr/>
      </dsp:nvSpPr>
      <dsp:spPr>
        <a:xfrm>
          <a:off x="0" y="2175669"/>
          <a:ext cx="10515600" cy="108783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6210" tIns="156210" rIns="156210" bIns="156210" numCol="1" spcCol="1270" anchor="t" anchorCtr="0">
          <a:noAutofit/>
        </a:bodyPr>
        <a:lstStyle/>
        <a:p>
          <a:pPr marL="0" lvl="0" indent="0" algn="l" defTabSz="1822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100" kern="1200" dirty="0"/>
            <a:t>Lack of Proper Training and Education</a:t>
          </a:r>
        </a:p>
      </dsp:txBody>
      <dsp:txXfrm>
        <a:off x="0" y="2175669"/>
        <a:ext cx="10515600" cy="1087834"/>
      </dsp:txXfrm>
    </dsp:sp>
    <dsp:sp modelId="{E333B28E-1A1C-47F0-B8BA-94A56C9998C9}">
      <dsp:nvSpPr>
        <dsp:cNvPr id="0" name=""/>
        <dsp:cNvSpPr/>
      </dsp:nvSpPr>
      <dsp:spPr>
        <a:xfrm>
          <a:off x="0" y="3263503"/>
          <a:ext cx="1051560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D5D24EF-FDBC-47C0-B940-1408D3C3DC1A}">
      <dsp:nvSpPr>
        <dsp:cNvPr id="0" name=""/>
        <dsp:cNvSpPr/>
      </dsp:nvSpPr>
      <dsp:spPr>
        <a:xfrm>
          <a:off x="0" y="3263503"/>
          <a:ext cx="10515600" cy="108783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6210" tIns="156210" rIns="156210" bIns="156210" numCol="1" spcCol="1270" anchor="t" anchorCtr="0">
          <a:noAutofit/>
        </a:bodyPr>
        <a:lstStyle/>
        <a:p>
          <a:pPr marL="0" lvl="0" indent="0" algn="l" defTabSz="1822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100" kern="1200" dirty="0"/>
            <a:t>Normalization of Inappropriate Behavior</a:t>
          </a:r>
        </a:p>
      </dsp:txBody>
      <dsp:txXfrm>
        <a:off x="0" y="3263503"/>
        <a:ext cx="10515600" cy="1087834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vList5">
  <dgm:title val=""/>
  <dgm:desc val=""/>
  <dgm:catLst>
    <dgm:cat type="list" pri="15000"/>
    <dgm:cat type="convert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5"/>
      <dgm:constr type="primFontSz" for="des" forName="parentText" op="equ" val="65"/>
      <dgm:constr type="secFontSz" for="des" forName="descendantText" op="equ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36"/>
          <dgm:constr type="w" for="ch" forName="descendantText" refType="w" fact="0.64"/>
          <dgm:constr type="h" for="ch" forName="parentText" refType="h"/>
          <dgm:constr type="h" for="ch" forName="descendantText" refType="h" refFor="ch" refForName="parentText" fact="0.8"/>
        </dgm:constrLst>
        <dgm:ruleLst/>
        <dgm:layoutNode name="parentText">
          <dgm:varLst>
            <dgm:chMax val="1"/>
            <dgm:bulletEnabled val="1"/>
          </dgm:varLst>
          <dgm:alg type="tx"/>
          <dgm:shape xmlns:r="http://schemas.openxmlformats.org/officeDocument/2006/relationships" type="roundRect" r:blip="" zOrderOff="3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8">
          <dgm:if name="Name9" axis="ch" ptType="node" func="cnt" op="gte" val="1">
            <dgm:layoutNode name="descendantText" styleLbl="alignAccFollowNode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choose name="Name10">
                <dgm:if name="Name11" func="var" arg="dir" op="equ" val="norm">
                  <dgm:shape xmlns:r="http://schemas.openxmlformats.org/officeDocument/2006/relationships" rot="90" type="round2SameRect" r:blip="">
                    <dgm:adjLst/>
                  </dgm:shape>
                </dgm:if>
                <dgm:else name="Name12">
                  <dgm:shape xmlns:r="http://schemas.openxmlformats.org/officeDocument/2006/relationships" rot="-90" type="round2SameRect" r:blip="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lMarg" refType="secFontSz" fact="0.3"/>
                <dgm:constr type="rMarg" refType="secFontSz" fact="0.3"/>
                <dgm:constr type="tMarg" refType="secFontSz" fact="0.15"/>
                <dgm:constr type="bMarg" refType="secFontSz" fact="0.15"/>
              </dgm:constrLst>
              <dgm:ruleLst>
                <dgm:rule type="secFontSz" val="5" fact="NaN" max="NaN"/>
              </dgm:ruleLst>
            </dgm:layoutNode>
          </dgm:if>
          <dgm:else name="Name13"/>
        </dgm:choos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61B8A0-0226-3559-6346-55DEE4E30C3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KE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91D9104-20A8-33D4-2CEC-E3907BD3356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K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295E39-571A-90C9-9C02-27E38CCE5F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3264C3-4FBA-47AA-8F4E-5DD50B0B2269}" type="datetimeFigureOut">
              <a:rPr lang="en-KE" smtClean="0"/>
              <a:t>12/09/2023</a:t>
            </a:fld>
            <a:endParaRPr lang="en-K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30B3CB7-0EED-6329-9BCC-EE7EC79944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E50D2B3-5FDF-8428-F18A-45A0A9B190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8FCE1D-FC8C-4CC9-A8DE-D912BCCAC14A}" type="slidenum">
              <a:rPr lang="en-KE" smtClean="0"/>
              <a:t>‹#›</a:t>
            </a:fld>
            <a:endParaRPr lang="en-KE"/>
          </a:p>
        </p:txBody>
      </p:sp>
    </p:spTree>
    <p:extLst>
      <p:ext uri="{BB962C8B-B14F-4D97-AF65-F5344CB8AC3E}">
        <p14:creationId xmlns:p14="http://schemas.microsoft.com/office/powerpoint/2010/main" val="409394947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2DA984-B5E0-2173-1A77-0F8FE940F2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K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A74226-2CA7-EC91-83D6-718B113EE75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K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91ACDEC-6EDC-4AB2-DDFC-3409A83723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3264C3-4FBA-47AA-8F4E-5DD50B0B2269}" type="datetimeFigureOut">
              <a:rPr lang="en-KE" smtClean="0"/>
              <a:t>12/09/2023</a:t>
            </a:fld>
            <a:endParaRPr lang="en-K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3698CA-8405-C943-6FA0-BF270D1F77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B9AA95-1A08-010C-0C57-356B57C8D6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8FCE1D-FC8C-4CC9-A8DE-D912BCCAC14A}" type="slidenum">
              <a:rPr lang="en-KE" smtClean="0"/>
              <a:t>‹#›</a:t>
            </a:fld>
            <a:endParaRPr lang="en-KE"/>
          </a:p>
        </p:txBody>
      </p:sp>
    </p:spTree>
    <p:extLst>
      <p:ext uri="{BB962C8B-B14F-4D97-AF65-F5344CB8AC3E}">
        <p14:creationId xmlns:p14="http://schemas.microsoft.com/office/powerpoint/2010/main" val="65489857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2F971A-7601-46D4-B289-15C3F2FD31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K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F772ED1-8798-F134-4990-853EF5419A8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C13F913-292E-96BA-C9D5-7ADE8E9C53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3264C3-4FBA-47AA-8F4E-5DD50B0B2269}" type="datetimeFigureOut">
              <a:rPr lang="en-KE" smtClean="0"/>
              <a:t>12/09/2023</a:t>
            </a:fld>
            <a:endParaRPr lang="en-K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9CD8CD8-AADD-311D-0F0E-69511891EF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399B4D-EF54-3D93-DFF8-20DED51DBF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8FCE1D-FC8C-4CC9-A8DE-D912BCCAC14A}" type="slidenum">
              <a:rPr lang="en-KE" smtClean="0"/>
              <a:t>‹#›</a:t>
            </a:fld>
            <a:endParaRPr lang="en-KE"/>
          </a:p>
        </p:txBody>
      </p:sp>
    </p:spTree>
    <p:extLst>
      <p:ext uri="{BB962C8B-B14F-4D97-AF65-F5344CB8AC3E}">
        <p14:creationId xmlns:p14="http://schemas.microsoft.com/office/powerpoint/2010/main" val="37440484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210A35-16C0-BD77-680F-9AC62B8BF4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K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724E5E-A452-33F7-A6C6-8A123FE35F0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KE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2AE29B1-1E3F-1F68-CBBC-8045A1D9DF6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KE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2B65666-6AA9-752C-6CBD-2A65BD84B5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3264C3-4FBA-47AA-8F4E-5DD50B0B2269}" type="datetimeFigureOut">
              <a:rPr lang="en-KE" smtClean="0"/>
              <a:t>12/09/2023</a:t>
            </a:fld>
            <a:endParaRPr lang="en-K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A915896-CC6D-DAB4-262E-141F972F8A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B6FE6FF-A0D9-1F08-6DDF-563B24F96F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8FCE1D-FC8C-4CC9-A8DE-D912BCCAC14A}" type="slidenum">
              <a:rPr lang="en-KE" smtClean="0"/>
              <a:t>‹#›</a:t>
            </a:fld>
            <a:endParaRPr lang="en-KE"/>
          </a:p>
        </p:txBody>
      </p:sp>
    </p:spTree>
    <p:extLst>
      <p:ext uri="{BB962C8B-B14F-4D97-AF65-F5344CB8AC3E}">
        <p14:creationId xmlns:p14="http://schemas.microsoft.com/office/powerpoint/2010/main" val="425566871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D4E945-C200-DBD8-3F6E-78BAA94DDD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K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8699B81-9BC3-3923-9C9F-5A9D980B4C6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A8B45CE-7529-0C6F-454B-2758561E6D9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KE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2827310-9F8C-56F8-1728-EEAD3CCD83B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6161609-B968-6DD8-5DBC-093E90CA806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KE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415D600-3253-0AC2-D4BA-963F547DE5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3264C3-4FBA-47AA-8F4E-5DD50B0B2269}" type="datetimeFigureOut">
              <a:rPr lang="en-KE" smtClean="0"/>
              <a:t>12/09/2023</a:t>
            </a:fld>
            <a:endParaRPr lang="en-KE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2DB4B73-AC66-0854-312F-D9FF5890B6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E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34ADBCC-8FEF-A22F-BC0D-170F4590B3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8FCE1D-FC8C-4CC9-A8DE-D912BCCAC14A}" type="slidenum">
              <a:rPr lang="en-KE" smtClean="0"/>
              <a:t>‹#›</a:t>
            </a:fld>
            <a:endParaRPr lang="en-KE"/>
          </a:p>
        </p:txBody>
      </p:sp>
    </p:spTree>
    <p:extLst>
      <p:ext uri="{BB962C8B-B14F-4D97-AF65-F5344CB8AC3E}">
        <p14:creationId xmlns:p14="http://schemas.microsoft.com/office/powerpoint/2010/main" val="7186536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97C969-F1E4-3690-9465-287E559FC5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KE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05E6399-825A-B653-0D33-40DC7F589A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3264C3-4FBA-47AA-8F4E-5DD50B0B2269}" type="datetimeFigureOut">
              <a:rPr lang="en-KE" smtClean="0"/>
              <a:t>12/09/2023</a:t>
            </a:fld>
            <a:endParaRPr lang="en-KE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F790812-978A-3ACB-52C4-D069576C67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E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9CCE152-6117-975D-703F-35BF8D04F7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8FCE1D-FC8C-4CC9-A8DE-D912BCCAC14A}" type="slidenum">
              <a:rPr lang="en-KE" smtClean="0"/>
              <a:t>‹#›</a:t>
            </a:fld>
            <a:endParaRPr lang="en-KE"/>
          </a:p>
        </p:txBody>
      </p:sp>
    </p:spTree>
    <p:extLst>
      <p:ext uri="{BB962C8B-B14F-4D97-AF65-F5344CB8AC3E}">
        <p14:creationId xmlns:p14="http://schemas.microsoft.com/office/powerpoint/2010/main" val="151035503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00DE20C-51FE-5F2D-18A2-AE9767A8A2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3264C3-4FBA-47AA-8F4E-5DD50B0B2269}" type="datetimeFigureOut">
              <a:rPr lang="en-KE" smtClean="0"/>
              <a:t>12/09/2023</a:t>
            </a:fld>
            <a:endParaRPr lang="en-KE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4C0B6B4-1032-F4D2-B244-3BC6BBCF1A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E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EEE4766-CE72-D29A-A890-232C4E30CB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8FCE1D-FC8C-4CC9-A8DE-D912BCCAC14A}" type="slidenum">
              <a:rPr lang="en-KE" smtClean="0"/>
              <a:t>‹#›</a:t>
            </a:fld>
            <a:endParaRPr lang="en-KE"/>
          </a:p>
        </p:txBody>
      </p:sp>
    </p:spTree>
    <p:extLst>
      <p:ext uri="{BB962C8B-B14F-4D97-AF65-F5344CB8AC3E}">
        <p14:creationId xmlns:p14="http://schemas.microsoft.com/office/powerpoint/2010/main" val="34173530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3BD617-1BD2-84FD-528D-9A1DE6C82E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K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02A9F4-9077-4A9C-1CF6-7DE6419DA22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K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8929305-7304-66A1-226E-4387230ECD6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E5DBB0F-5425-12C3-12BB-0680FE2BA1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3264C3-4FBA-47AA-8F4E-5DD50B0B2269}" type="datetimeFigureOut">
              <a:rPr lang="en-KE" smtClean="0"/>
              <a:t>12/09/2023</a:t>
            </a:fld>
            <a:endParaRPr lang="en-K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ABBB683-6172-5F0C-86D7-1AB247CE7D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3326101-96C6-6003-CD7E-2480564807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8FCE1D-FC8C-4CC9-A8DE-D912BCCAC14A}" type="slidenum">
              <a:rPr lang="en-KE" smtClean="0"/>
              <a:t>‹#›</a:t>
            </a:fld>
            <a:endParaRPr lang="en-KE"/>
          </a:p>
        </p:txBody>
      </p:sp>
    </p:spTree>
    <p:extLst>
      <p:ext uri="{BB962C8B-B14F-4D97-AF65-F5344CB8AC3E}">
        <p14:creationId xmlns:p14="http://schemas.microsoft.com/office/powerpoint/2010/main" val="15233583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84930F-8A53-7B07-A963-178457B6BB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KE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74519A2-3976-127B-2EF2-B7425F6D97F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K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A0E4EDF-8CAE-479D-0549-CE6D700FC45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3CB856C-B07D-76F1-26EA-5F8AB01976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3264C3-4FBA-47AA-8F4E-5DD50B0B2269}" type="datetimeFigureOut">
              <a:rPr lang="en-KE" smtClean="0"/>
              <a:t>12/09/2023</a:t>
            </a:fld>
            <a:endParaRPr lang="en-K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2457119-B5D7-B0AF-6848-1EC2654407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47E0DA2-2CE2-61AC-69F6-2AA80EB37E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8FCE1D-FC8C-4CC9-A8DE-D912BCCAC14A}" type="slidenum">
              <a:rPr lang="en-KE" smtClean="0"/>
              <a:t>‹#›</a:t>
            </a:fld>
            <a:endParaRPr lang="en-KE"/>
          </a:p>
        </p:txBody>
      </p:sp>
    </p:spTree>
    <p:extLst>
      <p:ext uri="{BB962C8B-B14F-4D97-AF65-F5344CB8AC3E}">
        <p14:creationId xmlns:p14="http://schemas.microsoft.com/office/powerpoint/2010/main" val="120513957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C657F7-0681-5B5A-AB25-E0B3B605DB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K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70FBEB3-1086-27EF-1E1C-8FF2C16EA6E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K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974CC5-7093-1D47-66BC-8AA7ACBA63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3264C3-4FBA-47AA-8F4E-5DD50B0B2269}" type="datetimeFigureOut">
              <a:rPr lang="en-KE" smtClean="0"/>
              <a:t>12/09/2023</a:t>
            </a:fld>
            <a:endParaRPr lang="en-K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195921C-E84D-AA46-7168-835FD00A21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BF7B3D4-9DFA-E2EF-E685-711338259A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8FCE1D-FC8C-4CC9-A8DE-D912BCCAC14A}" type="slidenum">
              <a:rPr lang="en-KE" smtClean="0"/>
              <a:t>‹#›</a:t>
            </a:fld>
            <a:endParaRPr lang="en-KE"/>
          </a:p>
        </p:txBody>
      </p:sp>
    </p:spTree>
    <p:extLst>
      <p:ext uri="{BB962C8B-B14F-4D97-AF65-F5344CB8AC3E}">
        <p14:creationId xmlns:p14="http://schemas.microsoft.com/office/powerpoint/2010/main" val="8248704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3FA8A40-8376-19E5-EF3D-ACA4287BB98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K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148874F-3017-9CE0-6BCA-84C20732DE0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K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E96005A-2E27-4378-7C8A-8C5764E9EE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3264C3-4FBA-47AA-8F4E-5DD50B0B2269}" type="datetimeFigureOut">
              <a:rPr lang="en-KE" smtClean="0"/>
              <a:t>12/09/2023</a:t>
            </a:fld>
            <a:endParaRPr lang="en-K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410906B-4263-3DFD-2FDB-CF7CBECF64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7D3852E-50AF-79C4-128F-DB88EA0DC5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8FCE1D-FC8C-4CC9-A8DE-D912BCCAC14A}" type="slidenum">
              <a:rPr lang="en-KE" smtClean="0"/>
              <a:t>‹#›</a:t>
            </a:fld>
            <a:endParaRPr lang="en-KE"/>
          </a:p>
        </p:txBody>
      </p:sp>
    </p:spTree>
    <p:extLst>
      <p:ext uri="{BB962C8B-B14F-4D97-AF65-F5344CB8AC3E}">
        <p14:creationId xmlns:p14="http://schemas.microsoft.com/office/powerpoint/2010/main" val="30385246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F78C100-248D-7AFB-8EE2-28D01AC061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K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C543D1B-0897-E2F3-4A6F-C4952FF33A6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K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60311F3-F978-1A3D-8608-01FCFF3B62F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3264C3-4FBA-47AA-8F4E-5DD50B0B2269}" type="datetimeFigureOut">
              <a:rPr lang="en-KE" smtClean="0"/>
              <a:t>12/09/2023</a:t>
            </a:fld>
            <a:endParaRPr lang="en-K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6A2C5AF-47A3-1320-D225-3103AE9817F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K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3165925-D14C-1694-11E0-0470596CEA9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B8FCE1D-FC8C-4CC9-A8DE-D912BCCAC14A}" type="slidenum">
              <a:rPr lang="en-KE" smtClean="0"/>
              <a:t>‹#›</a:t>
            </a:fld>
            <a:endParaRPr lang="en-KE"/>
          </a:p>
        </p:txBody>
      </p:sp>
    </p:spTree>
    <p:extLst>
      <p:ext uri="{BB962C8B-B14F-4D97-AF65-F5344CB8AC3E}">
        <p14:creationId xmlns:p14="http://schemas.microsoft.com/office/powerpoint/2010/main" val="7235981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K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.xml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ECC07320-C2CA-4E29-8481-9D9E143C77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3" name="Picture 12" descr="A colorful squares on a white background&#10;&#10;Description automatically generated">
            <a:extLst>
              <a:ext uri="{FF2B5EF4-FFF2-40B4-BE49-F238E27FC236}">
                <a16:creationId xmlns:a16="http://schemas.microsoft.com/office/drawing/2014/main" id="{D04BD063-1F03-8A6A-B832-FAC7C16F0AB6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14007" b="29141"/>
          <a:stretch/>
        </p:blipFill>
        <p:spPr>
          <a:xfrm>
            <a:off x="1" y="10"/>
            <a:ext cx="9669642" cy="6857990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178FB36B-5BFE-42CA-BC60-1115E0D95E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5125019" y="0"/>
            <a:ext cx="7066978" cy="6858000"/>
          </a:xfrm>
          <a:prstGeom prst="rect">
            <a:avLst/>
          </a:prstGeom>
          <a:gradFill>
            <a:gsLst>
              <a:gs pos="48000">
                <a:schemeClr val="tx1"/>
              </a:gs>
              <a:gs pos="35000">
                <a:schemeClr val="tx1">
                  <a:alpha val="77000"/>
                </a:schemeClr>
              </a:gs>
              <a:gs pos="19000">
                <a:schemeClr val="tx1">
                  <a:alpha val="38000"/>
                </a:schemeClr>
              </a:gs>
              <a:gs pos="0">
                <a:schemeClr val="tx1">
                  <a:alpha val="0"/>
                </a:schemeClr>
              </a:gs>
              <a:gs pos="100000">
                <a:schemeClr val="tx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EDD3A2E-3A98-24E4-7894-DB3DF281634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935402" y="743447"/>
            <a:ext cx="3445765" cy="3692028"/>
          </a:xfrm>
          <a:noFill/>
        </p:spPr>
        <p:txBody>
          <a:bodyPr>
            <a:normAutofit/>
          </a:bodyPr>
          <a:lstStyle/>
          <a:p>
            <a:pPr algn="l"/>
            <a:r>
              <a:rPr lang="en-US" sz="5200" dirty="0">
                <a:solidFill>
                  <a:schemeClr val="bg1"/>
                </a:solidFill>
              </a:rPr>
              <a:t>Sexual Harassment cases in Restaurant business</a:t>
            </a:r>
            <a:endParaRPr lang="en-KE" sz="5200">
              <a:solidFill>
                <a:schemeClr val="bg1"/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4B35A5F-BFBF-2B5D-5FFD-3438B23990F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935403" y="4629234"/>
            <a:ext cx="3445766" cy="1485319"/>
          </a:xfrm>
          <a:noFill/>
        </p:spPr>
        <p:txBody>
          <a:bodyPr>
            <a:normAutofit/>
          </a:bodyPr>
          <a:lstStyle/>
          <a:p>
            <a:pPr algn="l"/>
            <a:r>
              <a:rPr lang="en-US" dirty="0">
                <a:solidFill>
                  <a:schemeClr val="bg1"/>
                </a:solidFill>
              </a:rPr>
              <a:t>Name: Majed &amp; Faris and Abdullah </a:t>
            </a:r>
          </a:p>
          <a:p>
            <a:pPr algn="l"/>
            <a:r>
              <a:rPr lang="en-US" dirty="0">
                <a:solidFill>
                  <a:schemeClr val="bg1"/>
                </a:solidFill>
              </a:rPr>
              <a:t>Date:12/09/2023</a:t>
            </a:r>
            <a:endParaRPr lang="en-KE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4540237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9DBC8166-481C-4473-95F5-9A5B9073B7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A5A5CE6E-90AF-4D43-A014-1F9EC83EB9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4512467" cy="6858000"/>
          </a:xfrm>
          <a:custGeom>
            <a:avLst/>
            <a:gdLst>
              <a:gd name="connsiteX0" fmla="*/ 0 w 4512467"/>
              <a:gd name="connsiteY0" fmla="*/ 0 h 6858000"/>
              <a:gd name="connsiteX1" fmla="*/ 2579526 w 4512467"/>
              <a:gd name="connsiteY1" fmla="*/ 0 h 6858000"/>
              <a:gd name="connsiteX2" fmla="*/ 2583267 w 4512467"/>
              <a:gd name="connsiteY2" fmla="*/ 2151 h 6858000"/>
              <a:gd name="connsiteX3" fmla="*/ 4512467 w 4512467"/>
              <a:gd name="connsiteY3" fmla="*/ 3429000 h 6858000"/>
              <a:gd name="connsiteX4" fmla="*/ 2583267 w 4512467"/>
              <a:gd name="connsiteY4" fmla="*/ 6855849 h 6858000"/>
              <a:gd name="connsiteX5" fmla="*/ 2579526 w 4512467"/>
              <a:gd name="connsiteY5" fmla="*/ 6858000 h 6858000"/>
              <a:gd name="connsiteX6" fmla="*/ 0 w 4512467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512467" h="6858000">
                <a:moveTo>
                  <a:pt x="0" y="0"/>
                </a:moveTo>
                <a:lnTo>
                  <a:pt x="2579526" y="0"/>
                </a:lnTo>
                <a:lnTo>
                  <a:pt x="2583267" y="2151"/>
                </a:lnTo>
                <a:cubicBezTo>
                  <a:pt x="3739868" y="704919"/>
                  <a:pt x="4512467" y="1976735"/>
                  <a:pt x="4512467" y="3429000"/>
                </a:cubicBezTo>
                <a:cubicBezTo>
                  <a:pt x="4512467" y="4881266"/>
                  <a:pt x="3739868" y="6153081"/>
                  <a:pt x="2583267" y="6855849"/>
                </a:cubicBezTo>
                <a:lnTo>
                  <a:pt x="2579526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8B3F3AE-1C01-DF5D-FEE5-26433B57DF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43467"/>
            <a:ext cx="2951205" cy="5571066"/>
          </a:xfrm>
        </p:spPr>
        <p:txBody>
          <a:bodyPr>
            <a:normAutofit/>
          </a:bodyPr>
          <a:lstStyle/>
          <a:p>
            <a:r>
              <a:rPr lang="en-US">
                <a:solidFill>
                  <a:srgbClr val="FFFFFF"/>
                </a:solidFill>
              </a:rPr>
              <a:t>Defining Sexual Harassment</a:t>
            </a:r>
            <a:endParaRPr lang="en-KE">
              <a:solidFill>
                <a:srgbClr val="FFFFFF"/>
              </a:solidFill>
            </a:endParaRP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8AFB70E4-8304-C859-582F-03C66B72566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882463655"/>
              </p:ext>
            </p:extLst>
          </p:nvPr>
        </p:nvGraphicFramePr>
        <p:xfrm>
          <a:off x="5207640" y="643467"/>
          <a:ext cx="6291714" cy="369300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9752224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9DBC8166-481C-4473-95F5-9A5B9073B7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A5A5CE6E-90AF-4D43-A014-1F9EC83EB9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4512467" cy="6858000"/>
          </a:xfrm>
          <a:custGeom>
            <a:avLst/>
            <a:gdLst>
              <a:gd name="connsiteX0" fmla="*/ 0 w 4512467"/>
              <a:gd name="connsiteY0" fmla="*/ 0 h 6858000"/>
              <a:gd name="connsiteX1" fmla="*/ 2579526 w 4512467"/>
              <a:gd name="connsiteY1" fmla="*/ 0 h 6858000"/>
              <a:gd name="connsiteX2" fmla="*/ 2583267 w 4512467"/>
              <a:gd name="connsiteY2" fmla="*/ 2151 h 6858000"/>
              <a:gd name="connsiteX3" fmla="*/ 4512467 w 4512467"/>
              <a:gd name="connsiteY3" fmla="*/ 3429000 h 6858000"/>
              <a:gd name="connsiteX4" fmla="*/ 2583267 w 4512467"/>
              <a:gd name="connsiteY4" fmla="*/ 6855849 h 6858000"/>
              <a:gd name="connsiteX5" fmla="*/ 2579526 w 4512467"/>
              <a:gd name="connsiteY5" fmla="*/ 6858000 h 6858000"/>
              <a:gd name="connsiteX6" fmla="*/ 0 w 4512467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512467" h="6858000">
                <a:moveTo>
                  <a:pt x="0" y="0"/>
                </a:moveTo>
                <a:lnTo>
                  <a:pt x="2579526" y="0"/>
                </a:lnTo>
                <a:lnTo>
                  <a:pt x="2583267" y="2151"/>
                </a:lnTo>
                <a:cubicBezTo>
                  <a:pt x="3739868" y="704919"/>
                  <a:pt x="4512467" y="1976735"/>
                  <a:pt x="4512467" y="3429000"/>
                </a:cubicBezTo>
                <a:cubicBezTo>
                  <a:pt x="4512467" y="4881266"/>
                  <a:pt x="3739868" y="6153081"/>
                  <a:pt x="2583267" y="6855849"/>
                </a:cubicBezTo>
                <a:lnTo>
                  <a:pt x="2579526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A0FE2B3-951C-EB41-D44F-80FA083D9C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43467"/>
            <a:ext cx="2951205" cy="5571066"/>
          </a:xfrm>
        </p:spPr>
        <p:txBody>
          <a:bodyPr>
            <a:normAutofit/>
          </a:bodyPr>
          <a:lstStyle/>
          <a:p>
            <a:r>
              <a:rPr lang="en-US">
                <a:solidFill>
                  <a:srgbClr val="FFFFFF"/>
                </a:solidFill>
              </a:rPr>
              <a:t>Scope of the Problem</a:t>
            </a:r>
            <a:endParaRPr lang="en-KE">
              <a:solidFill>
                <a:srgbClr val="FFFFFF"/>
              </a:solidFill>
            </a:endParaRP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48F006B6-F7F1-7361-7E51-FCAF914969E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207810345"/>
              </p:ext>
            </p:extLst>
          </p:nvPr>
        </p:nvGraphicFramePr>
        <p:xfrm>
          <a:off x="5207640" y="643466"/>
          <a:ext cx="6291714" cy="553073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99780067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325166D1-1B21-4128-AC42-61745528E4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457B6AE-C16E-B45E-6778-2B0787F57F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81825" y="1641752"/>
            <a:ext cx="4391024" cy="1323439"/>
          </a:xfrm>
        </p:spPr>
        <p:txBody>
          <a:bodyPr anchor="t">
            <a:normAutofit/>
          </a:bodyPr>
          <a:lstStyle/>
          <a:p>
            <a:r>
              <a:rPr lang="en-US" sz="4000">
                <a:solidFill>
                  <a:schemeClr val="bg1"/>
                </a:solidFill>
              </a:rPr>
              <a:t>Common Forms of Harassment</a:t>
            </a:r>
            <a:endParaRPr lang="en-KE" sz="4000">
              <a:solidFill>
                <a:schemeClr val="bg1"/>
              </a:solidFill>
            </a:endParaRPr>
          </a:p>
        </p:txBody>
      </p:sp>
      <p:pic>
        <p:nvPicPr>
          <p:cNvPr id="16" name="Picture 15" descr="A group of multi coloured wooden stick figures">
            <a:extLst>
              <a:ext uri="{FF2B5EF4-FFF2-40B4-BE49-F238E27FC236}">
                <a16:creationId xmlns:a16="http://schemas.microsoft.com/office/drawing/2014/main" id="{AE8477FD-6E5C-9DBB-3AEE-F7A2B8E7A37E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1697" r="25828"/>
          <a:stretch/>
        </p:blipFill>
        <p:spPr>
          <a:xfrm>
            <a:off x="20" y="2"/>
            <a:ext cx="6186992" cy="6857998"/>
          </a:xfrm>
          <a:custGeom>
            <a:avLst/>
            <a:gdLst/>
            <a:ahLst/>
            <a:cxnLst/>
            <a:rect l="l" t="t" r="r" b="b"/>
            <a:pathLst>
              <a:path w="6187012" h="6857998">
                <a:moveTo>
                  <a:pt x="5434855" y="6118149"/>
                </a:moveTo>
                <a:cubicBezTo>
                  <a:pt x="5441404" y="6124102"/>
                  <a:pt x="5449025" y="6129341"/>
                  <a:pt x="5456075" y="6133723"/>
                </a:cubicBezTo>
                <a:cubicBezTo>
                  <a:pt x="5463218" y="6138152"/>
                  <a:pt x="5468564" y="6143474"/>
                  <a:pt x="5472234" y="6149380"/>
                </a:cubicBezTo>
                <a:lnTo>
                  <a:pt x="5477710" y="6166562"/>
                </a:lnTo>
                <a:lnTo>
                  <a:pt x="5472234" y="6149379"/>
                </a:lnTo>
                <a:cubicBezTo>
                  <a:pt x="5468564" y="6143474"/>
                  <a:pt x="5463218" y="6138152"/>
                  <a:pt x="5456075" y="6133722"/>
                </a:cubicBezTo>
                <a:cubicBezTo>
                  <a:pt x="5449025" y="6129341"/>
                  <a:pt x="5441404" y="6124102"/>
                  <a:pt x="5434855" y="6118149"/>
                </a:cubicBezTo>
                <a:close/>
                <a:moveTo>
                  <a:pt x="5343013" y="4941372"/>
                </a:moveTo>
                <a:lnTo>
                  <a:pt x="5346342" y="4950869"/>
                </a:lnTo>
                <a:lnTo>
                  <a:pt x="5356027" y="4991382"/>
                </a:lnTo>
                <a:lnTo>
                  <a:pt x="5346342" y="4950868"/>
                </a:lnTo>
                <a:close/>
                <a:moveTo>
                  <a:pt x="5346951" y="4749807"/>
                </a:moveTo>
                <a:cubicBezTo>
                  <a:pt x="5334815" y="4762826"/>
                  <a:pt x="5333958" y="4781365"/>
                  <a:pt x="5332244" y="4799797"/>
                </a:cubicBezTo>
                <a:cubicBezTo>
                  <a:pt x="5333958" y="4781365"/>
                  <a:pt x="5334815" y="4762827"/>
                  <a:pt x="5346951" y="4749807"/>
                </a:cubicBezTo>
                <a:close/>
                <a:moveTo>
                  <a:pt x="5364750" y="4543185"/>
                </a:moveTo>
                <a:cubicBezTo>
                  <a:pt x="5365727" y="4548281"/>
                  <a:pt x="5367775" y="4553662"/>
                  <a:pt x="5370156" y="4557092"/>
                </a:cubicBezTo>
                <a:cubicBezTo>
                  <a:pt x="5381776" y="4573618"/>
                  <a:pt x="5390563" y="4588275"/>
                  <a:pt x="5396519" y="4602021"/>
                </a:cubicBezTo>
                <a:cubicBezTo>
                  <a:pt x="5390563" y="4588275"/>
                  <a:pt x="5381776" y="4573618"/>
                  <a:pt x="5370156" y="4557091"/>
                </a:cubicBezTo>
                <a:close/>
                <a:moveTo>
                  <a:pt x="5830968" y="2819253"/>
                </a:moveTo>
                <a:lnTo>
                  <a:pt x="5842611" y="2827484"/>
                </a:lnTo>
                <a:lnTo>
                  <a:pt x="5842613" y="2827486"/>
                </a:lnTo>
                <a:lnTo>
                  <a:pt x="5871116" y="2861156"/>
                </a:lnTo>
                <a:lnTo>
                  <a:pt x="5861462" y="2842392"/>
                </a:lnTo>
                <a:lnTo>
                  <a:pt x="5842613" y="2827486"/>
                </a:lnTo>
                <a:lnTo>
                  <a:pt x="5842611" y="2827483"/>
                </a:lnTo>
                <a:close/>
                <a:moveTo>
                  <a:pt x="5761313" y="1974015"/>
                </a:moveTo>
                <a:lnTo>
                  <a:pt x="5754799" y="1999763"/>
                </a:lnTo>
                <a:cubicBezTo>
                  <a:pt x="5750990" y="2008056"/>
                  <a:pt x="5745310" y="2016020"/>
                  <a:pt x="5737071" y="2023547"/>
                </a:cubicBezTo>
                <a:cubicBezTo>
                  <a:pt x="5753550" y="2008497"/>
                  <a:pt x="5759789" y="1991685"/>
                  <a:pt x="5761313" y="1974015"/>
                </a:cubicBezTo>
                <a:close/>
                <a:moveTo>
                  <a:pt x="5744119" y="1768838"/>
                </a:moveTo>
                <a:cubicBezTo>
                  <a:pt x="5739738" y="1774411"/>
                  <a:pt x="5736975" y="1779948"/>
                  <a:pt x="5735518" y="1785412"/>
                </a:cubicBezTo>
                <a:lnTo>
                  <a:pt x="5734738" y="1801558"/>
                </a:lnTo>
                <a:cubicBezTo>
                  <a:pt x="5733070" y="1790986"/>
                  <a:pt x="5735356" y="1779981"/>
                  <a:pt x="5744119" y="1768838"/>
                </a:cubicBezTo>
                <a:close/>
                <a:moveTo>
                  <a:pt x="5853708" y="520953"/>
                </a:moveTo>
                <a:lnTo>
                  <a:pt x="5846981" y="549926"/>
                </a:lnTo>
                <a:lnTo>
                  <a:pt x="5840726" y="566616"/>
                </a:lnTo>
                <a:lnTo>
                  <a:pt x="5834776" y="581804"/>
                </a:lnTo>
                <a:lnTo>
                  <a:pt x="5834358" y="583595"/>
                </a:lnTo>
                <a:lnTo>
                  <a:pt x="5832183" y="589388"/>
                </a:lnTo>
                <a:cubicBezTo>
                  <a:pt x="5829783" y="597005"/>
                  <a:pt x="5828025" y="604728"/>
                  <a:pt x="5827560" y="612658"/>
                </a:cubicBezTo>
                <a:lnTo>
                  <a:pt x="5834358" y="583595"/>
                </a:lnTo>
                <a:lnTo>
                  <a:pt x="5840674" y="566754"/>
                </a:lnTo>
                <a:lnTo>
                  <a:pt x="5840726" y="566616"/>
                </a:lnTo>
                <a:lnTo>
                  <a:pt x="5846564" y="551717"/>
                </a:lnTo>
                <a:lnTo>
                  <a:pt x="5846981" y="549926"/>
                </a:lnTo>
                <a:lnTo>
                  <a:pt x="5849145" y="544146"/>
                </a:lnTo>
                <a:cubicBezTo>
                  <a:pt x="5851532" y="536547"/>
                  <a:pt x="5853271" y="528850"/>
                  <a:pt x="5853708" y="520953"/>
                </a:cubicBezTo>
                <a:close/>
                <a:moveTo>
                  <a:pt x="5802605" y="268794"/>
                </a:moveTo>
                <a:cubicBezTo>
                  <a:pt x="5800080" y="279176"/>
                  <a:pt x="5798377" y="289296"/>
                  <a:pt x="5797729" y="299164"/>
                </a:cubicBezTo>
                <a:cubicBezTo>
                  <a:pt x="5797080" y="309031"/>
                  <a:pt x="5797485" y="318646"/>
                  <a:pt x="5799176" y="328017"/>
                </a:cubicBezTo>
                <a:close/>
                <a:moveTo>
                  <a:pt x="0" y="0"/>
                </a:moveTo>
                <a:lnTo>
                  <a:pt x="6120021" y="0"/>
                </a:lnTo>
                <a:lnTo>
                  <a:pt x="6115806" y="24480"/>
                </a:lnTo>
                <a:cubicBezTo>
                  <a:pt x="6113321" y="32636"/>
                  <a:pt x="6109559" y="40471"/>
                  <a:pt x="6103795" y="47806"/>
                </a:cubicBezTo>
                <a:cubicBezTo>
                  <a:pt x="6088935" y="66857"/>
                  <a:pt x="6092364" y="85336"/>
                  <a:pt x="6094651" y="105718"/>
                </a:cubicBezTo>
                <a:cubicBezTo>
                  <a:pt x="6096365" y="121150"/>
                  <a:pt x="6095794" y="136963"/>
                  <a:pt x="6095986" y="152584"/>
                </a:cubicBezTo>
                <a:cubicBezTo>
                  <a:pt x="6096555" y="180017"/>
                  <a:pt x="6096746" y="207450"/>
                  <a:pt x="6097699" y="234883"/>
                </a:cubicBezTo>
                <a:cubicBezTo>
                  <a:pt x="6098079" y="243648"/>
                  <a:pt x="6102844" y="252600"/>
                  <a:pt x="6102082" y="261173"/>
                </a:cubicBezTo>
                <a:cubicBezTo>
                  <a:pt x="6098461" y="300800"/>
                  <a:pt x="6092746" y="340425"/>
                  <a:pt x="6089507" y="380050"/>
                </a:cubicBezTo>
                <a:cubicBezTo>
                  <a:pt x="6087603" y="402529"/>
                  <a:pt x="6091220" y="425581"/>
                  <a:pt x="6088555" y="447870"/>
                </a:cubicBezTo>
                <a:cubicBezTo>
                  <a:pt x="6085507" y="473587"/>
                  <a:pt x="6077697" y="498733"/>
                  <a:pt x="6072932" y="524262"/>
                </a:cubicBezTo>
                <a:cubicBezTo>
                  <a:pt x="6071600" y="531310"/>
                  <a:pt x="6073315" y="539121"/>
                  <a:pt x="6073694" y="546552"/>
                </a:cubicBezTo>
                <a:cubicBezTo>
                  <a:pt x="6074076" y="554933"/>
                  <a:pt x="6074838" y="563125"/>
                  <a:pt x="6075029" y="571508"/>
                </a:cubicBezTo>
                <a:cubicBezTo>
                  <a:pt x="6075411" y="597037"/>
                  <a:pt x="6074838" y="622564"/>
                  <a:pt x="6076173" y="648092"/>
                </a:cubicBezTo>
                <a:cubicBezTo>
                  <a:pt x="6076934" y="663713"/>
                  <a:pt x="6084744" y="680096"/>
                  <a:pt x="6081886" y="694576"/>
                </a:cubicBezTo>
                <a:cubicBezTo>
                  <a:pt x="6076363" y="724104"/>
                  <a:pt x="6088745" y="753633"/>
                  <a:pt x="6078459" y="783158"/>
                </a:cubicBezTo>
                <a:cubicBezTo>
                  <a:pt x="6075411" y="792306"/>
                  <a:pt x="6083031" y="804877"/>
                  <a:pt x="6083411" y="815929"/>
                </a:cubicBezTo>
                <a:cubicBezTo>
                  <a:pt x="6084363" y="843552"/>
                  <a:pt x="6084173" y="871173"/>
                  <a:pt x="6083983" y="898797"/>
                </a:cubicBezTo>
                <a:cubicBezTo>
                  <a:pt x="6083793" y="923562"/>
                  <a:pt x="6086459" y="949281"/>
                  <a:pt x="6081125" y="973095"/>
                </a:cubicBezTo>
                <a:cubicBezTo>
                  <a:pt x="6075411" y="998052"/>
                  <a:pt x="6076173" y="1020529"/>
                  <a:pt x="6082649" y="1044725"/>
                </a:cubicBezTo>
                <a:cubicBezTo>
                  <a:pt x="6087031" y="1061298"/>
                  <a:pt x="6087603" y="1078826"/>
                  <a:pt x="6088935" y="1095972"/>
                </a:cubicBezTo>
                <a:cubicBezTo>
                  <a:pt x="6090459" y="1114449"/>
                  <a:pt x="6086459" y="1134834"/>
                  <a:pt x="6092746" y="1151600"/>
                </a:cubicBezTo>
                <a:cubicBezTo>
                  <a:pt x="6111415" y="1201512"/>
                  <a:pt x="6115415" y="1252757"/>
                  <a:pt x="6115415" y="1304955"/>
                </a:cubicBezTo>
                <a:cubicBezTo>
                  <a:pt x="6115415" y="1314483"/>
                  <a:pt x="6112750" y="1324198"/>
                  <a:pt x="6109892" y="1333341"/>
                </a:cubicBezTo>
                <a:cubicBezTo>
                  <a:pt x="6092746" y="1386684"/>
                  <a:pt x="6094269" y="1440216"/>
                  <a:pt x="6104748" y="1494509"/>
                </a:cubicBezTo>
                <a:cubicBezTo>
                  <a:pt x="6107034" y="1505751"/>
                  <a:pt x="6107415" y="1518324"/>
                  <a:pt x="6105130" y="1529563"/>
                </a:cubicBezTo>
                <a:cubicBezTo>
                  <a:pt x="6098461" y="1561189"/>
                  <a:pt x="6087411" y="1591859"/>
                  <a:pt x="6082649" y="1623675"/>
                </a:cubicBezTo>
                <a:cubicBezTo>
                  <a:pt x="6074838" y="1676253"/>
                  <a:pt x="6101126" y="1721785"/>
                  <a:pt x="6118274" y="1768838"/>
                </a:cubicBezTo>
                <a:cubicBezTo>
                  <a:pt x="6134467" y="1813610"/>
                  <a:pt x="6171044" y="1851709"/>
                  <a:pt x="6162851" y="1904673"/>
                </a:cubicBezTo>
                <a:cubicBezTo>
                  <a:pt x="6162090" y="1910004"/>
                  <a:pt x="6167233" y="1915912"/>
                  <a:pt x="6168567" y="1921817"/>
                </a:cubicBezTo>
                <a:cubicBezTo>
                  <a:pt x="6172188" y="1938009"/>
                  <a:pt x="6176566" y="1954202"/>
                  <a:pt x="6178283" y="1970586"/>
                </a:cubicBezTo>
                <a:cubicBezTo>
                  <a:pt x="6180570" y="1990589"/>
                  <a:pt x="6179809" y="2010974"/>
                  <a:pt x="6181713" y="2030977"/>
                </a:cubicBezTo>
                <a:cubicBezTo>
                  <a:pt x="6182856" y="2043835"/>
                  <a:pt x="6184951" y="2056600"/>
                  <a:pt x="6186761" y="2069340"/>
                </a:cubicBezTo>
                <a:lnTo>
                  <a:pt x="6187012" y="2072225"/>
                </a:lnTo>
                <a:lnTo>
                  <a:pt x="6187012" y="2131532"/>
                </a:lnTo>
                <a:lnTo>
                  <a:pt x="6186141" y="2138304"/>
                </a:lnTo>
                <a:cubicBezTo>
                  <a:pt x="6183950" y="2148519"/>
                  <a:pt x="6181332" y="2158712"/>
                  <a:pt x="6179617" y="2168903"/>
                </a:cubicBezTo>
                <a:cubicBezTo>
                  <a:pt x="6174854" y="2197670"/>
                  <a:pt x="6176188" y="2229296"/>
                  <a:pt x="6163995" y="2254633"/>
                </a:cubicBezTo>
                <a:cubicBezTo>
                  <a:pt x="6151041" y="2281683"/>
                  <a:pt x="6145135" y="2307402"/>
                  <a:pt x="6149135" y="2335405"/>
                </a:cubicBezTo>
                <a:cubicBezTo>
                  <a:pt x="6150469" y="2344741"/>
                  <a:pt x="6158471" y="2356744"/>
                  <a:pt x="6166661" y="2360933"/>
                </a:cubicBezTo>
                <a:cubicBezTo>
                  <a:pt x="6184950" y="2370270"/>
                  <a:pt x="6188190" y="2383032"/>
                  <a:pt x="6181902" y="2400369"/>
                </a:cubicBezTo>
                <a:cubicBezTo>
                  <a:pt x="6176566" y="2415420"/>
                  <a:pt x="6173901" y="2433897"/>
                  <a:pt x="6163613" y="2444184"/>
                </a:cubicBezTo>
                <a:cubicBezTo>
                  <a:pt x="6134467" y="2473333"/>
                  <a:pt x="6133515" y="2510483"/>
                  <a:pt x="6125705" y="2546678"/>
                </a:cubicBezTo>
                <a:cubicBezTo>
                  <a:pt x="6120940" y="2568774"/>
                  <a:pt x="6120750" y="2589352"/>
                  <a:pt x="6123988" y="2611450"/>
                </a:cubicBezTo>
                <a:cubicBezTo>
                  <a:pt x="6131227" y="2659455"/>
                  <a:pt x="6120940" y="2706131"/>
                  <a:pt x="6107796" y="2752235"/>
                </a:cubicBezTo>
                <a:cubicBezTo>
                  <a:pt x="6099034" y="2782716"/>
                  <a:pt x="6093699" y="2813958"/>
                  <a:pt x="6084744" y="2844248"/>
                </a:cubicBezTo>
                <a:cubicBezTo>
                  <a:pt x="6077886" y="2866918"/>
                  <a:pt x="6069694" y="2889587"/>
                  <a:pt x="6058646" y="2910353"/>
                </a:cubicBezTo>
                <a:cubicBezTo>
                  <a:pt x="6042452" y="2940455"/>
                  <a:pt x="6018067" y="2966742"/>
                  <a:pt x="6024544" y="3005035"/>
                </a:cubicBezTo>
                <a:cubicBezTo>
                  <a:pt x="6030260" y="3038756"/>
                  <a:pt x="6018259" y="3069235"/>
                  <a:pt x="6006828" y="3100099"/>
                </a:cubicBezTo>
                <a:cubicBezTo>
                  <a:pt x="5998446" y="3122770"/>
                  <a:pt x="5989871" y="3145436"/>
                  <a:pt x="5984537" y="3168870"/>
                </a:cubicBezTo>
                <a:cubicBezTo>
                  <a:pt x="5978251" y="3196686"/>
                  <a:pt x="5980920" y="3228119"/>
                  <a:pt x="5969297" y="3252885"/>
                </a:cubicBezTo>
                <a:cubicBezTo>
                  <a:pt x="5957105" y="3278795"/>
                  <a:pt x="5965297" y="3300319"/>
                  <a:pt x="5968726" y="3323372"/>
                </a:cubicBezTo>
                <a:cubicBezTo>
                  <a:pt x="5974061" y="3360139"/>
                  <a:pt x="5983967" y="3396719"/>
                  <a:pt x="5971395" y="3433866"/>
                </a:cubicBezTo>
                <a:cubicBezTo>
                  <a:pt x="5956153" y="3479015"/>
                  <a:pt x="5939769" y="3523785"/>
                  <a:pt x="5925292" y="3569124"/>
                </a:cubicBezTo>
                <a:cubicBezTo>
                  <a:pt x="5919765" y="3586653"/>
                  <a:pt x="5917479" y="3605509"/>
                  <a:pt x="5915003" y="3623799"/>
                </a:cubicBezTo>
                <a:cubicBezTo>
                  <a:pt x="5912906" y="3641134"/>
                  <a:pt x="5918242" y="3661899"/>
                  <a:pt x="5910241" y="3675238"/>
                </a:cubicBezTo>
                <a:cubicBezTo>
                  <a:pt x="5889667" y="3709529"/>
                  <a:pt x="5879569" y="3744770"/>
                  <a:pt x="5879569" y="3784397"/>
                </a:cubicBezTo>
                <a:cubicBezTo>
                  <a:pt x="5879569" y="3799258"/>
                  <a:pt x="5870996" y="3813737"/>
                  <a:pt x="5869471" y="3828785"/>
                </a:cubicBezTo>
                <a:cubicBezTo>
                  <a:pt x="5867567" y="3849362"/>
                  <a:pt x="5862423" y="3872985"/>
                  <a:pt x="5869664" y="3890891"/>
                </a:cubicBezTo>
                <a:cubicBezTo>
                  <a:pt x="5886809" y="3932993"/>
                  <a:pt x="5872519" y="3967091"/>
                  <a:pt x="5855566" y="4003861"/>
                </a:cubicBezTo>
                <a:cubicBezTo>
                  <a:pt x="5838801" y="4040058"/>
                  <a:pt x="5825466" y="4078159"/>
                  <a:pt x="5814416" y="4116641"/>
                </a:cubicBezTo>
                <a:cubicBezTo>
                  <a:pt x="5810415" y="4131119"/>
                  <a:pt x="5817085" y="4148453"/>
                  <a:pt x="5818417" y="4164458"/>
                </a:cubicBezTo>
                <a:cubicBezTo>
                  <a:pt x="5818798" y="4170174"/>
                  <a:pt x="5819370" y="4176461"/>
                  <a:pt x="5817466" y="4181603"/>
                </a:cubicBezTo>
                <a:cubicBezTo>
                  <a:pt x="5799176" y="4231324"/>
                  <a:pt x="5785269" y="4281810"/>
                  <a:pt x="5794794" y="4335722"/>
                </a:cubicBezTo>
                <a:cubicBezTo>
                  <a:pt x="5795747" y="4340674"/>
                  <a:pt x="5793650" y="4346201"/>
                  <a:pt x="5792317" y="4351154"/>
                </a:cubicBezTo>
                <a:cubicBezTo>
                  <a:pt x="5785461" y="4375349"/>
                  <a:pt x="5774601" y="4398972"/>
                  <a:pt x="5772124" y="4423545"/>
                </a:cubicBezTo>
                <a:cubicBezTo>
                  <a:pt x="5766028" y="4484127"/>
                  <a:pt x="5763550" y="4545086"/>
                  <a:pt x="5759550" y="4606053"/>
                </a:cubicBezTo>
                <a:cubicBezTo>
                  <a:pt x="5759361" y="4609863"/>
                  <a:pt x="5759361" y="4613864"/>
                  <a:pt x="5758027" y="4617291"/>
                </a:cubicBezTo>
                <a:cubicBezTo>
                  <a:pt x="5749834" y="4639772"/>
                  <a:pt x="5752502" y="4659393"/>
                  <a:pt x="5768123" y="4678445"/>
                </a:cubicBezTo>
                <a:cubicBezTo>
                  <a:pt x="5774982" y="4686828"/>
                  <a:pt x="5778601" y="4698258"/>
                  <a:pt x="5782412" y="4708734"/>
                </a:cubicBezTo>
                <a:cubicBezTo>
                  <a:pt x="5788127" y="4724167"/>
                  <a:pt x="5793650" y="4739978"/>
                  <a:pt x="5797271" y="4755980"/>
                </a:cubicBezTo>
                <a:cubicBezTo>
                  <a:pt x="5800700" y="4771793"/>
                  <a:pt x="5805462" y="4788747"/>
                  <a:pt x="5802796" y="4803988"/>
                </a:cubicBezTo>
                <a:cubicBezTo>
                  <a:pt x="5798035" y="4831420"/>
                  <a:pt x="5787366" y="4857522"/>
                  <a:pt x="5780315" y="4884572"/>
                </a:cubicBezTo>
                <a:cubicBezTo>
                  <a:pt x="5777837" y="4893907"/>
                  <a:pt x="5778221" y="4904195"/>
                  <a:pt x="5778030" y="4913909"/>
                </a:cubicBezTo>
                <a:cubicBezTo>
                  <a:pt x="5777459" y="4936201"/>
                  <a:pt x="5782984" y="4959061"/>
                  <a:pt x="5767171" y="4979253"/>
                </a:cubicBezTo>
                <a:cubicBezTo>
                  <a:pt x="5752311" y="4997922"/>
                  <a:pt x="5756692" y="5016785"/>
                  <a:pt x="5767932" y="5036405"/>
                </a:cubicBezTo>
                <a:cubicBezTo>
                  <a:pt x="5775934" y="5050504"/>
                  <a:pt x="5782221" y="5066505"/>
                  <a:pt x="5785269" y="5082317"/>
                </a:cubicBezTo>
                <a:cubicBezTo>
                  <a:pt x="5789460" y="5104036"/>
                  <a:pt x="5791175" y="5125562"/>
                  <a:pt x="5788697" y="5148995"/>
                </a:cubicBezTo>
                <a:cubicBezTo>
                  <a:pt x="5786983" y="5165570"/>
                  <a:pt x="5786221" y="5179097"/>
                  <a:pt x="5776125" y="5192051"/>
                </a:cubicBezTo>
                <a:cubicBezTo>
                  <a:pt x="5774601" y="5194145"/>
                  <a:pt x="5774219" y="5197955"/>
                  <a:pt x="5774412" y="5200813"/>
                </a:cubicBezTo>
                <a:cubicBezTo>
                  <a:pt x="5777649" y="5238343"/>
                  <a:pt x="5775934" y="5275491"/>
                  <a:pt x="5773646" y="5313403"/>
                </a:cubicBezTo>
                <a:cubicBezTo>
                  <a:pt x="5770601" y="5361598"/>
                  <a:pt x="5779553" y="5412276"/>
                  <a:pt x="5811559" y="5453995"/>
                </a:cubicBezTo>
                <a:cubicBezTo>
                  <a:pt x="5816322" y="5460092"/>
                  <a:pt x="5818417" y="5469236"/>
                  <a:pt x="5819562" y="5477239"/>
                </a:cubicBezTo>
                <a:cubicBezTo>
                  <a:pt x="5824514" y="5514957"/>
                  <a:pt x="5827942" y="5552869"/>
                  <a:pt x="5833467" y="5590590"/>
                </a:cubicBezTo>
                <a:cubicBezTo>
                  <a:pt x="5836516" y="5611164"/>
                  <a:pt x="5839182" y="5632691"/>
                  <a:pt x="5847565" y="5651360"/>
                </a:cubicBezTo>
                <a:cubicBezTo>
                  <a:pt x="5855756" y="5669647"/>
                  <a:pt x="5865471" y="5684320"/>
                  <a:pt x="5848327" y="5695178"/>
                </a:cubicBezTo>
                <a:cubicBezTo>
                  <a:pt x="5857471" y="5714607"/>
                  <a:pt x="5865092" y="5731564"/>
                  <a:pt x="5873282" y="5748136"/>
                </a:cubicBezTo>
                <a:cubicBezTo>
                  <a:pt x="5876329" y="5754234"/>
                  <a:pt x="5881284" y="5759378"/>
                  <a:pt x="5884142" y="5765474"/>
                </a:cubicBezTo>
                <a:cubicBezTo>
                  <a:pt x="5887190" y="5771953"/>
                  <a:pt x="5889094" y="5779191"/>
                  <a:pt x="5890620" y="5786239"/>
                </a:cubicBezTo>
                <a:cubicBezTo>
                  <a:pt x="5897477" y="5817674"/>
                  <a:pt x="5903763" y="5849107"/>
                  <a:pt x="5911194" y="5880348"/>
                </a:cubicBezTo>
                <a:cubicBezTo>
                  <a:pt x="5912717" y="5886447"/>
                  <a:pt x="5918813" y="5891590"/>
                  <a:pt x="5922813" y="5897114"/>
                </a:cubicBezTo>
                <a:cubicBezTo>
                  <a:pt x="5925481" y="5900735"/>
                  <a:pt x="5929482" y="5904353"/>
                  <a:pt x="5930054" y="5908355"/>
                </a:cubicBezTo>
                <a:cubicBezTo>
                  <a:pt x="5934626" y="5938836"/>
                  <a:pt x="5939961" y="5969124"/>
                  <a:pt x="5942246" y="5999796"/>
                </a:cubicBezTo>
                <a:cubicBezTo>
                  <a:pt x="5944149" y="6025515"/>
                  <a:pt x="5943580" y="6050282"/>
                  <a:pt x="5976728" y="6056948"/>
                </a:cubicBezTo>
                <a:cubicBezTo>
                  <a:pt x="5982443" y="6058092"/>
                  <a:pt x="5988540" y="6066284"/>
                  <a:pt x="5991396" y="6072569"/>
                </a:cubicBezTo>
                <a:cubicBezTo>
                  <a:pt x="5999589" y="6090477"/>
                  <a:pt x="6005113" y="6109530"/>
                  <a:pt x="6013494" y="6127247"/>
                </a:cubicBezTo>
                <a:cubicBezTo>
                  <a:pt x="6041500" y="6185351"/>
                  <a:pt x="6059217" y="6246121"/>
                  <a:pt x="6055978" y="6311084"/>
                </a:cubicBezTo>
                <a:cubicBezTo>
                  <a:pt x="6055026" y="6331277"/>
                  <a:pt x="6044737" y="6350899"/>
                  <a:pt x="6040926" y="6363664"/>
                </a:cubicBezTo>
                <a:cubicBezTo>
                  <a:pt x="6055978" y="6400429"/>
                  <a:pt x="6070456" y="6431292"/>
                  <a:pt x="6081315" y="6463490"/>
                </a:cubicBezTo>
                <a:cubicBezTo>
                  <a:pt x="6091031" y="6491874"/>
                  <a:pt x="6097127" y="6521593"/>
                  <a:pt x="6104175" y="6550742"/>
                </a:cubicBezTo>
                <a:cubicBezTo>
                  <a:pt x="6106844" y="6561411"/>
                  <a:pt x="6108367" y="6572269"/>
                  <a:pt x="6109702" y="6583128"/>
                </a:cubicBezTo>
                <a:cubicBezTo>
                  <a:pt x="6113892" y="6617036"/>
                  <a:pt x="6103795" y="6652472"/>
                  <a:pt x="6119798" y="6685617"/>
                </a:cubicBezTo>
                <a:cubicBezTo>
                  <a:pt x="6128180" y="6702955"/>
                  <a:pt x="6138276" y="6720103"/>
                  <a:pt x="6142658" y="6738388"/>
                </a:cubicBezTo>
                <a:cubicBezTo>
                  <a:pt x="6147421" y="6758011"/>
                  <a:pt x="6154851" y="6777207"/>
                  <a:pt x="6160162" y="6796804"/>
                </a:cubicBezTo>
                <a:lnTo>
                  <a:pt x="6164933" y="6857457"/>
                </a:lnTo>
                <a:lnTo>
                  <a:pt x="6037694" y="6857457"/>
                </a:lnTo>
                <a:lnTo>
                  <a:pt x="6037694" y="6857998"/>
                </a:lnTo>
                <a:lnTo>
                  <a:pt x="0" y="6857998"/>
                </a:lnTo>
                <a:close/>
              </a:path>
            </a:pathLst>
          </a:custGeom>
          <a:effectLst>
            <a:outerShdw blurRad="381000" dist="152400" algn="tl" rotWithShape="0">
              <a:prstClr val="black">
                <a:alpha val="10000"/>
              </a:prstClr>
            </a:outerShdw>
          </a:effectLst>
        </p:spPr>
      </p:pic>
      <p:grpSp>
        <p:nvGrpSpPr>
          <p:cNvPr id="17" name="Group 16">
            <a:extLst>
              <a:ext uri="{FF2B5EF4-FFF2-40B4-BE49-F238E27FC236}">
                <a16:creationId xmlns:a16="http://schemas.microsoft.com/office/drawing/2014/main" id="{E6517BAC-C80F-4065-90D8-703493E0B3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5395368" y="0"/>
            <a:ext cx="874718" cy="6857455"/>
            <a:chOff x="5395368" y="0"/>
            <a:chExt cx="874718" cy="6857455"/>
          </a:xfrm>
        </p:grpSpPr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984DCDA5-A261-4103-B44C-068DCEA0339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2404000" y="2991370"/>
              <a:ext cx="6857455" cy="874716"/>
            </a:xfrm>
            <a:custGeom>
              <a:avLst/>
              <a:gdLst>
                <a:gd name="connsiteX0" fmla="*/ 6857455 w 6857455"/>
                <a:gd name="connsiteY0" fmla="*/ 804643 h 874716"/>
                <a:gd name="connsiteX1" fmla="*/ 6857455 w 6857455"/>
                <a:gd name="connsiteY1" fmla="*/ 562246 h 874716"/>
                <a:gd name="connsiteX2" fmla="*/ 6829178 w 6857455"/>
                <a:gd name="connsiteY2" fmla="*/ 551284 h 874716"/>
                <a:gd name="connsiteX3" fmla="*/ 6766024 w 6857455"/>
                <a:gd name="connsiteY3" fmla="*/ 500372 h 874716"/>
                <a:gd name="connsiteX4" fmla="*/ 6734971 w 6857455"/>
                <a:gd name="connsiteY4" fmla="*/ 500944 h 874716"/>
                <a:gd name="connsiteX5" fmla="*/ 6683915 w 6857455"/>
                <a:gd name="connsiteY5" fmla="*/ 507040 h 874716"/>
                <a:gd name="connsiteX6" fmla="*/ 6628860 w 6857455"/>
                <a:gd name="connsiteY6" fmla="*/ 495418 h 874716"/>
                <a:gd name="connsiteX7" fmla="*/ 6588662 w 6857455"/>
                <a:gd name="connsiteY7" fmla="*/ 487227 h 874716"/>
                <a:gd name="connsiteX8" fmla="*/ 6476074 w 6857455"/>
                <a:gd name="connsiteY8" fmla="*/ 511230 h 874716"/>
                <a:gd name="connsiteX9" fmla="*/ 6382345 w 6857455"/>
                <a:gd name="connsiteY9" fmla="*/ 534853 h 874716"/>
                <a:gd name="connsiteX10" fmla="*/ 6369391 w 6857455"/>
                <a:gd name="connsiteY10" fmla="*/ 531615 h 874716"/>
                <a:gd name="connsiteX11" fmla="*/ 6244799 w 6857455"/>
                <a:gd name="connsiteY11" fmla="*/ 512182 h 874716"/>
                <a:gd name="connsiteX12" fmla="*/ 6190315 w 6857455"/>
                <a:gd name="connsiteY12" fmla="*/ 485703 h 874716"/>
                <a:gd name="connsiteX13" fmla="*/ 6115446 w 6857455"/>
                <a:gd name="connsiteY13" fmla="*/ 462270 h 874716"/>
                <a:gd name="connsiteX14" fmla="*/ 6032194 w 6857455"/>
                <a:gd name="connsiteY14" fmla="*/ 434266 h 874716"/>
                <a:gd name="connsiteX15" fmla="*/ 5971042 w 6857455"/>
                <a:gd name="connsiteY15" fmla="*/ 420738 h 874716"/>
                <a:gd name="connsiteX16" fmla="*/ 5880933 w 6857455"/>
                <a:gd name="connsiteY16" fmla="*/ 430646 h 874716"/>
                <a:gd name="connsiteX17" fmla="*/ 5862452 w 6857455"/>
                <a:gd name="connsiteY17" fmla="*/ 438648 h 874716"/>
                <a:gd name="connsiteX18" fmla="*/ 5685283 w 6857455"/>
                <a:gd name="connsiteY18" fmla="*/ 498658 h 874716"/>
                <a:gd name="connsiteX19" fmla="*/ 5567169 w 6857455"/>
                <a:gd name="connsiteY19" fmla="*/ 499420 h 874716"/>
                <a:gd name="connsiteX20" fmla="*/ 5527923 w 6857455"/>
                <a:gd name="connsiteY20" fmla="*/ 490466 h 874716"/>
                <a:gd name="connsiteX21" fmla="*/ 5456292 w 6857455"/>
                <a:gd name="connsiteY21" fmla="*/ 450650 h 874716"/>
                <a:gd name="connsiteX22" fmla="*/ 5424670 w 6857455"/>
                <a:gd name="connsiteY22" fmla="*/ 444934 h 874716"/>
                <a:gd name="connsiteX23" fmla="*/ 5368662 w 6857455"/>
                <a:gd name="connsiteY23" fmla="*/ 441124 h 874716"/>
                <a:gd name="connsiteX24" fmla="*/ 5247118 w 6857455"/>
                <a:gd name="connsiteY24" fmla="*/ 444934 h 874716"/>
                <a:gd name="connsiteX25" fmla="*/ 5088617 w 6857455"/>
                <a:gd name="connsiteY25" fmla="*/ 428742 h 874716"/>
                <a:gd name="connsiteX26" fmla="*/ 5025750 w 6857455"/>
                <a:gd name="connsiteY26" fmla="*/ 433694 h 874716"/>
                <a:gd name="connsiteX27" fmla="*/ 4957930 w 6857455"/>
                <a:gd name="connsiteY27" fmla="*/ 442268 h 874716"/>
                <a:gd name="connsiteX28" fmla="*/ 4938116 w 6857455"/>
                <a:gd name="connsiteY28" fmla="*/ 441886 h 874716"/>
                <a:gd name="connsiteX29" fmla="*/ 4833910 w 6857455"/>
                <a:gd name="connsiteY29" fmla="*/ 421693 h 874716"/>
                <a:gd name="connsiteX30" fmla="*/ 4810095 w 6857455"/>
                <a:gd name="connsiteY30" fmla="*/ 408167 h 874716"/>
                <a:gd name="connsiteX31" fmla="*/ 4747991 w 6857455"/>
                <a:gd name="connsiteY31" fmla="*/ 413691 h 874716"/>
                <a:gd name="connsiteX32" fmla="*/ 4692745 w 6857455"/>
                <a:gd name="connsiteY32" fmla="*/ 435790 h 874716"/>
                <a:gd name="connsiteX33" fmla="*/ 4375933 w 6857455"/>
                <a:gd name="connsiteY33" fmla="*/ 483417 h 874716"/>
                <a:gd name="connsiteX34" fmla="*/ 4185426 w 6857455"/>
                <a:gd name="connsiteY34" fmla="*/ 484179 h 874716"/>
                <a:gd name="connsiteX35" fmla="*/ 4052072 w 6857455"/>
                <a:gd name="connsiteY35" fmla="*/ 505134 h 874716"/>
                <a:gd name="connsiteX36" fmla="*/ 4029973 w 6857455"/>
                <a:gd name="connsiteY36" fmla="*/ 527233 h 874716"/>
                <a:gd name="connsiteX37" fmla="*/ 3948626 w 6857455"/>
                <a:gd name="connsiteY37" fmla="*/ 550666 h 874716"/>
                <a:gd name="connsiteX38" fmla="*/ 3871280 w 6857455"/>
                <a:gd name="connsiteY38" fmla="*/ 502275 h 874716"/>
                <a:gd name="connsiteX39" fmla="*/ 3774312 w 6857455"/>
                <a:gd name="connsiteY39" fmla="*/ 429122 h 874716"/>
                <a:gd name="connsiteX40" fmla="*/ 3721543 w 6857455"/>
                <a:gd name="connsiteY40" fmla="*/ 428552 h 874716"/>
                <a:gd name="connsiteX41" fmla="*/ 3612763 w 6857455"/>
                <a:gd name="connsiteY41" fmla="*/ 414263 h 874716"/>
                <a:gd name="connsiteX42" fmla="*/ 3537323 w 6857455"/>
                <a:gd name="connsiteY42" fmla="*/ 389878 h 874716"/>
                <a:gd name="connsiteX43" fmla="*/ 3431593 w 6857455"/>
                <a:gd name="connsiteY43" fmla="*/ 360921 h 874716"/>
                <a:gd name="connsiteX44" fmla="*/ 3392158 w 6857455"/>
                <a:gd name="connsiteY44" fmla="*/ 345681 h 874716"/>
                <a:gd name="connsiteX45" fmla="*/ 3297856 w 6857455"/>
                <a:gd name="connsiteY45" fmla="*/ 323010 h 874716"/>
                <a:gd name="connsiteX46" fmla="*/ 3219748 w 6857455"/>
                <a:gd name="connsiteY46" fmla="*/ 308151 h 874716"/>
                <a:gd name="connsiteX47" fmla="*/ 3156692 w 6857455"/>
                <a:gd name="connsiteY47" fmla="*/ 261668 h 874716"/>
                <a:gd name="connsiteX48" fmla="*/ 3136497 w 6857455"/>
                <a:gd name="connsiteY48" fmla="*/ 237663 h 874716"/>
                <a:gd name="connsiteX49" fmla="*/ 3119733 w 6857455"/>
                <a:gd name="connsiteY49" fmla="*/ 222233 h 874716"/>
                <a:gd name="connsiteX50" fmla="*/ 3045436 w 6857455"/>
                <a:gd name="connsiteY50" fmla="*/ 131742 h 874716"/>
                <a:gd name="connsiteX51" fmla="*/ 3037054 w 6857455"/>
                <a:gd name="connsiteY51" fmla="*/ 124121 h 874716"/>
                <a:gd name="connsiteX52" fmla="*/ 2936466 w 6857455"/>
                <a:gd name="connsiteY52" fmla="*/ 82400 h 874716"/>
                <a:gd name="connsiteX53" fmla="*/ 2901031 w 6857455"/>
                <a:gd name="connsiteY53" fmla="*/ 59731 h 874716"/>
                <a:gd name="connsiteX54" fmla="*/ 2828259 w 6857455"/>
                <a:gd name="connsiteY54" fmla="*/ 3149 h 874716"/>
                <a:gd name="connsiteX55" fmla="*/ 2799492 w 6857455"/>
                <a:gd name="connsiteY55" fmla="*/ 1245 h 874716"/>
                <a:gd name="connsiteX56" fmla="*/ 2693570 w 6857455"/>
                <a:gd name="connsiteY56" fmla="*/ 35154 h 874716"/>
                <a:gd name="connsiteX57" fmla="*/ 2639847 w 6857455"/>
                <a:gd name="connsiteY57" fmla="*/ 73448 h 874716"/>
                <a:gd name="connsiteX58" fmla="*/ 2621178 w 6857455"/>
                <a:gd name="connsiteY58" fmla="*/ 88688 h 874716"/>
                <a:gd name="connsiteX59" fmla="*/ 2489348 w 6857455"/>
                <a:gd name="connsiteY59" fmla="*/ 72304 h 874716"/>
                <a:gd name="connsiteX60" fmla="*/ 2452580 w 6857455"/>
                <a:gd name="connsiteY60" fmla="*/ 68683 h 874716"/>
                <a:gd name="connsiteX61" fmla="*/ 2326464 w 6857455"/>
                <a:gd name="connsiteY61" fmla="*/ 50395 h 874716"/>
                <a:gd name="connsiteX62" fmla="*/ 2300365 w 6857455"/>
                <a:gd name="connsiteY62" fmla="*/ 54777 h 874716"/>
                <a:gd name="connsiteX63" fmla="*/ 2130434 w 6857455"/>
                <a:gd name="connsiteY63" fmla="*/ 58397 h 874716"/>
                <a:gd name="connsiteX64" fmla="*/ 2118621 w 6857455"/>
                <a:gd name="connsiteY64" fmla="*/ 47919 h 874716"/>
                <a:gd name="connsiteX65" fmla="*/ 2057659 w 6857455"/>
                <a:gd name="connsiteY65" fmla="*/ 16866 h 874716"/>
                <a:gd name="connsiteX66" fmla="*/ 1976314 w 6857455"/>
                <a:gd name="connsiteY66" fmla="*/ 8865 h 874716"/>
                <a:gd name="connsiteX67" fmla="*/ 1961454 w 6857455"/>
                <a:gd name="connsiteY67" fmla="*/ 11724 h 874716"/>
                <a:gd name="connsiteX68" fmla="*/ 1906588 w 6857455"/>
                <a:gd name="connsiteY68" fmla="*/ 30964 h 874716"/>
                <a:gd name="connsiteX69" fmla="*/ 1783330 w 6857455"/>
                <a:gd name="connsiteY69" fmla="*/ 48871 h 874716"/>
                <a:gd name="connsiteX70" fmla="*/ 1759327 w 6857455"/>
                <a:gd name="connsiteY70" fmla="*/ 55349 h 874716"/>
                <a:gd name="connsiteX71" fmla="*/ 1716082 w 6857455"/>
                <a:gd name="connsiteY71" fmla="*/ 65445 h 874716"/>
                <a:gd name="connsiteX72" fmla="*/ 1598920 w 6857455"/>
                <a:gd name="connsiteY72" fmla="*/ 72114 h 874716"/>
                <a:gd name="connsiteX73" fmla="*/ 1542150 w 6857455"/>
                <a:gd name="connsiteY73" fmla="*/ 62207 h 874716"/>
                <a:gd name="connsiteX74" fmla="*/ 1516813 w 6857455"/>
                <a:gd name="connsiteY74" fmla="*/ 62779 h 874716"/>
                <a:gd name="connsiteX75" fmla="*/ 1432228 w 6857455"/>
                <a:gd name="connsiteY75" fmla="*/ 88116 h 874716"/>
                <a:gd name="connsiteX76" fmla="*/ 1224765 w 6857455"/>
                <a:gd name="connsiteY76" fmla="*/ 71924 h 874716"/>
                <a:gd name="connsiteX77" fmla="*/ 1159231 w 6857455"/>
                <a:gd name="connsiteY77" fmla="*/ 58207 h 874716"/>
                <a:gd name="connsiteX78" fmla="*/ 1124370 w 6857455"/>
                <a:gd name="connsiteY78" fmla="*/ 56301 h 874716"/>
                <a:gd name="connsiteX79" fmla="*/ 1075600 w 6857455"/>
                <a:gd name="connsiteY79" fmla="*/ 75542 h 874716"/>
                <a:gd name="connsiteX80" fmla="*/ 986633 w 6857455"/>
                <a:gd name="connsiteY80" fmla="*/ 79162 h 874716"/>
                <a:gd name="connsiteX81" fmla="*/ 861089 w 6857455"/>
                <a:gd name="connsiteY81" fmla="*/ 76304 h 874716"/>
                <a:gd name="connsiteX82" fmla="*/ 759168 w 6857455"/>
                <a:gd name="connsiteY82" fmla="*/ 104689 h 874716"/>
                <a:gd name="connsiteX83" fmla="*/ 723735 w 6857455"/>
                <a:gd name="connsiteY83" fmla="*/ 140696 h 874716"/>
                <a:gd name="connsiteX84" fmla="*/ 647532 w 6857455"/>
                <a:gd name="connsiteY84" fmla="*/ 147934 h 874716"/>
                <a:gd name="connsiteX85" fmla="*/ 552659 w 6857455"/>
                <a:gd name="connsiteY85" fmla="*/ 95926 h 874716"/>
                <a:gd name="connsiteX86" fmla="*/ 541800 w 6857455"/>
                <a:gd name="connsiteY86" fmla="*/ 97640 h 874716"/>
                <a:gd name="connsiteX87" fmla="*/ 375107 w 6857455"/>
                <a:gd name="connsiteY87" fmla="*/ 123169 h 874716"/>
                <a:gd name="connsiteX88" fmla="*/ 273567 w 6857455"/>
                <a:gd name="connsiteY88" fmla="*/ 145458 h 874716"/>
                <a:gd name="connsiteX89" fmla="*/ 264043 w 6857455"/>
                <a:gd name="connsiteY89" fmla="*/ 154792 h 874716"/>
                <a:gd name="connsiteX90" fmla="*/ 169360 w 6857455"/>
                <a:gd name="connsiteY90" fmla="*/ 177273 h 874716"/>
                <a:gd name="connsiteX91" fmla="*/ 89347 w 6857455"/>
                <a:gd name="connsiteY91" fmla="*/ 157460 h 874716"/>
                <a:gd name="connsiteX92" fmla="*/ 34291 w 6857455"/>
                <a:gd name="connsiteY92" fmla="*/ 145268 h 874716"/>
                <a:gd name="connsiteX93" fmla="*/ 0 w 6857455"/>
                <a:gd name="connsiteY93" fmla="*/ 142056 h 874716"/>
                <a:gd name="connsiteX94" fmla="*/ 0 w 6857455"/>
                <a:gd name="connsiteY94" fmla="*/ 849556 h 874716"/>
                <a:gd name="connsiteX95" fmla="*/ 60652 w 6857455"/>
                <a:gd name="connsiteY95" fmla="*/ 844783 h 874716"/>
                <a:gd name="connsiteX96" fmla="*/ 119068 w 6857455"/>
                <a:gd name="connsiteY96" fmla="*/ 827281 h 874716"/>
                <a:gd name="connsiteX97" fmla="*/ 171840 w 6857455"/>
                <a:gd name="connsiteY97" fmla="*/ 804420 h 874716"/>
                <a:gd name="connsiteX98" fmla="*/ 274329 w 6857455"/>
                <a:gd name="connsiteY98" fmla="*/ 794324 h 874716"/>
                <a:gd name="connsiteX99" fmla="*/ 306715 w 6857455"/>
                <a:gd name="connsiteY99" fmla="*/ 788798 h 874716"/>
                <a:gd name="connsiteX100" fmla="*/ 393967 w 6857455"/>
                <a:gd name="connsiteY100" fmla="*/ 765937 h 874716"/>
                <a:gd name="connsiteX101" fmla="*/ 493793 w 6857455"/>
                <a:gd name="connsiteY101" fmla="*/ 725549 h 874716"/>
                <a:gd name="connsiteX102" fmla="*/ 546373 w 6857455"/>
                <a:gd name="connsiteY102" fmla="*/ 740600 h 874716"/>
                <a:gd name="connsiteX103" fmla="*/ 730211 w 6857455"/>
                <a:gd name="connsiteY103" fmla="*/ 698116 h 874716"/>
                <a:gd name="connsiteX104" fmla="*/ 784889 w 6857455"/>
                <a:gd name="connsiteY104" fmla="*/ 676018 h 874716"/>
                <a:gd name="connsiteX105" fmla="*/ 800509 w 6857455"/>
                <a:gd name="connsiteY105" fmla="*/ 661349 h 874716"/>
                <a:gd name="connsiteX106" fmla="*/ 857661 w 6857455"/>
                <a:gd name="connsiteY106" fmla="*/ 626868 h 874716"/>
                <a:gd name="connsiteX107" fmla="*/ 949102 w 6857455"/>
                <a:gd name="connsiteY107" fmla="*/ 614676 h 874716"/>
                <a:gd name="connsiteX108" fmla="*/ 960342 w 6857455"/>
                <a:gd name="connsiteY108" fmla="*/ 607435 h 874716"/>
                <a:gd name="connsiteX109" fmla="*/ 977109 w 6857455"/>
                <a:gd name="connsiteY109" fmla="*/ 595815 h 874716"/>
                <a:gd name="connsiteX110" fmla="*/ 1071218 w 6857455"/>
                <a:gd name="connsiteY110" fmla="*/ 575240 h 874716"/>
                <a:gd name="connsiteX111" fmla="*/ 1091983 w 6857455"/>
                <a:gd name="connsiteY111" fmla="*/ 568764 h 874716"/>
                <a:gd name="connsiteX112" fmla="*/ 1109321 w 6857455"/>
                <a:gd name="connsiteY112" fmla="*/ 557904 h 874716"/>
                <a:gd name="connsiteX113" fmla="*/ 1162279 w 6857455"/>
                <a:gd name="connsiteY113" fmla="*/ 532949 h 874716"/>
                <a:gd name="connsiteX114" fmla="*/ 1206097 w 6857455"/>
                <a:gd name="connsiteY114" fmla="*/ 532187 h 874716"/>
                <a:gd name="connsiteX115" fmla="*/ 1266867 w 6857455"/>
                <a:gd name="connsiteY115" fmla="*/ 518088 h 874716"/>
                <a:gd name="connsiteX116" fmla="*/ 1380219 w 6857455"/>
                <a:gd name="connsiteY116" fmla="*/ 504182 h 874716"/>
                <a:gd name="connsiteX117" fmla="*/ 1403461 w 6857455"/>
                <a:gd name="connsiteY117" fmla="*/ 496180 h 874716"/>
                <a:gd name="connsiteX118" fmla="*/ 1544054 w 6857455"/>
                <a:gd name="connsiteY118" fmla="*/ 458268 h 874716"/>
                <a:gd name="connsiteX119" fmla="*/ 1656644 w 6857455"/>
                <a:gd name="connsiteY119" fmla="*/ 459032 h 874716"/>
                <a:gd name="connsiteX120" fmla="*/ 1665406 w 6857455"/>
                <a:gd name="connsiteY120" fmla="*/ 460747 h 874716"/>
                <a:gd name="connsiteX121" fmla="*/ 1708461 w 6857455"/>
                <a:gd name="connsiteY121" fmla="*/ 473318 h 874716"/>
                <a:gd name="connsiteX122" fmla="*/ 1775140 w 6857455"/>
                <a:gd name="connsiteY122" fmla="*/ 469891 h 874716"/>
                <a:gd name="connsiteX123" fmla="*/ 1821051 w 6857455"/>
                <a:gd name="connsiteY123" fmla="*/ 452554 h 874716"/>
                <a:gd name="connsiteX124" fmla="*/ 1878203 w 6857455"/>
                <a:gd name="connsiteY124" fmla="*/ 451792 h 874716"/>
                <a:gd name="connsiteX125" fmla="*/ 1943547 w 6857455"/>
                <a:gd name="connsiteY125" fmla="*/ 462651 h 874716"/>
                <a:gd name="connsiteX126" fmla="*/ 1972884 w 6857455"/>
                <a:gd name="connsiteY126" fmla="*/ 464937 h 874716"/>
                <a:gd name="connsiteX127" fmla="*/ 2053469 w 6857455"/>
                <a:gd name="connsiteY127" fmla="*/ 487417 h 874716"/>
                <a:gd name="connsiteX128" fmla="*/ 2101477 w 6857455"/>
                <a:gd name="connsiteY128" fmla="*/ 481893 h 874716"/>
                <a:gd name="connsiteX129" fmla="*/ 2148722 w 6857455"/>
                <a:gd name="connsiteY129" fmla="*/ 467033 h 874716"/>
                <a:gd name="connsiteX130" fmla="*/ 2179011 w 6857455"/>
                <a:gd name="connsiteY130" fmla="*/ 452744 h 874716"/>
                <a:gd name="connsiteX131" fmla="*/ 2240165 w 6857455"/>
                <a:gd name="connsiteY131" fmla="*/ 442648 h 874716"/>
                <a:gd name="connsiteX132" fmla="*/ 2251404 w 6857455"/>
                <a:gd name="connsiteY132" fmla="*/ 444172 h 874716"/>
                <a:gd name="connsiteX133" fmla="*/ 2433912 w 6857455"/>
                <a:gd name="connsiteY133" fmla="*/ 456746 h 874716"/>
                <a:gd name="connsiteX134" fmla="*/ 2506302 w 6857455"/>
                <a:gd name="connsiteY134" fmla="*/ 476939 h 874716"/>
                <a:gd name="connsiteX135" fmla="*/ 2521735 w 6857455"/>
                <a:gd name="connsiteY135" fmla="*/ 479415 h 874716"/>
                <a:gd name="connsiteX136" fmla="*/ 2675854 w 6857455"/>
                <a:gd name="connsiteY136" fmla="*/ 502086 h 874716"/>
                <a:gd name="connsiteX137" fmla="*/ 2692998 w 6857455"/>
                <a:gd name="connsiteY137" fmla="*/ 503038 h 874716"/>
                <a:gd name="connsiteX138" fmla="*/ 2740816 w 6857455"/>
                <a:gd name="connsiteY138" fmla="*/ 499037 h 874716"/>
                <a:gd name="connsiteX139" fmla="*/ 2853596 w 6857455"/>
                <a:gd name="connsiteY139" fmla="*/ 540187 h 874716"/>
                <a:gd name="connsiteX140" fmla="*/ 2966565 w 6857455"/>
                <a:gd name="connsiteY140" fmla="*/ 554286 h 874716"/>
                <a:gd name="connsiteX141" fmla="*/ 3028671 w 6857455"/>
                <a:gd name="connsiteY141" fmla="*/ 554094 h 874716"/>
                <a:gd name="connsiteX142" fmla="*/ 3073059 w 6857455"/>
                <a:gd name="connsiteY142" fmla="*/ 564192 h 874716"/>
                <a:gd name="connsiteX143" fmla="*/ 3182219 w 6857455"/>
                <a:gd name="connsiteY143" fmla="*/ 594862 h 874716"/>
                <a:gd name="connsiteX144" fmla="*/ 3233656 w 6857455"/>
                <a:gd name="connsiteY144" fmla="*/ 599625 h 874716"/>
                <a:gd name="connsiteX145" fmla="*/ 3288332 w 6857455"/>
                <a:gd name="connsiteY145" fmla="*/ 609914 h 874716"/>
                <a:gd name="connsiteX146" fmla="*/ 3423591 w 6857455"/>
                <a:gd name="connsiteY146" fmla="*/ 656015 h 874716"/>
                <a:gd name="connsiteX147" fmla="*/ 3534084 w 6857455"/>
                <a:gd name="connsiteY147" fmla="*/ 653349 h 874716"/>
                <a:gd name="connsiteX148" fmla="*/ 3604571 w 6857455"/>
                <a:gd name="connsiteY148" fmla="*/ 653918 h 874716"/>
                <a:gd name="connsiteX149" fmla="*/ 3688586 w 6857455"/>
                <a:gd name="connsiteY149" fmla="*/ 669160 h 874716"/>
                <a:gd name="connsiteX150" fmla="*/ 3757358 w 6857455"/>
                <a:gd name="connsiteY150" fmla="*/ 691450 h 874716"/>
                <a:gd name="connsiteX151" fmla="*/ 3852421 w 6857455"/>
                <a:gd name="connsiteY151" fmla="*/ 709167 h 874716"/>
                <a:gd name="connsiteX152" fmla="*/ 3947104 w 6857455"/>
                <a:gd name="connsiteY152" fmla="*/ 743267 h 874716"/>
                <a:gd name="connsiteX153" fmla="*/ 4013208 w 6857455"/>
                <a:gd name="connsiteY153" fmla="*/ 769367 h 874716"/>
                <a:gd name="connsiteX154" fmla="*/ 4105222 w 6857455"/>
                <a:gd name="connsiteY154" fmla="*/ 792418 h 874716"/>
                <a:gd name="connsiteX155" fmla="*/ 4246006 w 6857455"/>
                <a:gd name="connsiteY155" fmla="*/ 808610 h 874716"/>
                <a:gd name="connsiteX156" fmla="*/ 4310779 w 6857455"/>
                <a:gd name="connsiteY156" fmla="*/ 810326 h 874716"/>
                <a:gd name="connsiteX157" fmla="*/ 4413272 w 6857455"/>
                <a:gd name="connsiteY157" fmla="*/ 848235 h 874716"/>
                <a:gd name="connsiteX158" fmla="*/ 4457087 w 6857455"/>
                <a:gd name="connsiteY158" fmla="*/ 866524 h 874716"/>
                <a:gd name="connsiteX159" fmla="*/ 4496523 w 6857455"/>
                <a:gd name="connsiteY159" fmla="*/ 851284 h 874716"/>
                <a:gd name="connsiteX160" fmla="*/ 4522050 w 6857455"/>
                <a:gd name="connsiteY160" fmla="*/ 833757 h 874716"/>
                <a:gd name="connsiteX161" fmla="*/ 4602824 w 6857455"/>
                <a:gd name="connsiteY161" fmla="*/ 848618 h 874716"/>
                <a:gd name="connsiteX162" fmla="*/ 4688553 w 6857455"/>
                <a:gd name="connsiteY162" fmla="*/ 864238 h 874716"/>
                <a:gd name="connsiteX163" fmla="*/ 4749895 w 6857455"/>
                <a:gd name="connsiteY163" fmla="*/ 874716 h 874716"/>
                <a:gd name="connsiteX164" fmla="*/ 4826480 w 6857455"/>
                <a:gd name="connsiteY164" fmla="*/ 866334 h 874716"/>
                <a:gd name="connsiteX165" fmla="*/ 4886870 w 6857455"/>
                <a:gd name="connsiteY165" fmla="*/ 862906 h 874716"/>
                <a:gd name="connsiteX166" fmla="*/ 4935639 w 6857455"/>
                <a:gd name="connsiteY166" fmla="*/ 853190 h 874716"/>
                <a:gd name="connsiteX167" fmla="*/ 4952784 w 6857455"/>
                <a:gd name="connsiteY167" fmla="*/ 847473 h 874716"/>
                <a:gd name="connsiteX168" fmla="*/ 5088617 w 6857455"/>
                <a:gd name="connsiteY168" fmla="*/ 802896 h 874716"/>
                <a:gd name="connsiteX169" fmla="*/ 5233781 w 6857455"/>
                <a:gd name="connsiteY169" fmla="*/ 767271 h 874716"/>
                <a:gd name="connsiteX170" fmla="*/ 5327893 w 6857455"/>
                <a:gd name="connsiteY170" fmla="*/ 789752 h 874716"/>
                <a:gd name="connsiteX171" fmla="*/ 5362946 w 6857455"/>
                <a:gd name="connsiteY171" fmla="*/ 789370 h 874716"/>
                <a:gd name="connsiteX172" fmla="*/ 5524115 w 6857455"/>
                <a:gd name="connsiteY172" fmla="*/ 794514 h 874716"/>
                <a:gd name="connsiteX173" fmla="*/ 5552500 w 6857455"/>
                <a:gd name="connsiteY173" fmla="*/ 800038 h 874716"/>
                <a:gd name="connsiteX174" fmla="*/ 5705857 w 6857455"/>
                <a:gd name="connsiteY174" fmla="*/ 777367 h 874716"/>
                <a:gd name="connsiteX175" fmla="*/ 5761485 w 6857455"/>
                <a:gd name="connsiteY175" fmla="*/ 773557 h 874716"/>
                <a:gd name="connsiteX176" fmla="*/ 5812731 w 6857455"/>
                <a:gd name="connsiteY176" fmla="*/ 767271 h 874716"/>
                <a:gd name="connsiteX177" fmla="*/ 5884361 w 6857455"/>
                <a:gd name="connsiteY177" fmla="*/ 765747 h 874716"/>
                <a:gd name="connsiteX178" fmla="*/ 5958660 w 6857455"/>
                <a:gd name="connsiteY178" fmla="*/ 768605 h 874716"/>
                <a:gd name="connsiteX179" fmla="*/ 6041528 w 6857455"/>
                <a:gd name="connsiteY179" fmla="*/ 768033 h 874716"/>
                <a:gd name="connsiteX180" fmla="*/ 6074297 w 6857455"/>
                <a:gd name="connsiteY180" fmla="*/ 763081 h 874716"/>
                <a:gd name="connsiteX181" fmla="*/ 6162880 w 6857455"/>
                <a:gd name="connsiteY181" fmla="*/ 766509 h 874716"/>
                <a:gd name="connsiteX182" fmla="*/ 6209364 w 6857455"/>
                <a:gd name="connsiteY182" fmla="*/ 760795 h 874716"/>
                <a:gd name="connsiteX183" fmla="*/ 6285948 w 6857455"/>
                <a:gd name="connsiteY183" fmla="*/ 759651 h 874716"/>
                <a:gd name="connsiteX184" fmla="*/ 6310905 w 6857455"/>
                <a:gd name="connsiteY184" fmla="*/ 758316 h 874716"/>
                <a:gd name="connsiteX185" fmla="*/ 6333194 w 6857455"/>
                <a:gd name="connsiteY185" fmla="*/ 757554 h 874716"/>
                <a:gd name="connsiteX186" fmla="*/ 6409586 w 6857455"/>
                <a:gd name="connsiteY186" fmla="*/ 773177 h 874716"/>
                <a:gd name="connsiteX187" fmla="*/ 6477407 w 6857455"/>
                <a:gd name="connsiteY187" fmla="*/ 774129 h 874716"/>
                <a:gd name="connsiteX188" fmla="*/ 6596283 w 6857455"/>
                <a:gd name="connsiteY188" fmla="*/ 786703 h 874716"/>
                <a:gd name="connsiteX189" fmla="*/ 6622573 w 6857455"/>
                <a:gd name="connsiteY189" fmla="*/ 782321 h 874716"/>
                <a:gd name="connsiteX190" fmla="*/ 6704872 w 6857455"/>
                <a:gd name="connsiteY190" fmla="*/ 780607 h 874716"/>
                <a:gd name="connsiteX191" fmla="*/ 6751738 w 6857455"/>
                <a:gd name="connsiteY191" fmla="*/ 779273 h 874716"/>
                <a:gd name="connsiteX192" fmla="*/ 6809650 w 6857455"/>
                <a:gd name="connsiteY192" fmla="*/ 788417 h 874716"/>
                <a:gd name="connsiteX193" fmla="*/ 6832976 w 6857455"/>
                <a:gd name="connsiteY193" fmla="*/ 800428 h 8747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</a:cxnLst>
              <a:rect l="l" t="t" r="r" b="b"/>
              <a:pathLst>
                <a:path w="6857455" h="874716">
                  <a:moveTo>
                    <a:pt x="6857455" y="804643"/>
                  </a:moveTo>
                  <a:lnTo>
                    <a:pt x="6857455" y="562246"/>
                  </a:lnTo>
                  <a:lnTo>
                    <a:pt x="6829178" y="551284"/>
                  </a:lnTo>
                  <a:cubicBezTo>
                    <a:pt x="6805745" y="539044"/>
                    <a:pt x="6784885" y="521708"/>
                    <a:pt x="6766024" y="500372"/>
                  </a:cubicBezTo>
                  <a:cubicBezTo>
                    <a:pt x="6755166" y="488179"/>
                    <a:pt x="6746784" y="486845"/>
                    <a:pt x="6734971" y="500944"/>
                  </a:cubicBezTo>
                  <a:cubicBezTo>
                    <a:pt x="6721257" y="517326"/>
                    <a:pt x="6701634" y="510850"/>
                    <a:pt x="6683915" y="507040"/>
                  </a:cubicBezTo>
                  <a:cubicBezTo>
                    <a:pt x="6665629" y="503230"/>
                    <a:pt x="6647148" y="499228"/>
                    <a:pt x="6628860" y="495418"/>
                  </a:cubicBezTo>
                  <a:cubicBezTo>
                    <a:pt x="6615335" y="492752"/>
                    <a:pt x="6601999" y="490466"/>
                    <a:pt x="6588662" y="487227"/>
                  </a:cubicBezTo>
                  <a:cubicBezTo>
                    <a:pt x="6547133" y="477129"/>
                    <a:pt x="6509794" y="480177"/>
                    <a:pt x="6476074" y="511230"/>
                  </a:cubicBezTo>
                  <a:cubicBezTo>
                    <a:pt x="6450356" y="535043"/>
                    <a:pt x="6417399" y="542093"/>
                    <a:pt x="6382345" y="534853"/>
                  </a:cubicBezTo>
                  <a:cubicBezTo>
                    <a:pt x="6377963" y="533901"/>
                    <a:pt x="6372439" y="530091"/>
                    <a:pt x="6369391" y="531615"/>
                  </a:cubicBezTo>
                  <a:cubicBezTo>
                    <a:pt x="6323479" y="553904"/>
                    <a:pt x="6287092" y="514658"/>
                    <a:pt x="6244799" y="512182"/>
                  </a:cubicBezTo>
                  <a:cubicBezTo>
                    <a:pt x="6226130" y="511040"/>
                    <a:pt x="6207079" y="496942"/>
                    <a:pt x="6190315" y="485703"/>
                  </a:cubicBezTo>
                  <a:cubicBezTo>
                    <a:pt x="6167262" y="470271"/>
                    <a:pt x="6146687" y="455412"/>
                    <a:pt x="6115446" y="462270"/>
                  </a:cubicBezTo>
                  <a:cubicBezTo>
                    <a:pt x="6084203" y="469319"/>
                    <a:pt x="6055627" y="456364"/>
                    <a:pt x="6032194" y="434266"/>
                  </a:cubicBezTo>
                  <a:cubicBezTo>
                    <a:pt x="6014287" y="417501"/>
                    <a:pt x="5994665" y="415977"/>
                    <a:pt x="5971042" y="420738"/>
                  </a:cubicBezTo>
                  <a:cubicBezTo>
                    <a:pt x="5941513" y="426645"/>
                    <a:pt x="5910842" y="427027"/>
                    <a:pt x="5880933" y="430646"/>
                  </a:cubicBezTo>
                  <a:cubicBezTo>
                    <a:pt x="5874454" y="431408"/>
                    <a:pt x="5866265" y="434076"/>
                    <a:pt x="5862452" y="438648"/>
                  </a:cubicBezTo>
                  <a:cubicBezTo>
                    <a:pt x="5815779" y="495418"/>
                    <a:pt x="5750055" y="495990"/>
                    <a:pt x="5685283" y="498658"/>
                  </a:cubicBezTo>
                  <a:cubicBezTo>
                    <a:pt x="5646039" y="500372"/>
                    <a:pt x="5606604" y="500372"/>
                    <a:pt x="5567169" y="499420"/>
                  </a:cubicBezTo>
                  <a:cubicBezTo>
                    <a:pt x="5553832" y="499228"/>
                    <a:pt x="5539736" y="496180"/>
                    <a:pt x="5527923" y="490466"/>
                  </a:cubicBezTo>
                  <a:cubicBezTo>
                    <a:pt x="5503348" y="478463"/>
                    <a:pt x="5480680" y="462843"/>
                    <a:pt x="5456292" y="450650"/>
                  </a:cubicBezTo>
                  <a:cubicBezTo>
                    <a:pt x="5447151" y="445886"/>
                    <a:pt x="5435338" y="445696"/>
                    <a:pt x="5424670" y="444934"/>
                  </a:cubicBezTo>
                  <a:cubicBezTo>
                    <a:pt x="5405809" y="443410"/>
                    <a:pt x="5384854" y="447982"/>
                    <a:pt x="5368662" y="441124"/>
                  </a:cubicBezTo>
                  <a:cubicBezTo>
                    <a:pt x="5326559" y="423407"/>
                    <a:pt x="5287123" y="427407"/>
                    <a:pt x="5247118" y="444934"/>
                  </a:cubicBezTo>
                  <a:cubicBezTo>
                    <a:pt x="5191108" y="469509"/>
                    <a:pt x="5138148" y="467605"/>
                    <a:pt x="5088617" y="428742"/>
                  </a:cubicBezTo>
                  <a:cubicBezTo>
                    <a:pt x="5066328" y="411215"/>
                    <a:pt x="5044609" y="419596"/>
                    <a:pt x="5025750" y="433694"/>
                  </a:cubicBezTo>
                  <a:cubicBezTo>
                    <a:pt x="5004032" y="450078"/>
                    <a:pt x="4982885" y="454268"/>
                    <a:pt x="4957930" y="442268"/>
                  </a:cubicBezTo>
                  <a:cubicBezTo>
                    <a:pt x="4952404" y="439600"/>
                    <a:pt x="4944594" y="440933"/>
                    <a:pt x="4938116" y="441886"/>
                  </a:cubicBezTo>
                  <a:cubicBezTo>
                    <a:pt x="4901158" y="446648"/>
                    <a:pt x="4864009" y="454650"/>
                    <a:pt x="4833910" y="421693"/>
                  </a:cubicBezTo>
                  <a:cubicBezTo>
                    <a:pt x="4828004" y="415214"/>
                    <a:pt x="4818097" y="412549"/>
                    <a:pt x="4810095" y="408167"/>
                  </a:cubicBezTo>
                  <a:cubicBezTo>
                    <a:pt x="4776566" y="390258"/>
                    <a:pt x="4777900" y="391974"/>
                    <a:pt x="4747991" y="413691"/>
                  </a:cubicBezTo>
                  <a:cubicBezTo>
                    <a:pt x="4732369" y="425121"/>
                    <a:pt x="4710842" y="436742"/>
                    <a:pt x="4692745" y="435790"/>
                  </a:cubicBezTo>
                  <a:cubicBezTo>
                    <a:pt x="4583584" y="430075"/>
                    <a:pt x="4479758" y="457508"/>
                    <a:pt x="4375933" y="483417"/>
                  </a:cubicBezTo>
                  <a:cubicBezTo>
                    <a:pt x="4311923" y="499420"/>
                    <a:pt x="4249436" y="500372"/>
                    <a:pt x="4185426" y="484179"/>
                  </a:cubicBezTo>
                  <a:cubicBezTo>
                    <a:pt x="4139133" y="472367"/>
                    <a:pt x="4095315" y="491800"/>
                    <a:pt x="4052072" y="505134"/>
                  </a:cubicBezTo>
                  <a:cubicBezTo>
                    <a:pt x="4043117" y="507799"/>
                    <a:pt x="4034735" y="518278"/>
                    <a:pt x="4029973" y="527233"/>
                  </a:cubicBezTo>
                  <a:cubicBezTo>
                    <a:pt x="4012826" y="558858"/>
                    <a:pt x="3984441" y="563810"/>
                    <a:pt x="3948626" y="550666"/>
                  </a:cubicBezTo>
                  <a:cubicBezTo>
                    <a:pt x="3920241" y="540377"/>
                    <a:pt x="3894332" y="526661"/>
                    <a:pt x="3871280" y="502275"/>
                  </a:cubicBezTo>
                  <a:cubicBezTo>
                    <a:pt x="3844229" y="473701"/>
                    <a:pt x="3816224" y="441124"/>
                    <a:pt x="3774312" y="429122"/>
                  </a:cubicBezTo>
                  <a:cubicBezTo>
                    <a:pt x="3756214" y="423979"/>
                    <a:pt x="3740593" y="423217"/>
                    <a:pt x="3721543" y="428552"/>
                  </a:cubicBezTo>
                  <a:cubicBezTo>
                    <a:pt x="3684583" y="438837"/>
                    <a:pt x="3647436" y="446078"/>
                    <a:pt x="3612763" y="414263"/>
                  </a:cubicBezTo>
                  <a:cubicBezTo>
                    <a:pt x="3593712" y="396736"/>
                    <a:pt x="3567994" y="385496"/>
                    <a:pt x="3537323" y="389878"/>
                  </a:cubicBezTo>
                  <a:cubicBezTo>
                    <a:pt x="3499031" y="395402"/>
                    <a:pt x="3464168" y="381496"/>
                    <a:pt x="3431593" y="360921"/>
                  </a:cubicBezTo>
                  <a:cubicBezTo>
                    <a:pt x="3419971" y="353491"/>
                    <a:pt x="3405682" y="349301"/>
                    <a:pt x="3392158" y="345681"/>
                  </a:cubicBezTo>
                  <a:cubicBezTo>
                    <a:pt x="3360915" y="337298"/>
                    <a:pt x="3329480" y="329868"/>
                    <a:pt x="3297856" y="323010"/>
                  </a:cubicBezTo>
                  <a:cubicBezTo>
                    <a:pt x="3271948" y="317296"/>
                    <a:pt x="3245849" y="313104"/>
                    <a:pt x="3219748" y="308151"/>
                  </a:cubicBezTo>
                  <a:cubicBezTo>
                    <a:pt x="3191173" y="302817"/>
                    <a:pt x="3168502" y="290433"/>
                    <a:pt x="3156692" y="261668"/>
                  </a:cubicBezTo>
                  <a:cubicBezTo>
                    <a:pt x="3152882" y="252524"/>
                    <a:pt x="3143737" y="245283"/>
                    <a:pt x="3136497" y="237663"/>
                  </a:cubicBezTo>
                  <a:cubicBezTo>
                    <a:pt x="3131355" y="232139"/>
                    <a:pt x="3124495" y="227947"/>
                    <a:pt x="3119733" y="222233"/>
                  </a:cubicBezTo>
                  <a:cubicBezTo>
                    <a:pt x="3094776" y="192132"/>
                    <a:pt x="3070201" y="161843"/>
                    <a:pt x="3045436" y="131742"/>
                  </a:cubicBezTo>
                  <a:cubicBezTo>
                    <a:pt x="3042958" y="128884"/>
                    <a:pt x="3040292" y="125455"/>
                    <a:pt x="3037054" y="124121"/>
                  </a:cubicBezTo>
                  <a:cubicBezTo>
                    <a:pt x="3003525" y="110215"/>
                    <a:pt x="2969614" y="97070"/>
                    <a:pt x="2936466" y="82400"/>
                  </a:cubicBezTo>
                  <a:cubicBezTo>
                    <a:pt x="2923702" y="76686"/>
                    <a:pt x="2910558" y="69637"/>
                    <a:pt x="2901031" y="59731"/>
                  </a:cubicBezTo>
                  <a:cubicBezTo>
                    <a:pt x="2879314" y="37250"/>
                    <a:pt x="2859502" y="12866"/>
                    <a:pt x="2828259" y="3149"/>
                  </a:cubicBezTo>
                  <a:cubicBezTo>
                    <a:pt x="2819114" y="293"/>
                    <a:pt x="2808256" y="-1231"/>
                    <a:pt x="2799492" y="1245"/>
                  </a:cubicBezTo>
                  <a:cubicBezTo>
                    <a:pt x="2763867" y="11532"/>
                    <a:pt x="2729005" y="24296"/>
                    <a:pt x="2693570" y="35154"/>
                  </a:cubicBezTo>
                  <a:cubicBezTo>
                    <a:pt x="2671092" y="41823"/>
                    <a:pt x="2650707" y="49825"/>
                    <a:pt x="2639847" y="73448"/>
                  </a:cubicBezTo>
                  <a:cubicBezTo>
                    <a:pt x="2636801" y="80114"/>
                    <a:pt x="2628226" y="87354"/>
                    <a:pt x="2621178" y="88688"/>
                  </a:cubicBezTo>
                  <a:cubicBezTo>
                    <a:pt x="2575839" y="97260"/>
                    <a:pt x="2531069" y="101451"/>
                    <a:pt x="2489348" y="72304"/>
                  </a:cubicBezTo>
                  <a:cubicBezTo>
                    <a:pt x="2480585" y="66017"/>
                    <a:pt x="2464201" y="66017"/>
                    <a:pt x="2452580" y="68683"/>
                  </a:cubicBezTo>
                  <a:cubicBezTo>
                    <a:pt x="2407811" y="78590"/>
                    <a:pt x="2365328" y="82020"/>
                    <a:pt x="2326464" y="50395"/>
                  </a:cubicBezTo>
                  <a:cubicBezTo>
                    <a:pt x="2321892" y="46585"/>
                    <a:pt x="2307224" y="50015"/>
                    <a:pt x="2300365" y="54777"/>
                  </a:cubicBezTo>
                  <a:cubicBezTo>
                    <a:pt x="2234259" y="101261"/>
                    <a:pt x="2198064" y="102405"/>
                    <a:pt x="2130434" y="58397"/>
                  </a:cubicBezTo>
                  <a:cubicBezTo>
                    <a:pt x="2126052" y="55539"/>
                    <a:pt x="2120337" y="52301"/>
                    <a:pt x="2118621" y="47919"/>
                  </a:cubicBezTo>
                  <a:cubicBezTo>
                    <a:pt x="2107001" y="19914"/>
                    <a:pt x="2082236" y="19152"/>
                    <a:pt x="2057659" y="16866"/>
                  </a:cubicBezTo>
                  <a:cubicBezTo>
                    <a:pt x="2030608" y="14390"/>
                    <a:pt x="2003555" y="11152"/>
                    <a:pt x="1976314" y="8865"/>
                  </a:cubicBezTo>
                  <a:cubicBezTo>
                    <a:pt x="1971550" y="8483"/>
                    <a:pt x="1966216" y="10007"/>
                    <a:pt x="1961454" y="11724"/>
                  </a:cubicBezTo>
                  <a:cubicBezTo>
                    <a:pt x="1943165" y="18010"/>
                    <a:pt x="1925449" y="27154"/>
                    <a:pt x="1906588" y="30964"/>
                  </a:cubicBezTo>
                  <a:cubicBezTo>
                    <a:pt x="1865821" y="39156"/>
                    <a:pt x="1826385" y="55539"/>
                    <a:pt x="1783330" y="48871"/>
                  </a:cubicBezTo>
                  <a:cubicBezTo>
                    <a:pt x="1775902" y="47729"/>
                    <a:pt x="1767327" y="53253"/>
                    <a:pt x="1759327" y="55349"/>
                  </a:cubicBezTo>
                  <a:cubicBezTo>
                    <a:pt x="1744849" y="58969"/>
                    <a:pt x="1730750" y="64111"/>
                    <a:pt x="1716082" y="65445"/>
                  </a:cubicBezTo>
                  <a:cubicBezTo>
                    <a:pt x="1677218" y="68875"/>
                    <a:pt x="1637975" y="71924"/>
                    <a:pt x="1598920" y="72114"/>
                  </a:cubicBezTo>
                  <a:cubicBezTo>
                    <a:pt x="1580061" y="72304"/>
                    <a:pt x="1561201" y="65065"/>
                    <a:pt x="1542150" y="62207"/>
                  </a:cubicBezTo>
                  <a:cubicBezTo>
                    <a:pt x="1533578" y="60873"/>
                    <a:pt x="1519669" y="58587"/>
                    <a:pt x="1516813" y="62779"/>
                  </a:cubicBezTo>
                  <a:cubicBezTo>
                    <a:pt x="1494714" y="94592"/>
                    <a:pt x="1463661" y="88496"/>
                    <a:pt x="1432228" y="88116"/>
                  </a:cubicBezTo>
                  <a:cubicBezTo>
                    <a:pt x="1362884" y="87354"/>
                    <a:pt x="1295826" y="60493"/>
                    <a:pt x="1224765" y="71924"/>
                  </a:cubicBezTo>
                  <a:cubicBezTo>
                    <a:pt x="1204191" y="75162"/>
                    <a:pt x="1181330" y="62397"/>
                    <a:pt x="1159231" y="58207"/>
                  </a:cubicBezTo>
                  <a:cubicBezTo>
                    <a:pt x="1147801" y="56111"/>
                    <a:pt x="1135228" y="53633"/>
                    <a:pt x="1124370" y="56301"/>
                  </a:cubicBezTo>
                  <a:cubicBezTo>
                    <a:pt x="1107605" y="60493"/>
                    <a:pt x="1091411" y="68113"/>
                    <a:pt x="1075600" y="75542"/>
                  </a:cubicBezTo>
                  <a:cubicBezTo>
                    <a:pt x="1046261" y="89258"/>
                    <a:pt x="1016162" y="89258"/>
                    <a:pt x="986633" y="79162"/>
                  </a:cubicBezTo>
                  <a:cubicBezTo>
                    <a:pt x="944722" y="64873"/>
                    <a:pt x="903193" y="64873"/>
                    <a:pt x="861089" y="76304"/>
                  </a:cubicBezTo>
                  <a:cubicBezTo>
                    <a:pt x="826990" y="85638"/>
                    <a:pt x="791935" y="92116"/>
                    <a:pt x="759168" y="104689"/>
                  </a:cubicBezTo>
                  <a:cubicBezTo>
                    <a:pt x="744689" y="110215"/>
                    <a:pt x="732497" y="126597"/>
                    <a:pt x="723735" y="140696"/>
                  </a:cubicBezTo>
                  <a:cubicBezTo>
                    <a:pt x="706018" y="169271"/>
                    <a:pt x="674013" y="169081"/>
                    <a:pt x="647532" y="147934"/>
                  </a:cubicBezTo>
                  <a:cubicBezTo>
                    <a:pt x="619717" y="125645"/>
                    <a:pt x="584664" y="112501"/>
                    <a:pt x="552659" y="95926"/>
                  </a:cubicBezTo>
                  <a:cubicBezTo>
                    <a:pt x="549993" y="94592"/>
                    <a:pt x="545039" y="96116"/>
                    <a:pt x="541800" y="97640"/>
                  </a:cubicBezTo>
                  <a:cubicBezTo>
                    <a:pt x="488649" y="122407"/>
                    <a:pt x="433593" y="126979"/>
                    <a:pt x="375107" y="123169"/>
                  </a:cubicBezTo>
                  <a:cubicBezTo>
                    <a:pt x="341960" y="121073"/>
                    <a:pt x="307289" y="137076"/>
                    <a:pt x="273567" y="145458"/>
                  </a:cubicBezTo>
                  <a:cubicBezTo>
                    <a:pt x="269757" y="146410"/>
                    <a:pt x="266519" y="151174"/>
                    <a:pt x="264043" y="154792"/>
                  </a:cubicBezTo>
                  <a:cubicBezTo>
                    <a:pt x="240228" y="190800"/>
                    <a:pt x="208223" y="200706"/>
                    <a:pt x="169360" y="177273"/>
                  </a:cubicBezTo>
                  <a:cubicBezTo>
                    <a:pt x="143643" y="161651"/>
                    <a:pt x="118114" y="158032"/>
                    <a:pt x="89347" y="157460"/>
                  </a:cubicBezTo>
                  <a:cubicBezTo>
                    <a:pt x="71059" y="157078"/>
                    <a:pt x="52962" y="147934"/>
                    <a:pt x="34291" y="145268"/>
                  </a:cubicBezTo>
                  <a:lnTo>
                    <a:pt x="0" y="142056"/>
                  </a:lnTo>
                  <a:lnTo>
                    <a:pt x="0" y="849556"/>
                  </a:lnTo>
                  <a:lnTo>
                    <a:pt x="60652" y="844783"/>
                  </a:lnTo>
                  <a:cubicBezTo>
                    <a:pt x="80251" y="839473"/>
                    <a:pt x="99446" y="832043"/>
                    <a:pt x="119068" y="827281"/>
                  </a:cubicBezTo>
                  <a:cubicBezTo>
                    <a:pt x="137355" y="822899"/>
                    <a:pt x="154501" y="812802"/>
                    <a:pt x="171840" y="804420"/>
                  </a:cubicBezTo>
                  <a:cubicBezTo>
                    <a:pt x="204985" y="788417"/>
                    <a:pt x="240420" y="798514"/>
                    <a:pt x="274329" y="794324"/>
                  </a:cubicBezTo>
                  <a:cubicBezTo>
                    <a:pt x="285188" y="792990"/>
                    <a:pt x="296046" y="791466"/>
                    <a:pt x="306715" y="788798"/>
                  </a:cubicBezTo>
                  <a:cubicBezTo>
                    <a:pt x="335864" y="781749"/>
                    <a:pt x="365583" y="775653"/>
                    <a:pt x="393967" y="765937"/>
                  </a:cubicBezTo>
                  <a:cubicBezTo>
                    <a:pt x="426165" y="755078"/>
                    <a:pt x="457028" y="740600"/>
                    <a:pt x="493793" y="725549"/>
                  </a:cubicBezTo>
                  <a:cubicBezTo>
                    <a:pt x="506557" y="729360"/>
                    <a:pt x="526180" y="739648"/>
                    <a:pt x="546373" y="740600"/>
                  </a:cubicBezTo>
                  <a:cubicBezTo>
                    <a:pt x="611337" y="743838"/>
                    <a:pt x="672107" y="726121"/>
                    <a:pt x="730211" y="698116"/>
                  </a:cubicBezTo>
                  <a:cubicBezTo>
                    <a:pt x="747927" y="689734"/>
                    <a:pt x="766980" y="684210"/>
                    <a:pt x="784889" y="676018"/>
                  </a:cubicBezTo>
                  <a:cubicBezTo>
                    <a:pt x="791173" y="673161"/>
                    <a:pt x="799365" y="667065"/>
                    <a:pt x="800509" y="661349"/>
                  </a:cubicBezTo>
                  <a:cubicBezTo>
                    <a:pt x="807175" y="628201"/>
                    <a:pt x="831942" y="628772"/>
                    <a:pt x="857661" y="626868"/>
                  </a:cubicBezTo>
                  <a:cubicBezTo>
                    <a:pt x="888332" y="624582"/>
                    <a:pt x="918621" y="619248"/>
                    <a:pt x="949102" y="614676"/>
                  </a:cubicBezTo>
                  <a:cubicBezTo>
                    <a:pt x="953104" y="614104"/>
                    <a:pt x="956722" y="610104"/>
                    <a:pt x="960342" y="607435"/>
                  </a:cubicBezTo>
                  <a:cubicBezTo>
                    <a:pt x="965867" y="603435"/>
                    <a:pt x="971011" y="597339"/>
                    <a:pt x="977109" y="595815"/>
                  </a:cubicBezTo>
                  <a:cubicBezTo>
                    <a:pt x="1008350" y="588385"/>
                    <a:pt x="1039783" y="582099"/>
                    <a:pt x="1071218" y="575240"/>
                  </a:cubicBezTo>
                  <a:cubicBezTo>
                    <a:pt x="1078266" y="573716"/>
                    <a:pt x="1085505" y="571812"/>
                    <a:pt x="1091983" y="568764"/>
                  </a:cubicBezTo>
                  <a:cubicBezTo>
                    <a:pt x="1098079" y="565906"/>
                    <a:pt x="1103223" y="560952"/>
                    <a:pt x="1109321" y="557904"/>
                  </a:cubicBezTo>
                  <a:cubicBezTo>
                    <a:pt x="1125892" y="549714"/>
                    <a:pt x="1142851" y="542093"/>
                    <a:pt x="1162279" y="532949"/>
                  </a:cubicBezTo>
                  <a:cubicBezTo>
                    <a:pt x="1173138" y="550094"/>
                    <a:pt x="1187810" y="540377"/>
                    <a:pt x="1206097" y="532187"/>
                  </a:cubicBezTo>
                  <a:cubicBezTo>
                    <a:pt x="1224765" y="523805"/>
                    <a:pt x="1246292" y="521137"/>
                    <a:pt x="1266867" y="518088"/>
                  </a:cubicBezTo>
                  <a:cubicBezTo>
                    <a:pt x="1304588" y="512564"/>
                    <a:pt x="1342499" y="509134"/>
                    <a:pt x="1380219" y="504182"/>
                  </a:cubicBezTo>
                  <a:cubicBezTo>
                    <a:pt x="1388221" y="503038"/>
                    <a:pt x="1397365" y="500944"/>
                    <a:pt x="1403461" y="496180"/>
                  </a:cubicBezTo>
                  <a:cubicBezTo>
                    <a:pt x="1445181" y="464175"/>
                    <a:pt x="1495858" y="455222"/>
                    <a:pt x="1544054" y="458268"/>
                  </a:cubicBezTo>
                  <a:cubicBezTo>
                    <a:pt x="1581965" y="460557"/>
                    <a:pt x="1619114" y="462270"/>
                    <a:pt x="1656644" y="459032"/>
                  </a:cubicBezTo>
                  <a:cubicBezTo>
                    <a:pt x="1659502" y="458841"/>
                    <a:pt x="1663312" y="459223"/>
                    <a:pt x="1665406" y="460747"/>
                  </a:cubicBezTo>
                  <a:cubicBezTo>
                    <a:pt x="1678360" y="470843"/>
                    <a:pt x="1691887" y="471605"/>
                    <a:pt x="1708461" y="473318"/>
                  </a:cubicBezTo>
                  <a:cubicBezTo>
                    <a:pt x="1731894" y="475797"/>
                    <a:pt x="1753421" y="474081"/>
                    <a:pt x="1775140" y="469891"/>
                  </a:cubicBezTo>
                  <a:cubicBezTo>
                    <a:pt x="1790952" y="466843"/>
                    <a:pt x="1806953" y="460557"/>
                    <a:pt x="1821051" y="452554"/>
                  </a:cubicBezTo>
                  <a:cubicBezTo>
                    <a:pt x="1840672" y="441314"/>
                    <a:pt x="1859535" y="436934"/>
                    <a:pt x="1878203" y="451792"/>
                  </a:cubicBezTo>
                  <a:cubicBezTo>
                    <a:pt x="1898396" y="467605"/>
                    <a:pt x="1921257" y="462081"/>
                    <a:pt x="1943547" y="462651"/>
                  </a:cubicBezTo>
                  <a:cubicBezTo>
                    <a:pt x="1953262" y="462843"/>
                    <a:pt x="1963550" y="462461"/>
                    <a:pt x="1972884" y="464937"/>
                  </a:cubicBezTo>
                  <a:cubicBezTo>
                    <a:pt x="1999935" y="471987"/>
                    <a:pt x="2026036" y="482655"/>
                    <a:pt x="2053469" y="487417"/>
                  </a:cubicBezTo>
                  <a:cubicBezTo>
                    <a:pt x="2068710" y="490084"/>
                    <a:pt x="2085664" y="485321"/>
                    <a:pt x="2101477" y="481893"/>
                  </a:cubicBezTo>
                  <a:cubicBezTo>
                    <a:pt x="2117479" y="478273"/>
                    <a:pt x="2133290" y="472749"/>
                    <a:pt x="2148722" y="467033"/>
                  </a:cubicBezTo>
                  <a:cubicBezTo>
                    <a:pt x="2159199" y="463223"/>
                    <a:pt x="2170629" y="459603"/>
                    <a:pt x="2179011" y="452744"/>
                  </a:cubicBezTo>
                  <a:cubicBezTo>
                    <a:pt x="2198064" y="437124"/>
                    <a:pt x="2217685" y="434455"/>
                    <a:pt x="2240165" y="442648"/>
                  </a:cubicBezTo>
                  <a:cubicBezTo>
                    <a:pt x="2243593" y="443982"/>
                    <a:pt x="2247594" y="443982"/>
                    <a:pt x="2251404" y="444172"/>
                  </a:cubicBezTo>
                  <a:cubicBezTo>
                    <a:pt x="2312370" y="448172"/>
                    <a:pt x="2373330" y="450650"/>
                    <a:pt x="2433912" y="456746"/>
                  </a:cubicBezTo>
                  <a:cubicBezTo>
                    <a:pt x="2458485" y="459223"/>
                    <a:pt x="2482107" y="470081"/>
                    <a:pt x="2506302" y="476939"/>
                  </a:cubicBezTo>
                  <a:cubicBezTo>
                    <a:pt x="2511256" y="478273"/>
                    <a:pt x="2516783" y="480369"/>
                    <a:pt x="2521735" y="479415"/>
                  </a:cubicBezTo>
                  <a:cubicBezTo>
                    <a:pt x="2575647" y="469891"/>
                    <a:pt x="2626132" y="483797"/>
                    <a:pt x="2675854" y="502086"/>
                  </a:cubicBezTo>
                  <a:cubicBezTo>
                    <a:pt x="2680996" y="503992"/>
                    <a:pt x="2687282" y="503419"/>
                    <a:pt x="2692998" y="503038"/>
                  </a:cubicBezTo>
                  <a:cubicBezTo>
                    <a:pt x="2709003" y="501706"/>
                    <a:pt x="2726337" y="495038"/>
                    <a:pt x="2740816" y="499037"/>
                  </a:cubicBezTo>
                  <a:cubicBezTo>
                    <a:pt x="2779297" y="510088"/>
                    <a:pt x="2817398" y="523423"/>
                    <a:pt x="2853596" y="540187"/>
                  </a:cubicBezTo>
                  <a:cubicBezTo>
                    <a:pt x="2890365" y="557142"/>
                    <a:pt x="2924464" y="571430"/>
                    <a:pt x="2966565" y="554286"/>
                  </a:cubicBezTo>
                  <a:cubicBezTo>
                    <a:pt x="2984472" y="547045"/>
                    <a:pt x="3008095" y="552190"/>
                    <a:pt x="3028671" y="554094"/>
                  </a:cubicBezTo>
                  <a:cubicBezTo>
                    <a:pt x="3043720" y="555618"/>
                    <a:pt x="3058198" y="564192"/>
                    <a:pt x="3073059" y="564192"/>
                  </a:cubicBezTo>
                  <a:cubicBezTo>
                    <a:pt x="3112686" y="564192"/>
                    <a:pt x="3147927" y="574288"/>
                    <a:pt x="3182219" y="594862"/>
                  </a:cubicBezTo>
                  <a:cubicBezTo>
                    <a:pt x="3195557" y="602863"/>
                    <a:pt x="3216322" y="597529"/>
                    <a:pt x="3233656" y="599625"/>
                  </a:cubicBezTo>
                  <a:cubicBezTo>
                    <a:pt x="3251947" y="602101"/>
                    <a:pt x="3270804" y="604387"/>
                    <a:pt x="3288332" y="609914"/>
                  </a:cubicBezTo>
                  <a:cubicBezTo>
                    <a:pt x="3333672" y="624392"/>
                    <a:pt x="3378441" y="640774"/>
                    <a:pt x="3423591" y="656015"/>
                  </a:cubicBezTo>
                  <a:cubicBezTo>
                    <a:pt x="3460738" y="668590"/>
                    <a:pt x="3497317" y="658683"/>
                    <a:pt x="3534084" y="653349"/>
                  </a:cubicBezTo>
                  <a:cubicBezTo>
                    <a:pt x="3557137" y="649919"/>
                    <a:pt x="3578662" y="641727"/>
                    <a:pt x="3604571" y="653918"/>
                  </a:cubicBezTo>
                  <a:cubicBezTo>
                    <a:pt x="3629338" y="665541"/>
                    <a:pt x="3660771" y="662873"/>
                    <a:pt x="3688586" y="669160"/>
                  </a:cubicBezTo>
                  <a:cubicBezTo>
                    <a:pt x="3712020" y="674494"/>
                    <a:pt x="3734687" y="683068"/>
                    <a:pt x="3757358" y="691450"/>
                  </a:cubicBezTo>
                  <a:cubicBezTo>
                    <a:pt x="3788221" y="702881"/>
                    <a:pt x="3818700" y="714881"/>
                    <a:pt x="3852421" y="709167"/>
                  </a:cubicBezTo>
                  <a:cubicBezTo>
                    <a:pt x="3890714" y="702689"/>
                    <a:pt x="3917001" y="727073"/>
                    <a:pt x="3947104" y="743267"/>
                  </a:cubicBezTo>
                  <a:cubicBezTo>
                    <a:pt x="3967869" y="754316"/>
                    <a:pt x="3990538" y="762509"/>
                    <a:pt x="4013208" y="769367"/>
                  </a:cubicBezTo>
                  <a:cubicBezTo>
                    <a:pt x="4043497" y="778321"/>
                    <a:pt x="4074740" y="783655"/>
                    <a:pt x="4105222" y="792418"/>
                  </a:cubicBezTo>
                  <a:cubicBezTo>
                    <a:pt x="4151325" y="805561"/>
                    <a:pt x="4198001" y="815850"/>
                    <a:pt x="4246006" y="808610"/>
                  </a:cubicBezTo>
                  <a:cubicBezTo>
                    <a:pt x="4268105" y="805372"/>
                    <a:pt x="4288682" y="805561"/>
                    <a:pt x="4310779" y="810326"/>
                  </a:cubicBezTo>
                  <a:cubicBezTo>
                    <a:pt x="4346974" y="818136"/>
                    <a:pt x="4384123" y="819089"/>
                    <a:pt x="4413272" y="848235"/>
                  </a:cubicBezTo>
                  <a:cubicBezTo>
                    <a:pt x="4423558" y="858524"/>
                    <a:pt x="4442037" y="861190"/>
                    <a:pt x="4457087" y="866524"/>
                  </a:cubicBezTo>
                  <a:cubicBezTo>
                    <a:pt x="4474424" y="872812"/>
                    <a:pt x="4487186" y="869572"/>
                    <a:pt x="4496523" y="851284"/>
                  </a:cubicBezTo>
                  <a:cubicBezTo>
                    <a:pt x="4500713" y="843093"/>
                    <a:pt x="4512715" y="835091"/>
                    <a:pt x="4522050" y="833757"/>
                  </a:cubicBezTo>
                  <a:cubicBezTo>
                    <a:pt x="4550055" y="829757"/>
                    <a:pt x="4575773" y="835663"/>
                    <a:pt x="4602824" y="848618"/>
                  </a:cubicBezTo>
                  <a:cubicBezTo>
                    <a:pt x="4628161" y="860810"/>
                    <a:pt x="4659786" y="859476"/>
                    <a:pt x="4688553" y="864238"/>
                  </a:cubicBezTo>
                  <a:cubicBezTo>
                    <a:pt x="4708936" y="867668"/>
                    <a:pt x="4729321" y="874716"/>
                    <a:pt x="4749895" y="874716"/>
                  </a:cubicBezTo>
                  <a:cubicBezTo>
                    <a:pt x="4775424" y="874716"/>
                    <a:pt x="4800761" y="868620"/>
                    <a:pt x="4826480" y="866334"/>
                  </a:cubicBezTo>
                  <a:cubicBezTo>
                    <a:pt x="4846482" y="864430"/>
                    <a:pt x="4866867" y="865192"/>
                    <a:pt x="4886870" y="862906"/>
                  </a:cubicBezTo>
                  <a:cubicBezTo>
                    <a:pt x="4903254" y="861190"/>
                    <a:pt x="4919447" y="856810"/>
                    <a:pt x="4935639" y="853190"/>
                  </a:cubicBezTo>
                  <a:cubicBezTo>
                    <a:pt x="4941546" y="851856"/>
                    <a:pt x="4947452" y="846711"/>
                    <a:pt x="4952784" y="847473"/>
                  </a:cubicBezTo>
                  <a:cubicBezTo>
                    <a:pt x="5005745" y="855666"/>
                    <a:pt x="5043847" y="819089"/>
                    <a:pt x="5088617" y="802896"/>
                  </a:cubicBezTo>
                  <a:cubicBezTo>
                    <a:pt x="5135672" y="785749"/>
                    <a:pt x="5181204" y="759461"/>
                    <a:pt x="5233781" y="767271"/>
                  </a:cubicBezTo>
                  <a:cubicBezTo>
                    <a:pt x="5265596" y="772033"/>
                    <a:pt x="5296267" y="783083"/>
                    <a:pt x="5327893" y="789752"/>
                  </a:cubicBezTo>
                  <a:cubicBezTo>
                    <a:pt x="5339132" y="792038"/>
                    <a:pt x="5351705" y="791656"/>
                    <a:pt x="5362946" y="789370"/>
                  </a:cubicBezTo>
                  <a:cubicBezTo>
                    <a:pt x="5417240" y="778891"/>
                    <a:pt x="5470771" y="777367"/>
                    <a:pt x="5524115" y="794514"/>
                  </a:cubicBezTo>
                  <a:cubicBezTo>
                    <a:pt x="5533257" y="797372"/>
                    <a:pt x="5542974" y="800038"/>
                    <a:pt x="5552500" y="800038"/>
                  </a:cubicBezTo>
                  <a:cubicBezTo>
                    <a:pt x="5604697" y="800038"/>
                    <a:pt x="5655944" y="796038"/>
                    <a:pt x="5705857" y="777367"/>
                  </a:cubicBezTo>
                  <a:cubicBezTo>
                    <a:pt x="5722622" y="771080"/>
                    <a:pt x="5743006" y="775081"/>
                    <a:pt x="5761485" y="773557"/>
                  </a:cubicBezTo>
                  <a:cubicBezTo>
                    <a:pt x="5778629" y="772224"/>
                    <a:pt x="5796156" y="771653"/>
                    <a:pt x="5812731" y="767271"/>
                  </a:cubicBezTo>
                  <a:cubicBezTo>
                    <a:pt x="5836925" y="760795"/>
                    <a:pt x="5859404" y="760033"/>
                    <a:pt x="5884361" y="765747"/>
                  </a:cubicBezTo>
                  <a:cubicBezTo>
                    <a:pt x="5908174" y="771080"/>
                    <a:pt x="5933892" y="768415"/>
                    <a:pt x="5958660" y="768605"/>
                  </a:cubicBezTo>
                  <a:cubicBezTo>
                    <a:pt x="5986282" y="768795"/>
                    <a:pt x="6013906" y="768984"/>
                    <a:pt x="6041528" y="768033"/>
                  </a:cubicBezTo>
                  <a:cubicBezTo>
                    <a:pt x="6052579" y="767653"/>
                    <a:pt x="6065151" y="760033"/>
                    <a:pt x="6074297" y="763081"/>
                  </a:cubicBezTo>
                  <a:cubicBezTo>
                    <a:pt x="6103824" y="773366"/>
                    <a:pt x="6133353" y="760985"/>
                    <a:pt x="6162880" y="766509"/>
                  </a:cubicBezTo>
                  <a:cubicBezTo>
                    <a:pt x="6177360" y="769367"/>
                    <a:pt x="6193743" y="761557"/>
                    <a:pt x="6209364" y="760795"/>
                  </a:cubicBezTo>
                  <a:cubicBezTo>
                    <a:pt x="6234892" y="759461"/>
                    <a:pt x="6260419" y="760033"/>
                    <a:pt x="6285948" y="759651"/>
                  </a:cubicBezTo>
                  <a:cubicBezTo>
                    <a:pt x="6294330" y="759461"/>
                    <a:pt x="6302523" y="758699"/>
                    <a:pt x="6310905" y="758316"/>
                  </a:cubicBezTo>
                  <a:cubicBezTo>
                    <a:pt x="6318335" y="757936"/>
                    <a:pt x="6326145" y="756222"/>
                    <a:pt x="6333194" y="757554"/>
                  </a:cubicBezTo>
                  <a:cubicBezTo>
                    <a:pt x="6358723" y="762318"/>
                    <a:pt x="6383869" y="770129"/>
                    <a:pt x="6409586" y="773177"/>
                  </a:cubicBezTo>
                  <a:cubicBezTo>
                    <a:pt x="6431875" y="775843"/>
                    <a:pt x="6454928" y="772224"/>
                    <a:pt x="6477407" y="774129"/>
                  </a:cubicBezTo>
                  <a:cubicBezTo>
                    <a:pt x="6517032" y="777367"/>
                    <a:pt x="6556657" y="783083"/>
                    <a:pt x="6596283" y="786703"/>
                  </a:cubicBezTo>
                  <a:cubicBezTo>
                    <a:pt x="6604857" y="787465"/>
                    <a:pt x="6613809" y="782701"/>
                    <a:pt x="6622573" y="782321"/>
                  </a:cubicBezTo>
                  <a:cubicBezTo>
                    <a:pt x="6650006" y="781369"/>
                    <a:pt x="6677439" y="781177"/>
                    <a:pt x="6704872" y="780607"/>
                  </a:cubicBezTo>
                  <a:cubicBezTo>
                    <a:pt x="6720493" y="780415"/>
                    <a:pt x="6736305" y="780987"/>
                    <a:pt x="6751738" y="779273"/>
                  </a:cubicBezTo>
                  <a:cubicBezTo>
                    <a:pt x="6772120" y="776987"/>
                    <a:pt x="6790599" y="773557"/>
                    <a:pt x="6809650" y="788417"/>
                  </a:cubicBezTo>
                  <a:cubicBezTo>
                    <a:pt x="6816984" y="794180"/>
                    <a:pt x="6824819" y="797942"/>
                    <a:pt x="6832976" y="800428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4E59A2A1-1352-47AA-80C2-0FF5375940E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2403998" y="2991370"/>
              <a:ext cx="6857455" cy="874716"/>
            </a:xfrm>
            <a:custGeom>
              <a:avLst/>
              <a:gdLst>
                <a:gd name="connsiteX0" fmla="*/ 6857455 w 6857455"/>
                <a:gd name="connsiteY0" fmla="*/ 804643 h 874716"/>
                <a:gd name="connsiteX1" fmla="*/ 6857455 w 6857455"/>
                <a:gd name="connsiteY1" fmla="*/ 562246 h 874716"/>
                <a:gd name="connsiteX2" fmla="*/ 6829178 w 6857455"/>
                <a:gd name="connsiteY2" fmla="*/ 551284 h 874716"/>
                <a:gd name="connsiteX3" fmla="*/ 6766024 w 6857455"/>
                <a:gd name="connsiteY3" fmla="*/ 500372 h 874716"/>
                <a:gd name="connsiteX4" fmla="*/ 6734971 w 6857455"/>
                <a:gd name="connsiteY4" fmla="*/ 500944 h 874716"/>
                <a:gd name="connsiteX5" fmla="*/ 6683915 w 6857455"/>
                <a:gd name="connsiteY5" fmla="*/ 507040 h 874716"/>
                <a:gd name="connsiteX6" fmla="*/ 6628860 w 6857455"/>
                <a:gd name="connsiteY6" fmla="*/ 495418 h 874716"/>
                <a:gd name="connsiteX7" fmla="*/ 6588662 w 6857455"/>
                <a:gd name="connsiteY7" fmla="*/ 487227 h 874716"/>
                <a:gd name="connsiteX8" fmla="*/ 6476074 w 6857455"/>
                <a:gd name="connsiteY8" fmla="*/ 511230 h 874716"/>
                <a:gd name="connsiteX9" fmla="*/ 6382345 w 6857455"/>
                <a:gd name="connsiteY9" fmla="*/ 534853 h 874716"/>
                <a:gd name="connsiteX10" fmla="*/ 6369391 w 6857455"/>
                <a:gd name="connsiteY10" fmla="*/ 531615 h 874716"/>
                <a:gd name="connsiteX11" fmla="*/ 6244799 w 6857455"/>
                <a:gd name="connsiteY11" fmla="*/ 512182 h 874716"/>
                <a:gd name="connsiteX12" fmla="*/ 6190315 w 6857455"/>
                <a:gd name="connsiteY12" fmla="*/ 485703 h 874716"/>
                <a:gd name="connsiteX13" fmla="*/ 6115446 w 6857455"/>
                <a:gd name="connsiteY13" fmla="*/ 462270 h 874716"/>
                <a:gd name="connsiteX14" fmla="*/ 6032194 w 6857455"/>
                <a:gd name="connsiteY14" fmla="*/ 434266 h 874716"/>
                <a:gd name="connsiteX15" fmla="*/ 5971042 w 6857455"/>
                <a:gd name="connsiteY15" fmla="*/ 420738 h 874716"/>
                <a:gd name="connsiteX16" fmla="*/ 5880933 w 6857455"/>
                <a:gd name="connsiteY16" fmla="*/ 430646 h 874716"/>
                <a:gd name="connsiteX17" fmla="*/ 5862452 w 6857455"/>
                <a:gd name="connsiteY17" fmla="*/ 438648 h 874716"/>
                <a:gd name="connsiteX18" fmla="*/ 5685283 w 6857455"/>
                <a:gd name="connsiteY18" fmla="*/ 498658 h 874716"/>
                <a:gd name="connsiteX19" fmla="*/ 5567169 w 6857455"/>
                <a:gd name="connsiteY19" fmla="*/ 499420 h 874716"/>
                <a:gd name="connsiteX20" fmla="*/ 5527923 w 6857455"/>
                <a:gd name="connsiteY20" fmla="*/ 490466 h 874716"/>
                <a:gd name="connsiteX21" fmla="*/ 5456292 w 6857455"/>
                <a:gd name="connsiteY21" fmla="*/ 450650 h 874716"/>
                <a:gd name="connsiteX22" fmla="*/ 5424670 w 6857455"/>
                <a:gd name="connsiteY22" fmla="*/ 444934 h 874716"/>
                <a:gd name="connsiteX23" fmla="*/ 5368662 w 6857455"/>
                <a:gd name="connsiteY23" fmla="*/ 441124 h 874716"/>
                <a:gd name="connsiteX24" fmla="*/ 5247118 w 6857455"/>
                <a:gd name="connsiteY24" fmla="*/ 444934 h 874716"/>
                <a:gd name="connsiteX25" fmla="*/ 5088617 w 6857455"/>
                <a:gd name="connsiteY25" fmla="*/ 428742 h 874716"/>
                <a:gd name="connsiteX26" fmla="*/ 5025750 w 6857455"/>
                <a:gd name="connsiteY26" fmla="*/ 433694 h 874716"/>
                <a:gd name="connsiteX27" fmla="*/ 4957930 w 6857455"/>
                <a:gd name="connsiteY27" fmla="*/ 442268 h 874716"/>
                <a:gd name="connsiteX28" fmla="*/ 4938116 w 6857455"/>
                <a:gd name="connsiteY28" fmla="*/ 441886 h 874716"/>
                <a:gd name="connsiteX29" fmla="*/ 4833910 w 6857455"/>
                <a:gd name="connsiteY29" fmla="*/ 421693 h 874716"/>
                <a:gd name="connsiteX30" fmla="*/ 4810095 w 6857455"/>
                <a:gd name="connsiteY30" fmla="*/ 408167 h 874716"/>
                <a:gd name="connsiteX31" fmla="*/ 4747991 w 6857455"/>
                <a:gd name="connsiteY31" fmla="*/ 413691 h 874716"/>
                <a:gd name="connsiteX32" fmla="*/ 4692745 w 6857455"/>
                <a:gd name="connsiteY32" fmla="*/ 435790 h 874716"/>
                <a:gd name="connsiteX33" fmla="*/ 4375933 w 6857455"/>
                <a:gd name="connsiteY33" fmla="*/ 483417 h 874716"/>
                <a:gd name="connsiteX34" fmla="*/ 4185426 w 6857455"/>
                <a:gd name="connsiteY34" fmla="*/ 484179 h 874716"/>
                <a:gd name="connsiteX35" fmla="*/ 4052072 w 6857455"/>
                <a:gd name="connsiteY35" fmla="*/ 505134 h 874716"/>
                <a:gd name="connsiteX36" fmla="*/ 4029973 w 6857455"/>
                <a:gd name="connsiteY36" fmla="*/ 527233 h 874716"/>
                <a:gd name="connsiteX37" fmla="*/ 3948626 w 6857455"/>
                <a:gd name="connsiteY37" fmla="*/ 550666 h 874716"/>
                <a:gd name="connsiteX38" fmla="*/ 3871280 w 6857455"/>
                <a:gd name="connsiteY38" fmla="*/ 502275 h 874716"/>
                <a:gd name="connsiteX39" fmla="*/ 3774312 w 6857455"/>
                <a:gd name="connsiteY39" fmla="*/ 429122 h 874716"/>
                <a:gd name="connsiteX40" fmla="*/ 3721543 w 6857455"/>
                <a:gd name="connsiteY40" fmla="*/ 428552 h 874716"/>
                <a:gd name="connsiteX41" fmla="*/ 3612763 w 6857455"/>
                <a:gd name="connsiteY41" fmla="*/ 414263 h 874716"/>
                <a:gd name="connsiteX42" fmla="*/ 3537323 w 6857455"/>
                <a:gd name="connsiteY42" fmla="*/ 389878 h 874716"/>
                <a:gd name="connsiteX43" fmla="*/ 3431593 w 6857455"/>
                <a:gd name="connsiteY43" fmla="*/ 360921 h 874716"/>
                <a:gd name="connsiteX44" fmla="*/ 3392158 w 6857455"/>
                <a:gd name="connsiteY44" fmla="*/ 345681 h 874716"/>
                <a:gd name="connsiteX45" fmla="*/ 3297856 w 6857455"/>
                <a:gd name="connsiteY45" fmla="*/ 323010 h 874716"/>
                <a:gd name="connsiteX46" fmla="*/ 3219748 w 6857455"/>
                <a:gd name="connsiteY46" fmla="*/ 308151 h 874716"/>
                <a:gd name="connsiteX47" fmla="*/ 3156692 w 6857455"/>
                <a:gd name="connsiteY47" fmla="*/ 261668 h 874716"/>
                <a:gd name="connsiteX48" fmla="*/ 3136497 w 6857455"/>
                <a:gd name="connsiteY48" fmla="*/ 237663 h 874716"/>
                <a:gd name="connsiteX49" fmla="*/ 3119733 w 6857455"/>
                <a:gd name="connsiteY49" fmla="*/ 222233 h 874716"/>
                <a:gd name="connsiteX50" fmla="*/ 3045436 w 6857455"/>
                <a:gd name="connsiteY50" fmla="*/ 131742 h 874716"/>
                <a:gd name="connsiteX51" fmla="*/ 3037054 w 6857455"/>
                <a:gd name="connsiteY51" fmla="*/ 124121 h 874716"/>
                <a:gd name="connsiteX52" fmla="*/ 2936466 w 6857455"/>
                <a:gd name="connsiteY52" fmla="*/ 82400 h 874716"/>
                <a:gd name="connsiteX53" fmla="*/ 2901031 w 6857455"/>
                <a:gd name="connsiteY53" fmla="*/ 59731 h 874716"/>
                <a:gd name="connsiteX54" fmla="*/ 2828259 w 6857455"/>
                <a:gd name="connsiteY54" fmla="*/ 3149 h 874716"/>
                <a:gd name="connsiteX55" fmla="*/ 2799492 w 6857455"/>
                <a:gd name="connsiteY55" fmla="*/ 1245 h 874716"/>
                <a:gd name="connsiteX56" fmla="*/ 2693570 w 6857455"/>
                <a:gd name="connsiteY56" fmla="*/ 35154 h 874716"/>
                <a:gd name="connsiteX57" fmla="*/ 2639847 w 6857455"/>
                <a:gd name="connsiteY57" fmla="*/ 73448 h 874716"/>
                <a:gd name="connsiteX58" fmla="*/ 2621178 w 6857455"/>
                <a:gd name="connsiteY58" fmla="*/ 88688 h 874716"/>
                <a:gd name="connsiteX59" fmla="*/ 2489348 w 6857455"/>
                <a:gd name="connsiteY59" fmla="*/ 72304 h 874716"/>
                <a:gd name="connsiteX60" fmla="*/ 2452580 w 6857455"/>
                <a:gd name="connsiteY60" fmla="*/ 68683 h 874716"/>
                <a:gd name="connsiteX61" fmla="*/ 2326464 w 6857455"/>
                <a:gd name="connsiteY61" fmla="*/ 50395 h 874716"/>
                <a:gd name="connsiteX62" fmla="*/ 2300365 w 6857455"/>
                <a:gd name="connsiteY62" fmla="*/ 54777 h 874716"/>
                <a:gd name="connsiteX63" fmla="*/ 2130434 w 6857455"/>
                <a:gd name="connsiteY63" fmla="*/ 58397 h 874716"/>
                <a:gd name="connsiteX64" fmla="*/ 2118621 w 6857455"/>
                <a:gd name="connsiteY64" fmla="*/ 47919 h 874716"/>
                <a:gd name="connsiteX65" fmla="*/ 2057659 w 6857455"/>
                <a:gd name="connsiteY65" fmla="*/ 16866 h 874716"/>
                <a:gd name="connsiteX66" fmla="*/ 1976314 w 6857455"/>
                <a:gd name="connsiteY66" fmla="*/ 8865 h 874716"/>
                <a:gd name="connsiteX67" fmla="*/ 1961454 w 6857455"/>
                <a:gd name="connsiteY67" fmla="*/ 11724 h 874716"/>
                <a:gd name="connsiteX68" fmla="*/ 1906588 w 6857455"/>
                <a:gd name="connsiteY68" fmla="*/ 30964 h 874716"/>
                <a:gd name="connsiteX69" fmla="*/ 1783330 w 6857455"/>
                <a:gd name="connsiteY69" fmla="*/ 48871 h 874716"/>
                <a:gd name="connsiteX70" fmla="*/ 1759327 w 6857455"/>
                <a:gd name="connsiteY70" fmla="*/ 55349 h 874716"/>
                <a:gd name="connsiteX71" fmla="*/ 1716082 w 6857455"/>
                <a:gd name="connsiteY71" fmla="*/ 65445 h 874716"/>
                <a:gd name="connsiteX72" fmla="*/ 1598920 w 6857455"/>
                <a:gd name="connsiteY72" fmla="*/ 72114 h 874716"/>
                <a:gd name="connsiteX73" fmla="*/ 1542150 w 6857455"/>
                <a:gd name="connsiteY73" fmla="*/ 62207 h 874716"/>
                <a:gd name="connsiteX74" fmla="*/ 1516813 w 6857455"/>
                <a:gd name="connsiteY74" fmla="*/ 62779 h 874716"/>
                <a:gd name="connsiteX75" fmla="*/ 1432228 w 6857455"/>
                <a:gd name="connsiteY75" fmla="*/ 88116 h 874716"/>
                <a:gd name="connsiteX76" fmla="*/ 1224765 w 6857455"/>
                <a:gd name="connsiteY76" fmla="*/ 71924 h 874716"/>
                <a:gd name="connsiteX77" fmla="*/ 1159231 w 6857455"/>
                <a:gd name="connsiteY77" fmla="*/ 58207 h 874716"/>
                <a:gd name="connsiteX78" fmla="*/ 1124370 w 6857455"/>
                <a:gd name="connsiteY78" fmla="*/ 56301 h 874716"/>
                <a:gd name="connsiteX79" fmla="*/ 1075600 w 6857455"/>
                <a:gd name="connsiteY79" fmla="*/ 75542 h 874716"/>
                <a:gd name="connsiteX80" fmla="*/ 986633 w 6857455"/>
                <a:gd name="connsiteY80" fmla="*/ 79162 h 874716"/>
                <a:gd name="connsiteX81" fmla="*/ 861089 w 6857455"/>
                <a:gd name="connsiteY81" fmla="*/ 76304 h 874716"/>
                <a:gd name="connsiteX82" fmla="*/ 759168 w 6857455"/>
                <a:gd name="connsiteY82" fmla="*/ 104689 h 874716"/>
                <a:gd name="connsiteX83" fmla="*/ 723735 w 6857455"/>
                <a:gd name="connsiteY83" fmla="*/ 140696 h 874716"/>
                <a:gd name="connsiteX84" fmla="*/ 647532 w 6857455"/>
                <a:gd name="connsiteY84" fmla="*/ 147934 h 874716"/>
                <a:gd name="connsiteX85" fmla="*/ 552659 w 6857455"/>
                <a:gd name="connsiteY85" fmla="*/ 95926 h 874716"/>
                <a:gd name="connsiteX86" fmla="*/ 541800 w 6857455"/>
                <a:gd name="connsiteY86" fmla="*/ 97640 h 874716"/>
                <a:gd name="connsiteX87" fmla="*/ 375107 w 6857455"/>
                <a:gd name="connsiteY87" fmla="*/ 123169 h 874716"/>
                <a:gd name="connsiteX88" fmla="*/ 273567 w 6857455"/>
                <a:gd name="connsiteY88" fmla="*/ 145458 h 874716"/>
                <a:gd name="connsiteX89" fmla="*/ 264043 w 6857455"/>
                <a:gd name="connsiteY89" fmla="*/ 154792 h 874716"/>
                <a:gd name="connsiteX90" fmla="*/ 169360 w 6857455"/>
                <a:gd name="connsiteY90" fmla="*/ 177273 h 874716"/>
                <a:gd name="connsiteX91" fmla="*/ 89347 w 6857455"/>
                <a:gd name="connsiteY91" fmla="*/ 157460 h 874716"/>
                <a:gd name="connsiteX92" fmla="*/ 34291 w 6857455"/>
                <a:gd name="connsiteY92" fmla="*/ 145268 h 874716"/>
                <a:gd name="connsiteX93" fmla="*/ 0 w 6857455"/>
                <a:gd name="connsiteY93" fmla="*/ 142056 h 874716"/>
                <a:gd name="connsiteX94" fmla="*/ 0 w 6857455"/>
                <a:gd name="connsiteY94" fmla="*/ 849556 h 874716"/>
                <a:gd name="connsiteX95" fmla="*/ 60652 w 6857455"/>
                <a:gd name="connsiteY95" fmla="*/ 844783 h 874716"/>
                <a:gd name="connsiteX96" fmla="*/ 119068 w 6857455"/>
                <a:gd name="connsiteY96" fmla="*/ 827281 h 874716"/>
                <a:gd name="connsiteX97" fmla="*/ 171840 w 6857455"/>
                <a:gd name="connsiteY97" fmla="*/ 804420 h 874716"/>
                <a:gd name="connsiteX98" fmla="*/ 274329 w 6857455"/>
                <a:gd name="connsiteY98" fmla="*/ 794324 h 874716"/>
                <a:gd name="connsiteX99" fmla="*/ 306715 w 6857455"/>
                <a:gd name="connsiteY99" fmla="*/ 788798 h 874716"/>
                <a:gd name="connsiteX100" fmla="*/ 393967 w 6857455"/>
                <a:gd name="connsiteY100" fmla="*/ 765937 h 874716"/>
                <a:gd name="connsiteX101" fmla="*/ 493793 w 6857455"/>
                <a:gd name="connsiteY101" fmla="*/ 725549 h 874716"/>
                <a:gd name="connsiteX102" fmla="*/ 546373 w 6857455"/>
                <a:gd name="connsiteY102" fmla="*/ 740600 h 874716"/>
                <a:gd name="connsiteX103" fmla="*/ 730211 w 6857455"/>
                <a:gd name="connsiteY103" fmla="*/ 698116 h 874716"/>
                <a:gd name="connsiteX104" fmla="*/ 784889 w 6857455"/>
                <a:gd name="connsiteY104" fmla="*/ 676018 h 874716"/>
                <a:gd name="connsiteX105" fmla="*/ 800509 w 6857455"/>
                <a:gd name="connsiteY105" fmla="*/ 661349 h 874716"/>
                <a:gd name="connsiteX106" fmla="*/ 857661 w 6857455"/>
                <a:gd name="connsiteY106" fmla="*/ 626868 h 874716"/>
                <a:gd name="connsiteX107" fmla="*/ 949102 w 6857455"/>
                <a:gd name="connsiteY107" fmla="*/ 614676 h 874716"/>
                <a:gd name="connsiteX108" fmla="*/ 960342 w 6857455"/>
                <a:gd name="connsiteY108" fmla="*/ 607435 h 874716"/>
                <a:gd name="connsiteX109" fmla="*/ 977109 w 6857455"/>
                <a:gd name="connsiteY109" fmla="*/ 595815 h 874716"/>
                <a:gd name="connsiteX110" fmla="*/ 1071218 w 6857455"/>
                <a:gd name="connsiteY110" fmla="*/ 575240 h 874716"/>
                <a:gd name="connsiteX111" fmla="*/ 1091983 w 6857455"/>
                <a:gd name="connsiteY111" fmla="*/ 568764 h 874716"/>
                <a:gd name="connsiteX112" fmla="*/ 1109321 w 6857455"/>
                <a:gd name="connsiteY112" fmla="*/ 557904 h 874716"/>
                <a:gd name="connsiteX113" fmla="*/ 1162279 w 6857455"/>
                <a:gd name="connsiteY113" fmla="*/ 532949 h 874716"/>
                <a:gd name="connsiteX114" fmla="*/ 1206097 w 6857455"/>
                <a:gd name="connsiteY114" fmla="*/ 532187 h 874716"/>
                <a:gd name="connsiteX115" fmla="*/ 1266867 w 6857455"/>
                <a:gd name="connsiteY115" fmla="*/ 518088 h 874716"/>
                <a:gd name="connsiteX116" fmla="*/ 1380219 w 6857455"/>
                <a:gd name="connsiteY116" fmla="*/ 504182 h 874716"/>
                <a:gd name="connsiteX117" fmla="*/ 1403461 w 6857455"/>
                <a:gd name="connsiteY117" fmla="*/ 496180 h 874716"/>
                <a:gd name="connsiteX118" fmla="*/ 1544054 w 6857455"/>
                <a:gd name="connsiteY118" fmla="*/ 458268 h 874716"/>
                <a:gd name="connsiteX119" fmla="*/ 1656644 w 6857455"/>
                <a:gd name="connsiteY119" fmla="*/ 459032 h 874716"/>
                <a:gd name="connsiteX120" fmla="*/ 1665406 w 6857455"/>
                <a:gd name="connsiteY120" fmla="*/ 460747 h 874716"/>
                <a:gd name="connsiteX121" fmla="*/ 1708461 w 6857455"/>
                <a:gd name="connsiteY121" fmla="*/ 473318 h 874716"/>
                <a:gd name="connsiteX122" fmla="*/ 1775140 w 6857455"/>
                <a:gd name="connsiteY122" fmla="*/ 469891 h 874716"/>
                <a:gd name="connsiteX123" fmla="*/ 1821051 w 6857455"/>
                <a:gd name="connsiteY123" fmla="*/ 452554 h 874716"/>
                <a:gd name="connsiteX124" fmla="*/ 1878203 w 6857455"/>
                <a:gd name="connsiteY124" fmla="*/ 451792 h 874716"/>
                <a:gd name="connsiteX125" fmla="*/ 1943547 w 6857455"/>
                <a:gd name="connsiteY125" fmla="*/ 462651 h 874716"/>
                <a:gd name="connsiteX126" fmla="*/ 1972884 w 6857455"/>
                <a:gd name="connsiteY126" fmla="*/ 464937 h 874716"/>
                <a:gd name="connsiteX127" fmla="*/ 2053469 w 6857455"/>
                <a:gd name="connsiteY127" fmla="*/ 487417 h 874716"/>
                <a:gd name="connsiteX128" fmla="*/ 2101477 w 6857455"/>
                <a:gd name="connsiteY128" fmla="*/ 481893 h 874716"/>
                <a:gd name="connsiteX129" fmla="*/ 2148722 w 6857455"/>
                <a:gd name="connsiteY129" fmla="*/ 467033 h 874716"/>
                <a:gd name="connsiteX130" fmla="*/ 2179011 w 6857455"/>
                <a:gd name="connsiteY130" fmla="*/ 452744 h 874716"/>
                <a:gd name="connsiteX131" fmla="*/ 2240165 w 6857455"/>
                <a:gd name="connsiteY131" fmla="*/ 442648 h 874716"/>
                <a:gd name="connsiteX132" fmla="*/ 2251404 w 6857455"/>
                <a:gd name="connsiteY132" fmla="*/ 444172 h 874716"/>
                <a:gd name="connsiteX133" fmla="*/ 2433912 w 6857455"/>
                <a:gd name="connsiteY133" fmla="*/ 456746 h 874716"/>
                <a:gd name="connsiteX134" fmla="*/ 2506302 w 6857455"/>
                <a:gd name="connsiteY134" fmla="*/ 476939 h 874716"/>
                <a:gd name="connsiteX135" fmla="*/ 2521735 w 6857455"/>
                <a:gd name="connsiteY135" fmla="*/ 479415 h 874716"/>
                <a:gd name="connsiteX136" fmla="*/ 2675854 w 6857455"/>
                <a:gd name="connsiteY136" fmla="*/ 502086 h 874716"/>
                <a:gd name="connsiteX137" fmla="*/ 2692998 w 6857455"/>
                <a:gd name="connsiteY137" fmla="*/ 503038 h 874716"/>
                <a:gd name="connsiteX138" fmla="*/ 2740816 w 6857455"/>
                <a:gd name="connsiteY138" fmla="*/ 499037 h 874716"/>
                <a:gd name="connsiteX139" fmla="*/ 2853596 w 6857455"/>
                <a:gd name="connsiteY139" fmla="*/ 540187 h 874716"/>
                <a:gd name="connsiteX140" fmla="*/ 2966565 w 6857455"/>
                <a:gd name="connsiteY140" fmla="*/ 554286 h 874716"/>
                <a:gd name="connsiteX141" fmla="*/ 3028671 w 6857455"/>
                <a:gd name="connsiteY141" fmla="*/ 554094 h 874716"/>
                <a:gd name="connsiteX142" fmla="*/ 3073059 w 6857455"/>
                <a:gd name="connsiteY142" fmla="*/ 564192 h 874716"/>
                <a:gd name="connsiteX143" fmla="*/ 3182219 w 6857455"/>
                <a:gd name="connsiteY143" fmla="*/ 594862 h 874716"/>
                <a:gd name="connsiteX144" fmla="*/ 3233656 w 6857455"/>
                <a:gd name="connsiteY144" fmla="*/ 599625 h 874716"/>
                <a:gd name="connsiteX145" fmla="*/ 3288332 w 6857455"/>
                <a:gd name="connsiteY145" fmla="*/ 609914 h 874716"/>
                <a:gd name="connsiteX146" fmla="*/ 3423591 w 6857455"/>
                <a:gd name="connsiteY146" fmla="*/ 656015 h 874716"/>
                <a:gd name="connsiteX147" fmla="*/ 3534084 w 6857455"/>
                <a:gd name="connsiteY147" fmla="*/ 653349 h 874716"/>
                <a:gd name="connsiteX148" fmla="*/ 3604571 w 6857455"/>
                <a:gd name="connsiteY148" fmla="*/ 653918 h 874716"/>
                <a:gd name="connsiteX149" fmla="*/ 3688586 w 6857455"/>
                <a:gd name="connsiteY149" fmla="*/ 669160 h 874716"/>
                <a:gd name="connsiteX150" fmla="*/ 3757358 w 6857455"/>
                <a:gd name="connsiteY150" fmla="*/ 691450 h 874716"/>
                <a:gd name="connsiteX151" fmla="*/ 3852421 w 6857455"/>
                <a:gd name="connsiteY151" fmla="*/ 709167 h 874716"/>
                <a:gd name="connsiteX152" fmla="*/ 3947104 w 6857455"/>
                <a:gd name="connsiteY152" fmla="*/ 743267 h 874716"/>
                <a:gd name="connsiteX153" fmla="*/ 4013208 w 6857455"/>
                <a:gd name="connsiteY153" fmla="*/ 769367 h 874716"/>
                <a:gd name="connsiteX154" fmla="*/ 4105222 w 6857455"/>
                <a:gd name="connsiteY154" fmla="*/ 792417 h 874716"/>
                <a:gd name="connsiteX155" fmla="*/ 4246006 w 6857455"/>
                <a:gd name="connsiteY155" fmla="*/ 808610 h 874716"/>
                <a:gd name="connsiteX156" fmla="*/ 4310779 w 6857455"/>
                <a:gd name="connsiteY156" fmla="*/ 810326 h 874716"/>
                <a:gd name="connsiteX157" fmla="*/ 4413272 w 6857455"/>
                <a:gd name="connsiteY157" fmla="*/ 848235 h 874716"/>
                <a:gd name="connsiteX158" fmla="*/ 4457087 w 6857455"/>
                <a:gd name="connsiteY158" fmla="*/ 866524 h 874716"/>
                <a:gd name="connsiteX159" fmla="*/ 4496523 w 6857455"/>
                <a:gd name="connsiteY159" fmla="*/ 851284 h 874716"/>
                <a:gd name="connsiteX160" fmla="*/ 4522050 w 6857455"/>
                <a:gd name="connsiteY160" fmla="*/ 833757 h 874716"/>
                <a:gd name="connsiteX161" fmla="*/ 4602824 w 6857455"/>
                <a:gd name="connsiteY161" fmla="*/ 848618 h 874716"/>
                <a:gd name="connsiteX162" fmla="*/ 4688553 w 6857455"/>
                <a:gd name="connsiteY162" fmla="*/ 864238 h 874716"/>
                <a:gd name="connsiteX163" fmla="*/ 4749895 w 6857455"/>
                <a:gd name="connsiteY163" fmla="*/ 874716 h 874716"/>
                <a:gd name="connsiteX164" fmla="*/ 4826480 w 6857455"/>
                <a:gd name="connsiteY164" fmla="*/ 866334 h 874716"/>
                <a:gd name="connsiteX165" fmla="*/ 4886870 w 6857455"/>
                <a:gd name="connsiteY165" fmla="*/ 862906 h 874716"/>
                <a:gd name="connsiteX166" fmla="*/ 4935639 w 6857455"/>
                <a:gd name="connsiteY166" fmla="*/ 853190 h 874716"/>
                <a:gd name="connsiteX167" fmla="*/ 4952784 w 6857455"/>
                <a:gd name="connsiteY167" fmla="*/ 847473 h 874716"/>
                <a:gd name="connsiteX168" fmla="*/ 5088617 w 6857455"/>
                <a:gd name="connsiteY168" fmla="*/ 802896 h 874716"/>
                <a:gd name="connsiteX169" fmla="*/ 5233781 w 6857455"/>
                <a:gd name="connsiteY169" fmla="*/ 767271 h 874716"/>
                <a:gd name="connsiteX170" fmla="*/ 5327893 w 6857455"/>
                <a:gd name="connsiteY170" fmla="*/ 789752 h 874716"/>
                <a:gd name="connsiteX171" fmla="*/ 5362946 w 6857455"/>
                <a:gd name="connsiteY171" fmla="*/ 789370 h 874716"/>
                <a:gd name="connsiteX172" fmla="*/ 5524115 w 6857455"/>
                <a:gd name="connsiteY172" fmla="*/ 794514 h 874716"/>
                <a:gd name="connsiteX173" fmla="*/ 5552500 w 6857455"/>
                <a:gd name="connsiteY173" fmla="*/ 800038 h 874716"/>
                <a:gd name="connsiteX174" fmla="*/ 5705857 w 6857455"/>
                <a:gd name="connsiteY174" fmla="*/ 777367 h 874716"/>
                <a:gd name="connsiteX175" fmla="*/ 5761485 w 6857455"/>
                <a:gd name="connsiteY175" fmla="*/ 773557 h 874716"/>
                <a:gd name="connsiteX176" fmla="*/ 5812731 w 6857455"/>
                <a:gd name="connsiteY176" fmla="*/ 767271 h 874716"/>
                <a:gd name="connsiteX177" fmla="*/ 5884361 w 6857455"/>
                <a:gd name="connsiteY177" fmla="*/ 765747 h 874716"/>
                <a:gd name="connsiteX178" fmla="*/ 5958660 w 6857455"/>
                <a:gd name="connsiteY178" fmla="*/ 768605 h 874716"/>
                <a:gd name="connsiteX179" fmla="*/ 6041528 w 6857455"/>
                <a:gd name="connsiteY179" fmla="*/ 768033 h 874716"/>
                <a:gd name="connsiteX180" fmla="*/ 6074297 w 6857455"/>
                <a:gd name="connsiteY180" fmla="*/ 763081 h 874716"/>
                <a:gd name="connsiteX181" fmla="*/ 6162880 w 6857455"/>
                <a:gd name="connsiteY181" fmla="*/ 766509 h 874716"/>
                <a:gd name="connsiteX182" fmla="*/ 6209364 w 6857455"/>
                <a:gd name="connsiteY182" fmla="*/ 760795 h 874716"/>
                <a:gd name="connsiteX183" fmla="*/ 6285948 w 6857455"/>
                <a:gd name="connsiteY183" fmla="*/ 759651 h 874716"/>
                <a:gd name="connsiteX184" fmla="*/ 6310905 w 6857455"/>
                <a:gd name="connsiteY184" fmla="*/ 758316 h 874716"/>
                <a:gd name="connsiteX185" fmla="*/ 6333194 w 6857455"/>
                <a:gd name="connsiteY185" fmla="*/ 757554 h 874716"/>
                <a:gd name="connsiteX186" fmla="*/ 6409586 w 6857455"/>
                <a:gd name="connsiteY186" fmla="*/ 773177 h 874716"/>
                <a:gd name="connsiteX187" fmla="*/ 6477407 w 6857455"/>
                <a:gd name="connsiteY187" fmla="*/ 774129 h 874716"/>
                <a:gd name="connsiteX188" fmla="*/ 6596283 w 6857455"/>
                <a:gd name="connsiteY188" fmla="*/ 786703 h 874716"/>
                <a:gd name="connsiteX189" fmla="*/ 6622573 w 6857455"/>
                <a:gd name="connsiteY189" fmla="*/ 782321 h 874716"/>
                <a:gd name="connsiteX190" fmla="*/ 6704872 w 6857455"/>
                <a:gd name="connsiteY190" fmla="*/ 780607 h 874716"/>
                <a:gd name="connsiteX191" fmla="*/ 6751738 w 6857455"/>
                <a:gd name="connsiteY191" fmla="*/ 779273 h 874716"/>
                <a:gd name="connsiteX192" fmla="*/ 6809650 w 6857455"/>
                <a:gd name="connsiteY192" fmla="*/ 788417 h 874716"/>
                <a:gd name="connsiteX193" fmla="*/ 6832976 w 6857455"/>
                <a:gd name="connsiteY193" fmla="*/ 800428 h 8747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</a:cxnLst>
              <a:rect l="l" t="t" r="r" b="b"/>
              <a:pathLst>
                <a:path w="6857455" h="874716">
                  <a:moveTo>
                    <a:pt x="6857455" y="804643"/>
                  </a:moveTo>
                  <a:lnTo>
                    <a:pt x="6857455" y="562246"/>
                  </a:lnTo>
                  <a:lnTo>
                    <a:pt x="6829178" y="551284"/>
                  </a:lnTo>
                  <a:cubicBezTo>
                    <a:pt x="6805745" y="539044"/>
                    <a:pt x="6784885" y="521708"/>
                    <a:pt x="6766024" y="500372"/>
                  </a:cubicBezTo>
                  <a:cubicBezTo>
                    <a:pt x="6755166" y="488179"/>
                    <a:pt x="6746784" y="486845"/>
                    <a:pt x="6734971" y="500944"/>
                  </a:cubicBezTo>
                  <a:cubicBezTo>
                    <a:pt x="6721257" y="517326"/>
                    <a:pt x="6701634" y="510850"/>
                    <a:pt x="6683915" y="507040"/>
                  </a:cubicBezTo>
                  <a:cubicBezTo>
                    <a:pt x="6665629" y="503230"/>
                    <a:pt x="6647148" y="499228"/>
                    <a:pt x="6628860" y="495418"/>
                  </a:cubicBezTo>
                  <a:cubicBezTo>
                    <a:pt x="6615335" y="492752"/>
                    <a:pt x="6601999" y="490466"/>
                    <a:pt x="6588662" y="487227"/>
                  </a:cubicBezTo>
                  <a:cubicBezTo>
                    <a:pt x="6547133" y="477129"/>
                    <a:pt x="6509794" y="480177"/>
                    <a:pt x="6476074" y="511230"/>
                  </a:cubicBezTo>
                  <a:cubicBezTo>
                    <a:pt x="6450356" y="535043"/>
                    <a:pt x="6417399" y="542093"/>
                    <a:pt x="6382345" y="534853"/>
                  </a:cubicBezTo>
                  <a:cubicBezTo>
                    <a:pt x="6377963" y="533901"/>
                    <a:pt x="6372439" y="530091"/>
                    <a:pt x="6369391" y="531615"/>
                  </a:cubicBezTo>
                  <a:cubicBezTo>
                    <a:pt x="6323479" y="553904"/>
                    <a:pt x="6287092" y="514658"/>
                    <a:pt x="6244799" y="512182"/>
                  </a:cubicBezTo>
                  <a:cubicBezTo>
                    <a:pt x="6226130" y="511040"/>
                    <a:pt x="6207079" y="496942"/>
                    <a:pt x="6190315" y="485703"/>
                  </a:cubicBezTo>
                  <a:cubicBezTo>
                    <a:pt x="6167262" y="470271"/>
                    <a:pt x="6146687" y="455412"/>
                    <a:pt x="6115446" y="462270"/>
                  </a:cubicBezTo>
                  <a:cubicBezTo>
                    <a:pt x="6084203" y="469319"/>
                    <a:pt x="6055627" y="456364"/>
                    <a:pt x="6032194" y="434266"/>
                  </a:cubicBezTo>
                  <a:cubicBezTo>
                    <a:pt x="6014287" y="417501"/>
                    <a:pt x="5994665" y="415977"/>
                    <a:pt x="5971042" y="420738"/>
                  </a:cubicBezTo>
                  <a:cubicBezTo>
                    <a:pt x="5941513" y="426645"/>
                    <a:pt x="5910842" y="427027"/>
                    <a:pt x="5880933" y="430646"/>
                  </a:cubicBezTo>
                  <a:cubicBezTo>
                    <a:pt x="5874454" y="431408"/>
                    <a:pt x="5866265" y="434076"/>
                    <a:pt x="5862452" y="438648"/>
                  </a:cubicBezTo>
                  <a:cubicBezTo>
                    <a:pt x="5815779" y="495418"/>
                    <a:pt x="5750055" y="495990"/>
                    <a:pt x="5685283" y="498658"/>
                  </a:cubicBezTo>
                  <a:cubicBezTo>
                    <a:pt x="5646039" y="500372"/>
                    <a:pt x="5606604" y="500372"/>
                    <a:pt x="5567169" y="499420"/>
                  </a:cubicBezTo>
                  <a:cubicBezTo>
                    <a:pt x="5553832" y="499228"/>
                    <a:pt x="5539736" y="496180"/>
                    <a:pt x="5527923" y="490466"/>
                  </a:cubicBezTo>
                  <a:cubicBezTo>
                    <a:pt x="5503348" y="478463"/>
                    <a:pt x="5480680" y="462843"/>
                    <a:pt x="5456292" y="450650"/>
                  </a:cubicBezTo>
                  <a:cubicBezTo>
                    <a:pt x="5447151" y="445886"/>
                    <a:pt x="5435338" y="445696"/>
                    <a:pt x="5424670" y="444934"/>
                  </a:cubicBezTo>
                  <a:cubicBezTo>
                    <a:pt x="5405809" y="443410"/>
                    <a:pt x="5384854" y="447982"/>
                    <a:pt x="5368662" y="441124"/>
                  </a:cubicBezTo>
                  <a:cubicBezTo>
                    <a:pt x="5326559" y="423407"/>
                    <a:pt x="5287123" y="427407"/>
                    <a:pt x="5247118" y="444934"/>
                  </a:cubicBezTo>
                  <a:cubicBezTo>
                    <a:pt x="5191108" y="469509"/>
                    <a:pt x="5138148" y="467605"/>
                    <a:pt x="5088617" y="428742"/>
                  </a:cubicBezTo>
                  <a:cubicBezTo>
                    <a:pt x="5066328" y="411215"/>
                    <a:pt x="5044609" y="419596"/>
                    <a:pt x="5025750" y="433694"/>
                  </a:cubicBezTo>
                  <a:cubicBezTo>
                    <a:pt x="5004032" y="450078"/>
                    <a:pt x="4982885" y="454268"/>
                    <a:pt x="4957930" y="442268"/>
                  </a:cubicBezTo>
                  <a:cubicBezTo>
                    <a:pt x="4952404" y="439600"/>
                    <a:pt x="4944594" y="440933"/>
                    <a:pt x="4938116" y="441886"/>
                  </a:cubicBezTo>
                  <a:cubicBezTo>
                    <a:pt x="4901158" y="446648"/>
                    <a:pt x="4864009" y="454650"/>
                    <a:pt x="4833910" y="421693"/>
                  </a:cubicBezTo>
                  <a:cubicBezTo>
                    <a:pt x="4828004" y="415214"/>
                    <a:pt x="4818097" y="412549"/>
                    <a:pt x="4810095" y="408167"/>
                  </a:cubicBezTo>
                  <a:cubicBezTo>
                    <a:pt x="4776566" y="390258"/>
                    <a:pt x="4777900" y="391974"/>
                    <a:pt x="4747991" y="413691"/>
                  </a:cubicBezTo>
                  <a:cubicBezTo>
                    <a:pt x="4732369" y="425121"/>
                    <a:pt x="4710842" y="436742"/>
                    <a:pt x="4692745" y="435790"/>
                  </a:cubicBezTo>
                  <a:cubicBezTo>
                    <a:pt x="4583584" y="430075"/>
                    <a:pt x="4479758" y="457508"/>
                    <a:pt x="4375933" y="483417"/>
                  </a:cubicBezTo>
                  <a:cubicBezTo>
                    <a:pt x="4311923" y="499420"/>
                    <a:pt x="4249436" y="500372"/>
                    <a:pt x="4185426" y="484179"/>
                  </a:cubicBezTo>
                  <a:cubicBezTo>
                    <a:pt x="4139133" y="472367"/>
                    <a:pt x="4095315" y="491800"/>
                    <a:pt x="4052072" y="505134"/>
                  </a:cubicBezTo>
                  <a:cubicBezTo>
                    <a:pt x="4043117" y="507799"/>
                    <a:pt x="4034735" y="518278"/>
                    <a:pt x="4029973" y="527233"/>
                  </a:cubicBezTo>
                  <a:cubicBezTo>
                    <a:pt x="4012826" y="558858"/>
                    <a:pt x="3984441" y="563810"/>
                    <a:pt x="3948626" y="550666"/>
                  </a:cubicBezTo>
                  <a:cubicBezTo>
                    <a:pt x="3920241" y="540377"/>
                    <a:pt x="3894332" y="526661"/>
                    <a:pt x="3871280" y="502275"/>
                  </a:cubicBezTo>
                  <a:cubicBezTo>
                    <a:pt x="3844229" y="473701"/>
                    <a:pt x="3816224" y="441124"/>
                    <a:pt x="3774312" y="429122"/>
                  </a:cubicBezTo>
                  <a:cubicBezTo>
                    <a:pt x="3756214" y="423979"/>
                    <a:pt x="3740593" y="423217"/>
                    <a:pt x="3721543" y="428552"/>
                  </a:cubicBezTo>
                  <a:cubicBezTo>
                    <a:pt x="3684583" y="438837"/>
                    <a:pt x="3647436" y="446078"/>
                    <a:pt x="3612763" y="414263"/>
                  </a:cubicBezTo>
                  <a:cubicBezTo>
                    <a:pt x="3593712" y="396736"/>
                    <a:pt x="3567994" y="385496"/>
                    <a:pt x="3537323" y="389878"/>
                  </a:cubicBezTo>
                  <a:cubicBezTo>
                    <a:pt x="3499031" y="395402"/>
                    <a:pt x="3464168" y="381496"/>
                    <a:pt x="3431593" y="360921"/>
                  </a:cubicBezTo>
                  <a:cubicBezTo>
                    <a:pt x="3419971" y="353491"/>
                    <a:pt x="3405682" y="349301"/>
                    <a:pt x="3392158" y="345681"/>
                  </a:cubicBezTo>
                  <a:cubicBezTo>
                    <a:pt x="3360915" y="337298"/>
                    <a:pt x="3329480" y="329868"/>
                    <a:pt x="3297856" y="323010"/>
                  </a:cubicBezTo>
                  <a:cubicBezTo>
                    <a:pt x="3271948" y="317296"/>
                    <a:pt x="3245849" y="313104"/>
                    <a:pt x="3219748" y="308151"/>
                  </a:cubicBezTo>
                  <a:cubicBezTo>
                    <a:pt x="3191173" y="302817"/>
                    <a:pt x="3168502" y="290433"/>
                    <a:pt x="3156692" y="261668"/>
                  </a:cubicBezTo>
                  <a:cubicBezTo>
                    <a:pt x="3152882" y="252524"/>
                    <a:pt x="3143737" y="245283"/>
                    <a:pt x="3136497" y="237663"/>
                  </a:cubicBezTo>
                  <a:cubicBezTo>
                    <a:pt x="3131355" y="232139"/>
                    <a:pt x="3124495" y="227947"/>
                    <a:pt x="3119733" y="222233"/>
                  </a:cubicBezTo>
                  <a:cubicBezTo>
                    <a:pt x="3094776" y="192132"/>
                    <a:pt x="3070201" y="161843"/>
                    <a:pt x="3045436" y="131742"/>
                  </a:cubicBezTo>
                  <a:cubicBezTo>
                    <a:pt x="3042958" y="128884"/>
                    <a:pt x="3040292" y="125455"/>
                    <a:pt x="3037054" y="124121"/>
                  </a:cubicBezTo>
                  <a:cubicBezTo>
                    <a:pt x="3003525" y="110215"/>
                    <a:pt x="2969614" y="97070"/>
                    <a:pt x="2936466" y="82400"/>
                  </a:cubicBezTo>
                  <a:cubicBezTo>
                    <a:pt x="2923702" y="76686"/>
                    <a:pt x="2910558" y="69637"/>
                    <a:pt x="2901031" y="59731"/>
                  </a:cubicBezTo>
                  <a:cubicBezTo>
                    <a:pt x="2879314" y="37250"/>
                    <a:pt x="2859502" y="12866"/>
                    <a:pt x="2828259" y="3149"/>
                  </a:cubicBezTo>
                  <a:cubicBezTo>
                    <a:pt x="2819114" y="293"/>
                    <a:pt x="2808256" y="-1231"/>
                    <a:pt x="2799492" y="1245"/>
                  </a:cubicBezTo>
                  <a:cubicBezTo>
                    <a:pt x="2763867" y="11532"/>
                    <a:pt x="2729005" y="24296"/>
                    <a:pt x="2693570" y="35154"/>
                  </a:cubicBezTo>
                  <a:cubicBezTo>
                    <a:pt x="2671092" y="41823"/>
                    <a:pt x="2650707" y="49825"/>
                    <a:pt x="2639847" y="73448"/>
                  </a:cubicBezTo>
                  <a:cubicBezTo>
                    <a:pt x="2636801" y="80114"/>
                    <a:pt x="2628226" y="87354"/>
                    <a:pt x="2621178" y="88688"/>
                  </a:cubicBezTo>
                  <a:cubicBezTo>
                    <a:pt x="2575839" y="97260"/>
                    <a:pt x="2531069" y="101451"/>
                    <a:pt x="2489348" y="72304"/>
                  </a:cubicBezTo>
                  <a:cubicBezTo>
                    <a:pt x="2480585" y="66017"/>
                    <a:pt x="2464201" y="66017"/>
                    <a:pt x="2452580" y="68683"/>
                  </a:cubicBezTo>
                  <a:cubicBezTo>
                    <a:pt x="2407811" y="78590"/>
                    <a:pt x="2365328" y="82020"/>
                    <a:pt x="2326464" y="50395"/>
                  </a:cubicBezTo>
                  <a:cubicBezTo>
                    <a:pt x="2321892" y="46585"/>
                    <a:pt x="2307224" y="50015"/>
                    <a:pt x="2300365" y="54777"/>
                  </a:cubicBezTo>
                  <a:cubicBezTo>
                    <a:pt x="2234259" y="101261"/>
                    <a:pt x="2198064" y="102405"/>
                    <a:pt x="2130434" y="58397"/>
                  </a:cubicBezTo>
                  <a:cubicBezTo>
                    <a:pt x="2126052" y="55539"/>
                    <a:pt x="2120337" y="52301"/>
                    <a:pt x="2118621" y="47919"/>
                  </a:cubicBezTo>
                  <a:cubicBezTo>
                    <a:pt x="2107001" y="19914"/>
                    <a:pt x="2082236" y="19152"/>
                    <a:pt x="2057659" y="16866"/>
                  </a:cubicBezTo>
                  <a:cubicBezTo>
                    <a:pt x="2030608" y="14390"/>
                    <a:pt x="2003555" y="11152"/>
                    <a:pt x="1976314" y="8865"/>
                  </a:cubicBezTo>
                  <a:cubicBezTo>
                    <a:pt x="1971550" y="8483"/>
                    <a:pt x="1966216" y="10007"/>
                    <a:pt x="1961454" y="11724"/>
                  </a:cubicBezTo>
                  <a:cubicBezTo>
                    <a:pt x="1943165" y="18010"/>
                    <a:pt x="1925449" y="27154"/>
                    <a:pt x="1906588" y="30964"/>
                  </a:cubicBezTo>
                  <a:cubicBezTo>
                    <a:pt x="1865821" y="39156"/>
                    <a:pt x="1826385" y="55539"/>
                    <a:pt x="1783330" y="48871"/>
                  </a:cubicBezTo>
                  <a:cubicBezTo>
                    <a:pt x="1775902" y="47729"/>
                    <a:pt x="1767327" y="53253"/>
                    <a:pt x="1759327" y="55349"/>
                  </a:cubicBezTo>
                  <a:cubicBezTo>
                    <a:pt x="1744849" y="58969"/>
                    <a:pt x="1730750" y="64111"/>
                    <a:pt x="1716082" y="65445"/>
                  </a:cubicBezTo>
                  <a:cubicBezTo>
                    <a:pt x="1677218" y="68875"/>
                    <a:pt x="1637975" y="71924"/>
                    <a:pt x="1598920" y="72114"/>
                  </a:cubicBezTo>
                  <a:cubicBezTo>
                    <a:pt x="1580061" y="72304"/>
                    <a:pt x="1561201" y="65065"/>
                    <a:pt x="1542150" y="62207"/>
                  </a:cubicBezTo>
                  <a:cubicBezTo>
                    <a:pt x="1533578" y="60873"/>
                    <a:pt x="1519669" y="58587"/>
                    <a:pt x="1516813" y="62779"/>
                  </a:cubicBezTo>
                  <a:cubicBezTo>
                    <a:pt x="1494714" y="94592"/>
                    <a:pt x="1463661" y="88496"/>
                    <a:pt x="1432228" y="88116"/>
                  </a:cubicBezTo>
                  <a:cubicBezTo>
                    <a:pt x="1362884" y="87354"/>
                    <a:pt x="1295826" y="60493"/>
                    <a:pt x="1224765" y="71924"/>
                  </a:cubicBezTo>
                  <a:cubicBezTo>
                    <a:pt x="1204191" y="75162"/>
                    <a:pt x="1181330" y="62397"/>
                    <a:pt x="1159231" y="58207"/>
                  </a:cubicBezTo>
                  <a:cubicBezTo>
                    <a:pt x="1147801" y="56111"/>
                    <a:pt x="1135228" y="53633"/>
                    <a:pt x="1124370" y="56301"/>
                  </a:cubicBezTo>
                  <a:cubicBezTo>
                    <a:pt x="1107605" y="60493"/>
                    <a:pt x="1091411" y="68113"/>
                    <a:pt x="1075600" y="75542"/>
                  </a:cubicBezTo>
                  <a:cubicBezTo>
                    <a:pt x="1046261" y="89258"/>
                    <a:pt x="1016162" y="89258"/>
                    <a:pt x="986633" y="79162"/>
                  </a:cubicBezTo>
                  <a:cubicBezTo>
                    <a:pt x="944722" y="64873"/>
                    <a:pt x="903193" y="64873"/>
                    <a:pt x="861089" y="76304"/>
                  </a:cubicBezTo>
                  <a:cubicBezTo>
                    <a:pt x="826990" y="85638"/>
                    <a:pt x="791935" y="92116"/>
                    <a:pt x="759168" y="104689"/>
                  </a:cubicBezTo>
                  <a:cubicBezTo>
                    <a:pt x="744689" y="110215"/>
                    <a:pt x="732497" y="126597"/>
                    <a:pt x="723735" y="140696"/>
                  </a:cubicBezTo>
                  <a:cubicBezTo>
                    <a:pt x="706018" y="169271"/>
                    <a:pt x="674013" y="169081"/>
                    <a:pt x="647532" y="147934"/>
                  </a:cubicBezTo>
                  <a:cubicBezTo>
                    <a:pt x="619717" y="125645"/>
                    <a:pt x="584664" y="112501"/>
                    <a:pt x="552659" y="95926"/>
                  </a:cubicBezTo>
                  <a:cubicBezTo>
                    <a:pt x="549993" y="94592"/>
                    <a:pt x="545039" y="96116"/>
                    <a:pt x="541800" y="97640"/>
                  </a:cubicBezTo>
                  <a:cubicBezTo>
                    <a:pt x="488649" y="122407"/>
                    <a:pt x="433593" y="126979"/>
                    <a:pt x="375107" y="123169"/>
                  </a:cubicBezTo>
                  <a:cubicBezTo>
                    <a:pt x="341960" y="121073"/>
                    <a:pt x="307289" y="137076"/>
                    <a:pt x="273567" y="145458"/>
                  </a:cubicBezTo>
                  <a:cubicBezTo>
                    <a:pt x="269757" y="146410"/>
                    <a:pt x="266519" y="151174"/>
                    <a:pt x="264043" y="154792"/>
                  </a:cubicBezTo>
                  <a:cubicBezTo>
                    <a:pt x="240228" y="190800"/>
                    <a:pt x="208223" y="200706"/>
                    <a:pt x="169360" y="177273"/>
                  </a:cubicBezTo>
                  <a:cubicBezTo>
                    <a:pt x="143643" y="161651"/>
                    <a:pt x="118114" y="158032"/>
                    <a:pt x="89347" y="157460"/>
                  </a:cubicBezTo>
                  <a:cubicBezTo>
                    <a:pt x="71059" y="157078"/>
                    <a:pt x="52962" y="147934"/>
                    <a:pt x="34291" y="145268"/>
                  </a:cubicBezTo>
                  <a:lnTo>
                    <a:pt x="0" y="142056"/>
                  </a:lnTo>
                  <a:lnTo>
                    <a:pt x="0" y="849556"/>
                  </a:lnTo>
                  <a:lnTo>
                    <a:pt x="60652" y="844783"/>
                  </a:lnTo>
                  <a:cubicBezTo>
                    <a:pt x="80251" y="839473"/>
                    <a:pt x="99446" y="832043"/>
                    <a:pt x="119068" y="827281"/>
                  </a:cubicBezTo>
                  <a:cubicBezTo>
                    <a:pt x="137355" y="822899"/>
                    <a:pt x="154501" y="812802"/>
                    <a:pt x="171840" y="804420"/>
                  </a:cubicBezTo>
                  <a:cubicBezTo>
                    <a:pt x="204985" y="788417"/>
                    <a:pt x="240420" y="798514"/>
                    <a:pt x="274329" y="794324"/>
                  </a:cubicBezTo>
                  <a:cubicBezTo>
                    <a:pt x="285188" y="792990"/>
                    <a:pt x="296046" y="791466"/>
                    <a:pt x="306715" y="788798"/>
                  </a:cubicBezTo>
                  <a:cubicBezTo>
                    <a:pt x="335864" y="781749"/>
                    <a:pt x="365583" y="775653"/>
                    <a:pt x="393967" y="765937"/>
                  </a:cubicBezTo>
                  <a:cubicBezTo>
                    <a:pt x="426165" y="755078"/>
                    <a:pt x="457028" y="740600"/>
                    <a:pt x="493793" y="725549"/>
                  </a:cubicBezTo>
                  <a:cubicBezTo>
                    <a:pt x="506557" y="729360"/>
                    <a:pt x="526180" y="739648"/>
                    <a:pt x="546373" y="740600"/>
                  </a:cubicBezTo>
                  <a:cubicBezTo>
                    <a:pt x="611337" y="743838"/>
                    <a:pt x="672107" y="726121"/>
                    <a:pt x="730211" y="698116"/>
                  </a:cubicBezTo>
                  <a:cubicBezTo>
                    <a:pt x="747927" y="689734"/>
                    <a:pt x="766980" y="684210"/>
                    <a:pt x="784889" y="676018"/>
                  </a:cubicBezTo>
                  <a:cubicBezTo>
                    <a:pt x="791173" y="673161"/>
                    <a:pt x="799365" y="667065"/>
                    <a:pt x="800509" y="661349"/>
                  </a:cubicBezTo>
                  <a:cubicBezTo>
                    <a:pt x="807175" y="628201"/>
                    <a:pt x="831942" y="628772"/>
                    <a:pt x="857661" y="626868"/>
                  </a:cubicBezTo>
                  <a:cubicBezTo>
                    <a:pt x="888332" y="624582"/>
                    <a:pt x="918621" y="619248"/>
                    <a:pt x="949102" y="614676"/>
                  </a:cubicBezTo>
                  <a:cubicBezTo>
                    <a:pt x="953104" y="614104"/>
                    <a:pt x="956722" y="610104"/>
                    <a:pt x="960342" y="607435"/>
                  </a:cubicBezTo>
                  <a:cubicBezTo>
                    <a:pt x="965867" y="603435"/>
                    <a:pt x="971011" y="597339"/>
                    <a:pt x="977109" y="595815"/>
                  </a:cubicBezTo>
                  <a:cubicBezTo>
                    <a:pt x="1008350" y="588385"/>
                    <a:pt x="1039783" y="582099"/>
                    <a:pt x="1071218" y="575240"/>
                  </a:cubicBezTo>
                  <a:cubicBezTo>
                    <a:pt x="1078266" y="573716"/>
                    <a:pt x="1085505" y="571812"/>
                    <a:pt x="1091983" y="568764"/>
                  </a:cubicBezTo>
                  <a:cubicBezTo>
                    <a:pt x="1098079" y="565906"/>
                    <a:pt x="1103223" y="560952"/>
                    <a:pt x="1109321" y="557904"/>
                  </a:cubicBezTo>
                  <a:cubicBezTo>
                    <a:pt x="1125892" y="549714"/>
                    <a:pt x="1142851" y="542093"/>
                    <a:pt x="1162279" y="532949"/>
                  </a:cubicBezTo>
                  <a:cubicBezTo>
                    <a:pt x="1173138" y="550094"/>
                    <a:pt x="1187810" y="540377"/>
                    <a:pt x="1206097" y="532187"/>
                  </a:cubicBezTo>
                  <a:cubicBezTo>
                    <a:pt x="1224765" y="523805"/>
                    <a:pt x="1246292" y="521137"/>
                    <a:pt x="1266867" y="518088"/>
                  </a:cubicBezTo>
                  <a:cubicBezTo>
                    <a:pt x="1304588" y="512564"/>
                    <a:pt x="1342499" y="509134"/>
                    <a:pt x="1380219" y="504182"/>
                  </a:cubicBezTo>
                  <a:cubicBezTo>
                    <a:pt x="1388221" y="503038"/>
                    <a:pt x="1397365" y="500944"/>
                    <a:pt x="1403461" y="496180"/>
                  </a:cubicBezTo>
                  <a:cubicBezTo>
                    <a:pt x="1445181" y="464175"/>
                    <a:pt x="1495858" y="455222"/>
                    <a:pt x="1544054" y="458268"/>
                  </a:cubicBezTo>
                  <a:cubicBezTo>
                    <a:pt x="1581965" y="460557"/>
                    <a:pt x="1619114" y="462270"/>
                    <a:pt x="1656644" y="459032"/>
                  </a:cubicBezTo>
                  <a:cubicBezTo>
                    <a:pt x="1659502" y="458841"/>
                    <a:pt x="1663312" y="459223"/>
                    <a:pt x="1665406" y="460747"/>
                  </a:cubicBezTo>
                  <a:cubicBezTo>
                    <a:pt x="1678360" y="470843"/>
                    <a:pt x="1691887" y="471605"/>
                    <a:pt x="1708461" y="473318"/>
                  </a:cubicBezTo>
                  <a:cubicBezTo>
                    <a:pt x="1731894" y="475797"/>
                    <a:pt x="1753421" y="474081"/>
                    <a:pt x="1775140" y="469891"/>
                  </a:cubicBezTo>
                  <a:cubicBezTo>
                    <a:pt x="1790952" y="466843"/>
                    <a:pt x="1806953" y="460557"/>
                    <a:pt x="1821051" y="452554"/>
                  </a:cubicBezTo>
                  <a:cubicBezTo>
                    <a:pt x="1840672" y="441314"/>
                    <a:pt x="1859535" y="436934"/>
                    <a:pt x="1878203" y="451792"/>
                  </a:cubicBezTo>
                  <a:cubicBezTo>
                    <a:pt x="1898396" y="467605"/>
                    <a:pt x="1921257" y="462081"/>
                    <a:pt x="1943547" y="462651"/>
                  </a:cubicBezTo>
                  <a:cubicBezTo>
                    <a:pt x="1953262" y="462843"/>
                    <a:pt x="1963550" y="462461"/>
                    <a:pt x="1972884" y="464937"/>
                  </a:cubicBezTo>
                  <a:cubicBezTo>
                    <a:pt x="1999935" y="471987"/>
                    <a:pt x="2026036" y="482655"/>
                    <a:pt x="2053469" y="487417"/>
                  </a:cubicBezTo>
                  <a:cubicBezTo>
                    <a:pt x="2068710" y="490084"/>
                    <a:pt x="2085664" y="485321"/>
                    <a:pt x="2101477" y="481893"/>
                  </a:cubicBezTo>
                  <a:cubicBezTo>
                    <a:pt x="2117479" y="478273"/>
                    <a:pt x="2133290" y="472749"/>
                    <a:pt x="2148722" y="467033"/>
                  </a:cubicBezTo>
                  <a:cubicBezTo>
                    <a:pt x="2159199" y="463223"/>
                    <a:pt x="2170629" y="459603"/>
                    <a:pt x="2179011" y="452744"/>
                  </a:cubicBezTo>
                  <a:cubicBezTo>
                    <a:pt x="2198064" y="437124"/>
                    <a:pt x="2217685" y="434455"/>
                    <a:pt x="2240165" y="442648"/>
                  </a:cubicBezTo>
                  <a:cubicBezTo>
                    <a:pt x="2243593" y="443982"/>
                    <a:pt x="2247594" y="443982"/>
                    <a:pt x="2251404" y="444172"/>
                  </a:cubicBezTo>
                  <a:cubicBezTo>
                    <a:pt x="2312370" y="448172"/>
                    <a:pt x="2373330" y="450650"/>
                    <a:pt x="2433912" y="456746"/>
                  </a:cubicBezTo>
                  <a:cubicBezTo>
                    <a:pt x="2458485" y="459223"/>
                    <a:pt x="2482107" y="470081"/>
                    <a:pt x="2506302" y="476939"/>
                  </a:cubicBezTo>
                  <a:cubicBezTo>
                    <a:pt x="2511256" y="478273"/>
                    <a:pt x="2516783" y="480369"/>
                    <a:pt x="2521735" y="479415"/>
                  </a:cubicBezTo>
                  <a:cubicBezTo>
                    <a:pt x="2575647" y="469891"/>
                    <a:pt x="2626132" y="483797"/>
                    <a:pt x="2675854" y="502086"/>
                  </a:cubicBezTo>
                  <a:cubicBezTo>
                    <a:pt x="2680996" y="503992"/>
                    <a:pt x="2687282" y="503419"/>
                    <a:pt x="2692998" y="503038"/>
                  </a:cubicBezTo>
                  <a:cubicBezTo>
                    <a:pt x="2709003" y="501706"/>
                    <a:pt x="2726337" y="495038"/>
                    <a:pt x="2740816" y="499037"/>
                  </a:cubicBezTo>
                  <a:cubicBezTo>
                    <a:pt x="2779297" y="510088"/>
                    <a:pt x="2817398" y="523423"/>
                    <a:pt x="2853596" y="540187"/>
                  </a:cubicBezTo>
                  <a:cubicBezTo>
                    <a:pt x="2890365" y="557142"/>
                    <a:pt x="2924464" y="571430"/>
                    <a:pt x="2966565" y="554286"/>
                  </a:cubicBezTo>
                  <a:cubicBezTo>
                    <a:pt x="2984472" y="547045"/>
                    <a:pt x="3008095" y="552190"/>
                    <a:pt x="3028671" y="554094"/>
                  </a:cubicBezTo>
                  <a:cubicBezTo>
                    <a:pt x="3043720" y="555618"/>
                    <a:pt x="3058198" y="564192"/>
                    <a:pt x="3073059" y="564192"/>
                  </a:cubicBezTo>
                  <a:cubicBezTo>
                    <a:pt x="3112686" y="564192"/>
                    <a:pt x="3147927" y="574288"/>
                    <a:pt x="3182219" y="594862"/>
                  </a:cubicBezTo>
                  <a:cubicBezTo>
                    <a:pt x="3195557" y="602863"/>
                    <a:pt x="3216322" y="597529"/>
                    <a:pt x="3233656" y="599625"/>
                  </a:cubicBezTo>
                  <a:cubicBezTo>
                    <a:pt x="3251947" y="602101"/>
                    <a:pt x="3270804" y="604387"/>
                    <a:pt x="3288332" y="609914"/>
                  </a:cubicBezTo>
                  <a:cubicBezTo>
                    <a:pt x="3333672" y="624392"/>
                    <a:pt x="3378441" y="640774"/>
                    <a:pt x="3423591" y="656015"/>
                  </a:cubicBezTo>
                  <a:cubicBezTo>
                    <a:pt x="3460738" y="668590"/>
                    <a:pt x="3497317" y="658683"/>
                    <a:pt x="3534084" y="653349"/>
                  </a:cubicBezTo>
                  <a:cubicBezTo>
                    <a:pt x="3557137" y="649919"/>
                    <a:pt x="3578662" y="641727"/>
                    <a:pt x="3604571" y="653918"/>
                  </a:cubicBezTo>
                  <a:cubicBezTo>
                    <a:pt x="3629338" y="665541"/>
                    <a:pt x="3660771" y="662873"/>
                    <a:pt x="3688586" y="669160"/>
                  </a:cubicBezTo>
                  <a:cubicBezTo>
                    <a:pt x="3712020" y="674494"/>
                    <a:pt x="3734687" y="683068"/>
                    <a:pt x="3757358" y="691450"/>
                  </a:cubicBezTo>
                  <a:cubicBezTo>
                    <a:pt x="3788221" y="702881"/>
                    <a:pt x="3818700" y="714881"/>
                    <a:pt x="3852421" y="709167"/>
                  </a:cubicBezTo>
                  <a:cubicBezTo>
                    <a:pt x="3890714" y="702689"/>
                    <a:pt x="3917001" y="727073"/>
                    <a:pt x="3947104" y="743267"/>
                  </a:cubicBezTo>
                  <a:cubicBezTo>
                    <a:pt x="3967869" y="754316"/>
                    <a:pt x="3990538" y="762509"/>
                    <a:pt x="4013208" y="769367"/>
                  </a:cubicBezTo>
                  <a:cubicBezTo>
                    <a:pt x="4043497" y="778321"/>
                    <a:pt x="4074740" y="783655"/>
                    <a:pt x="4105222" y="792417"/>
                  </a:cubicBezTo>
                  <a:cubicBezTo>
                    <a:pt x="4151325" y="805561"/>
                    <a:pt x="4198001" y="815850"/>
                    <a:pt x="4246006" y="808610"/>
                  </a:cubicBezTo>
                  <a:cubicBezTo>
                    <a:pt x="4268105" y="805372"/>
                    <a:pt x="4288682" y="805561"/>
                    <a:pt x="4310779" y="810326"/>
                  </a:cubicBezTo>
                  <a:cubicBezTo>
                    <a:pt x="4346974" y="818136"/>
                    <a:pt x="4384123" y="819089"/>
                    <a:pt x="4413272" y="848235"/>
                  </a:cubicBezTo>
                  <a:cubicBezTo>
                    <a:pt x="4423558" y="858524"/>
                    <a:pt x="4442037" y="861190"/>
                    <a:pt x="4457087" y="866524"/>
                  </a:cubicBezTo>
                  <a:cubicBezTo>
                    <a:pt x="4474424" y="872812"/>
                    <a:pt x="4487186" y="869572"/>
                    <a:pt x="4496523" y="851284"/>
                  </a:cubicBezTo>
                  <a:cubicBezTo>
                    <a:pt x="4500713" y="843093"/>
                    <a:pt x="4512715" y="835091"/>
                    <a:pt x="4522050" y="833757"/>
                  </a:cubicBezTo>
                  <a:cubicBezTo>
                    <a:pt x="4550055" y="829757"/>
                    <a:pt x="4575773" y="835663"/>
                    <a:pt x="4602824" y="848618"/>
                  </a:cubicBezTo>
                  <a:cubicBezTo>
                    <a:pt x="4628161" y="860810"/>
                    <a:pt x="4659786" y="859476"/>
                    <a:pt x="4688553" y="864238"/>
                  </a:cubicBezTo>
                  <a:cubicBezTo>
                    <a:pt x="4708936" y="867668"/>
                    <a:pt x="4729321" y="874716"/>
                    <a:pt x="4749895" y="874716"/>
                  </a:cubicBezTo>
                  <a:cubicBezTo>
                    <a:pt x="4775424" y="874716"/>
                    <a:pt x="4800761" y="868620"/>
                    <a:pt x="4826480" y="866334"/>
                  </a:cubicBezTo>
                  <a:cubicBezTo>
                    <a:pt x="4846482" y="864430"/>
                    <a:pt x="4866867" y="865192"/>
                    <a:pt x="4886870" y="862906"/>
                  </a:cubicBezTo>
                  <a:cubicBezTo>
                    <a:pt x="4903254" y="861190"/>
                    <a:pt x="4919447" y="856810"/>
                    <a:pt x="4935639" y="853190"/>
                  </a:cubicBezTo>
                  <a:cubicBezTo>
                    <a:pt x="4941546" y="851856"/>
                    <a:pt x="4947452" y="846711"/>
                    <a:pt x="4952784" y="847473"/>
                  </a:cubicBezTo>
                  <a:cubicBezTo>
                    <a:pt x="5005745" y="855666"/>
                    <a:pt x="5043847" y="819089"/>
                    <a:pt x="5088617" y="802896"/>
                  </a:cubicBezTo>
                  <a:cubicBezTo>
                    <a:pt x="5135672" y="785749"/>
                    <a:pt x="5181204" y="759461"/>
                    <a:pt x="5233781" y="767271"/>
                  </a:cubicBezTo>
                  <a:cubicBezTo>
                    <a:pt x="5265596" y="772033"/>
                    <a:pt x="5296267" y="783083"/>
                    <a:pt x="5327893" y="789752"/>
                  </a:cubicBezTo>
                  <a:cubicBezTo>
                    <a:pt x="5339132" y="792038"/>
                    <a:pt x="5351705" y="791656"/>
                    <a:pt x="5362946" y="789370"/>
                  </a:cubicBezTo>
                  <a:cubicBezTo>
                    <a:pt x="5417240" y="778891"/>
                    <a:pt x="5470771" y="777367"/>
                    <a:pt x="5524115" y="794514"/>
                  </a:cubicBezTo>
                  <a:cubicBezTo>
                    <a:pt x="5533257" y="797372"/>
                    <a:pt x="5542974" y="800038"/>
                    <a:pt x="5552500" y="800038"/>
                  </a:cubicBezTo>
                  <a:cubicBezTo>
                    <a:pt x="5604697" y="800038"/>
                    <a:pt x="5655944" y="796038"/>
                    <a:pt x="5705857" y="777367"/>
                  </a:cubicBezTo>
                  <a:cubicBezTo>
                    <a:pt x="5722622" y="771080"/>
                    <a:pt x="5743006" y="775081"/>
                    <a:pt x="5761485" y="773557"/>
                  </a:cubicBezTo>
                  <a:cubicBezTo>
                    <a:pt x="5778629" y="772224"/>
                    <a:pt x="5796156" y="771653"/>
                    <a:pt x="5812731" y="767271"/>
                  </a:cubicBezTo>
                  <a:cubicBezTo>
                    <a:pt x="5836925" y="760795"/>
                    <a:pt x="5859404" y="760033"/>
                    <a:pt x="5884361" y="765747"/>
                  </a:cubicBezTo>
                  <a:cubicBezTo>
                    <a:pt x="5908174" y="771080"/>
                    <a:pt x="5933892" y="768415"/>
                    <a:pt x="5958660" y="768605"/>
                  </a:cubicBezTo>
                  <a:cubicBezTo>
                    <a:pt x="5986282" y="768795"/>
                    <a:pt x="6013906" y="768984"/>
                    <a:pt x="6041528" y="768033"/>
                  </a:cubicBezTo>
                  <a:cubicBezTo>
                    <a:pt x="6052579" y="767653"/>
                    <a:pt x="6065151" y="760033"/>
                    <a:pt x="6074297" y="763081"/>
                  </a:cubicBezTo>
                  <a:cubicBezTo>
                    <a:pt x="6103824" y="773366"/>
                    <a:pt x="6133353" y="760985"/>
                    <a:pt x="6162880" y="766509"/>
                  </a:cubicBezTo>
                  <a:cubicBezTo>
                    <a:pt x="6177360" y="769367"/>
                    <a:pt x="6193743" y="761557"/>
                    <a:pt x="6209364" y="760795"/>
                  </a:cubicBezTo>
                  <a:cubicBezTo>
                    <a:pt x="6234892" y="759461"/>
                    <a:pt x="6260419" y="760033"/>
                    <a:pt x="6285948" y="759651"/>
                  </a:cubicBezTo>
                  <a:cubicBezTo>
                    <a:pt x="6294330" y="759461"/>
                    <a:pt x="6302523" y="758699"/>
                    <a:pt x="6310905" y="758316"/>
                  </a:cubicBezTo>
                  <a:cubicBezTo>
                    <a:pt x="6318335" y="757936"/>
                    <a:pt x="6326145" y="756222"/>
                    <a:pt x="6333194" y="757554"/>
                  </a:cubicBezTo>
                  <a:cubicBezTo>
                    <a:pt x="6358723" y="762318"/>
                    <a:pt x="6383869" y="770129"/>
                    <a:pt x="6409586" y="773177"/>
                  </a:cubicBezTo>
                  <a:cubicBezTo>
                    <a:pt x="6431875" y="775843"/>
                    <a:pt x="6454928" y="772224"/>
                    <a:pt x="6477407" y="774129"/>
                  </a:cubicBezTo>
                  <a:cubicBezTo>
                    <a:pt x="6517032" y="777367"/>
                    <a:pt x="6556657" y="783083"/>
                    <a:pt x="6596283" y="786703"/>
                  </a:cubicBezTo>
                  <a:cubicBezTo>
                    <a:pt x="6604857" y="787465"/>
                    <a:pt x="6613809" y="782701"/>
                    <a:pt x="6622573" y="782321"/>
                  </a:cubicBezTo>
                  <a:cubicBezTo>
                    <a:pt x="6650006" y="781369"/>
                    <a:pt x="6677439" y="781177"/>
                    <a:pt x="6704872" y="780607"/>
                  </a:cubicBezTo>
                  <a:cubicBezTo>
                    <a:pt x="6720493" y="780415"/>
                    <a:pt x="6736305" y="780987"/>
                    <a:pt x="6751738" y="779273"/>
                  </a:cubicBezTo>
                  <a:cubicBezTo>
                    <a:pt x="6772120" y="776987"/>
                    <a:pt x="6790599" y="773557"/>
                    <a:pt x="6809650" y="788417"/>
                  </a:cubicBezTo>
                  <a:cubicBezTo>
                    <a:pt x="6816984" y="794180"/>
                    <a:pt x="6824819" y="797942"/>
                    <a:pt x="6832976" y="800428"/>
                  </a:cubicBezTo>
                  <a:close/>
                </a:path>
              </a:pathLst>
            </a:custGeom>
            <a:blipFill dpi="0" rotWithShape="1">
              <a:blip r:embed="rId3">
                <a:alphaModFix amt="57000"/>
              </a:blip>
              <a:srcRect/>
              <a:tile tx="0" ty="0" sx="100000" sy="100000" flip="none" algn="tl"/>
            </a:blip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19" name="Content Placeholder 2">
            <a:extLst>
              <a:ext uri="{FF2B5EF4-FFF2-40B4-BE49-F238E27FC236}">
                <a16:creationId xmlns:a16="http://schemas.microsoft.com/office/drawing/2014/main" id="{BF74DF8D-48D9-6A77-5658-8501B98365A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81826" y="3146400"/>
            <a:ext cx="4391024" cy="2682000"/>
          </a:xfrm>
        </p:spPr>
        <p:txBody>
          <a:bodyPr>
            <a:normAutofit/>
          </a:bodyPr>
          <a:lstStyle/>
          <a:p>
            <a:r>
              <a:rPr lang="en-US" sz="2000" dirty="0">
                <a:solidFill>
                  <a:schemeClr val="bg1">
                    <a:alpha val="80000"/>
                  </a:schemeClr>
                </a:solidFill>
              </a:rPr>
              <a:t>Forms of sexual harassment restaurants may face:</a:t>
            </a:r>
          </a:p>
          <a:p>
            <a:r>
              <a:rPr lang="en-US" sz="2000" dirty="0">
                <a:solidFill>
                  <a:schemeClr val="bg1">
                    <a:alpha val="80000"/>
                  </a:schemeClr>
                </a:solidFill>
              </a:rPr>
              <a:t>Unwanted sexual jokes, (Matulewicz, K. (2015). </a:t>
            </a:r>
          </a:p>
          <a:p>
            <a:r>
              <a:rPr lang="en-US" sz="2000" dirty="0">
                <a:solidFill>
                  <a:schemeClr val="bg1">
                    <a:alpha val="80000"/>
                  </a:schemeClr>
                </a:solidFill>
              </a:rPr>
              <a:t>Lewd comments about appearance</a:t>
            </a:r>
          </a:p>
          <a:p>
            <a:r>
              <a:rPr lang="en-US" sz="2000" dirty="0">
                <a:solidFill>
                  <a:schemeClr val="bg1">
                    <a:alpha val="80000"/>
                  </a:schemeClr>
                </a:solidFill>
              </a:rPr>
              <a:t>Repeated requests for dates or sexual favors</a:t>
            </a:r>
          </a:p>
        </p:txBody>
      </p:sp>
    </p:spTree>
    <p:extLst>
      <p:ext uri="{BB962C8B-B14F-4D97-AF65-F5344CB8AC3E}">
        <p14:creationId xmlns:p14="http://schemas.microsoft.com/office/powerpoint/2010/main" val="77289850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Slide Background">
            <a:extLst>
              <a:ext uri="{FF2B5EF4-FFF2-40B4-BE49-F238E27FC236}">
                <a16:creationId xmlns:a16="http://schemas.microsoft.com/office/drawing/2014/main" id="{C0763A76-9F1C-4FC5-82B7-DD475DA461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-1" y="0"/>
            <a:ext cx="1219199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E81BF4F6-F2CF-4984-9D14-D6966D92F9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8522446" cy="2285999"/>
          </a:xfrm>
          <a:prstGeom prst="rect">
            <a:avLst/>
          </a:prstGeom>
          <a:ln>
            <a:noFill/>
          </a:ln>
          <a:effectLst>
            <a:outerShdw blurRad="596900" dist="304800" dir="7140000" sx="90000" sy="90000" algn="t" rotWithShape="0">
              <a:srgbClr val="000000">
                <a:alpha val="15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E5B9545-6F09-F8F8-4C3B-DFBDD23E45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1803" y="350196"/>
            <a:ext cx="4646904" cy="1624520"/>
          </a:xfrm>
        </p:spPr>
        <p:txBody>
          <a:bodyPr anchor="ctr">
            <a:normAutofit/>
          </a:bodyPr>
          <a:lstStyle/>
          <a:p>
            <a:r>
              <a:rPr lang="en-US" sz="4000"/>
              <a:t>Impact on Victims</a:t>
            </a:r>
            <a:endParaRPr lang="en-KE" sz="400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37D9D3-976F-7D7B-C6C5-0A385CF0EF5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1802" y="2743200"/>
            <a:ext cx="4646905" cy="3613149"/>
          </a:xfrm>
        </p:spPr>
        <p:txBody>
          <a:bodyPr anchor="ctr">
            <a:normAutofit/>
          </a:bodyPr>
          <a:lstStyle/>
          <a:p>
            <a:r>
              <a:rPr lang="en-US" sz="2000"/>
              <a:t>Effects on victims:</a:t>
            </a:r>
          </a:p>
          <a:p>
            <a:r>
              <a:rPr lang="en-US" sz="2000"/>
              <a:t>Emotional distress</a:t>
            </a:r>
          </a:p>
          <a:p>
            <a:r>
              <a:rPr lang="en-US" sz="2000"/>
              <a:t>Difficulty concentrating</a:t>
            </a:r>
          </a:p>
          <a:p>
            <a:r>
              <a:rPr lang="en-US" sz="2000"/>
              <a:t>Increased absenteeism</a:t>
            </a:r>
          </a:p>
          <a:p>
            <a:r>
              <a:rPr lang="en-US" sz="2000"/>
              <a:t>Turnover intent</a:t>
            </a:r>
            <a:endParaRPr lang="en-KE" sz="2000"/>
          </a:p>
        </p:txBody>
      </p:sp>
      <p:pic>
        <p:nvPicPr>
          <p:cNvPr id="5" name="Picture 4" descr="Red toy person in front of two lines of white figures">
            <a:extLst>
              <a:ext uri="{FF2B5EF4-FFF2-40B4-BE49-F238E27FC236}">
                <a16:creationId xmlns:a16="http://schemas.microsoft.com/office/drawing/2014/main" id="{F2A46773-1832-F2BE-1640-D86FAF4BE69C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2673" r="18817"/>
          <a:stretch/>
        </p:blipFill>
        <p:spPr>
          <a:xfrm>
            <a:off x="6096000" y="1"/>
            <a:ext cx="610282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945083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1B2268-0A5D-31E7-8AEB-387B3396FE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Bystander Intervention Tips</a:t>
            </a:r>
            <a:endParaRPr lang="en-KE" dirty="0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775E5900-1072-2A99-DB80-6E86A8E4BEAA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66594500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04812C46-200A-4DEB-A05E-3ED6C68C23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9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Pen placed on top of a signature line">
            <a:extLst>
              <a:ext uri="{FF2B5EF4-FFF2-40B4-BE49-F238E27FC236}">
                <a16:creationId xmlns:a16="http://schemas.microsoft.com/office/drawing/2014/main" id="{A1033149-BC26-3B3F-37BD-968E9B7A0EBC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5884" r="-1" b="-1"/>
          <a:stretch/>
        </p:blipFill>
        <p:spPr>
          <a:xfrm>
            <a:off x="2522356" y="10"/>
            <a:ext cx="9669642" cy="6857990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D1EA859B-E555-4109-94F3-6700E046E0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7390263" cy="6858000"/>
          </a:xfrm>
          <a:prstGeom prst="rect">
            <a:avLst/>
          </a:prstGeom>
          <a:gradFill>
            <a:gsLst>
              <a:gs pos="48000">
                <a:schemeClr val="bg1"/>
              </a:gs>
              <a:gs pos="35000">
                <a:schemeClr val="bg1">
                  <a:alpha val="77000"/>
                </a:schemeClr>
              </a:gs>
              <a:gs pos="19000">
                <a:schemeClr val="bg1">
                  <a:alpha val="38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55C1893-1D17-FD88-6335-5CEAE4F111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3822189" cy="1899912"/>
          </a:xfrm>
        </p:spPr>
        <p:txBody>
          <a:bodyPr>
            <a:normAutofit/>
          </a:bodyPr>
          <a:lstStyle/>
          <a:p>
            <a:r>
              <a:rPr lang="en-US" sz="4000"/>
              <a:t>Customer Role in Solutions</a:t>
            </a:r>
            <a:endParaRPr lang="en-KE" sz="400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68C3A4-9DBB-C974-4FA8-AA553CEE11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434201"/>
            <a:ext cx="3822189" cy="3742762"/>
          </a:xfrm>
        </p:spPr>
        <p:txBody>
          <a:bodyPr>
            <a:normAutofit/>
          </a:bodyPr>
          <a:lstStyle/>
          <a:p>
            <a:r>
              <a:rPr lang="en-US" sz="2000"/>
              <a:t>Bystander intervention tips:</a:t>
            </a:r>
          </a:p>
          <a:p>
            <a:r>
              <a:rPr lang="en-US" sz="2000"/>
              <a:t>Direct intervention</a:t>
            </a:r>
          </a:p>
          <a:p>
            <a:r>
              <a:rPr lang="en-US" sz="2000"/>
              <a:t>Distract/delay</a:t>
            </a:r>
          </a:p>
          <a:p>
            <a:r>
              <a:rPr lang="en-US" sz="2000"/>
              <a:t>Delegate to management</a:t>
            </a:r>
          </a:p>
          <a:p>
            <a:r>
              <a:rPr lang="en-US" sz="2000"/>
              <a:t>Document incident</a:t>
            </a:r>
            <a:endParaRPr lang="en-KE" sz="2000"/>
          </a:p>
        </p:txBody>
      </p:sp>
    </p:spTree>
    <p:extLst>
      <p:ext uri="{BB962C8B-B14F-4D97-AF65-F5344CB8AC3E}">
        <p14:creationId xmlns:p14="http://schemas.microsoft.com/office/powerpoint/2010/main" val="202493534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460B0EFB-53ED-4F35-B05D-F658EA021C6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5" name="Picture 4" descr="White puzzle with one red piece">
            <a:extLst>
              <a:ext uri="{FF2B5EF4-FFF2-40B4-BE49-F238E27FC236}">
                <a16:creationId xmlns:a16="http://schemas.microsoft.com/office/drawing/2014/main" id="{CBA50867-7E62-2FAC-CE9E-604C1CBDC86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30889" r="29285"/>
          <a:stretch/>
        </p:blipFill>
        <p:spPr>
          <a:xfrm>
            <a:off x="-7366" y="10"/>
            <a:ext cx="4855591" cy="6857990"/>
          </a:xfrm>
          <a:custGeom>
            <a:avLst/>
            <a:gdLst/>
            <a:ahLst/>
            <a:cxnLst/>
            <a:rect l="l" t="t" r="r" b="b"/>
            <a:pathLst>
              <a:path w="4636517" h="6858000">
                <a:moveTo>
                  <a:pt x="0" y="0"/>
                </a:moveTo>
                <a:lnTo>
                  <a:pt x="4636517" y="0"/>
                </a:lnTo>
                <a:lnTo>
                  <a:pt x="4636517" y="6858000"/>
                </a:ln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11" name="!!Arc">
            <a:extLst>
              <a:ext uri="{FF2B5EF4-FFF2-40B4-BE49-F238E27FC236}">
                <a16:creationId xmlns:a16="http://schemas.microsoft.com/office/drawing/2014/main" id="{835EF3DD-7D43-4A27-8967-A92FD8CC936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673531" y="407987"/>
            <a:ext cx="2987899" cy="2987899"/>
          </a:xfrm>
          <a:prstGeom prst="arc">
            <a:avLst>
              <a:gd name="adj1" fmla="val 16200000"/>
              <a:gd name="adj2" fmla="val 2563720"/>
            </a:avLst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0E8322C-5DA8-68D6-955D-99DDAB2740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27048" y="407987"/>
            <a:ext cx="5721484" cy="1325563"/>
          </a:xfrm>
        </p:spPr>
        <p:txBody>
          <a:bodyPr>
            <a:normAutofit/>
          </a:bodyPr>
          <a:lstStyle/>
          <a:p>
            <a:r>
              <a:rPr lang="en-US" dirty="0"/>
              <a:t>Effective Policy Components</a:t>
            </a:r>
            <a:endParaRPr lang="en-K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9D746B-A0E8-1F93-739E-D9E38497B0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27048" y="1868487"/>
            <a:ext cx="5721484" cy="4351338"/>
          </a:xfrm>
        </p:spPr>
        <p:txBody>
          <a:bodyPr>
            <a:normAutofit/>
          </a:bodyPr>
          <a:lstStyle/>
          <a:p>
            <a:r>
              <a:rPr lang="en-US" dirty="0"/>
              <a:t>How customers can contribute to solutions:</a:t>
            </a:r>
          </a:p>
          <a:p>
            <a:r>
              <a:rPr lang="en-US" dirty="0"/>
              <a:t>Speak up if witness harassment</a:t>
            </a:r>
          </a:p>
          <a:p>
            <a:r>
              <a:rPr lang="en-US" dirty="0"/>
              <a:t>Report severe or persistent cases</a:t>
            </a:r>
          </a:p>
          <a:p>
            <a:r>
              <a:rPr lang="en-US" dirty="0"/>
              <a:t>Support establishments with strong policies</a:t>
            </a:r>
            <a:endParaRPr lang="en-KE" dirty="0"/>
          </a:p>
        </p:txBody>
      </p:sp>
    </p:spTree>
    <p:extLst>
      <p:ext uri="{BB962C8B-B14F-4D97-AF65-F5344CB8AC3E}">
        <p14:creationId xmlns:p14="http://schemas.microsoft.com/office/powerpoint/2010/main" val="226112744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07EF6B7-1338-4443-8C46-6A318D952D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DAAE4CDD-124C-4DCF-9584-B6033B545D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167271" cy="6858000"/>
          </a:xfrm>
          <a:custGeom>
            <a:avLst/>
            <a:gdLst>
              <a:gd name="connsiteX0" fmla="*/ 0 w 4167271"/>
              <a:gd name="connsiteY0" fmla="*/ 0 h 6858000"/>
              <a:gd name="connsiteX1" fmla="*/ 2259550 w 4167271"/>
              <a:gd name="connsiteY1" fmla="*/ 0 h 6858000"/>
              <a:gd name="connsiteX2" fmla="*/ 2387803 w 4167271"/>
              <a:gd name="connsiteY2" fmla="*/ 82222 h 6858000"/>
              <a:gd name="connsiteX3" fmla="*/ 4167271 w 4167271"/>
              <a:gd name="connsiteY3" fmla="*/ 3429000 h 6858000"/>
              <a:gd name="connsiteX4" fmla="*/ 2387803 w 4167271"/>
              <a:gd name="connsiteY4" fmla="*/ 6775779 h 6858000"/>
              <a:gd name="connsiteX5" fmla="*/ 2259550 w 4167271"/>
              <a:gd name="connsiteY5" fmla="*/ 6858000 h 6858000"/>
              <a:gd name="connsiteX6" fmla="*/ 0 w 416727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67271" h="6858000">
                <a:moveTo>
                  <a:pt x="0" y="0"/>
                </a:moveTo>
                <a:lnTo>
                  <a:pt x="2259550" y="0"/>
                </a:lnTo>
                <a:lnTo>
                  <a:pt x="2387803" y="82222"/>
                </a:lnTo>
                <a:cubicBezTo>
                  <a:pt x="3461407" y="807534"/>
                  <a:pt x="4167271" y="2035835"/>
                  <a:pt x="4167271" y="3429000"/>
                </a:cubicBezTo>
                <a:cubicBezTo>
                  <a:pt x="4167271" y="4822165"/>
                  <a:pt x="3461407" y="6050467"/>
                  <a:pt x="2387803" y="6775779"/>
                </a:cubicBezTo>
                <a:lnTo>
                  <a:pt x="2259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1C8DC26-46FA-FAF9-0B31-A6DB7C5190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6834" y="1153572"/>
            <a:ext cx="3200400" cy="4461163"/>
          </a:xfrm>
        </p:spPr>
        <p:txBody>
          <a:bodyPr>
            <a:normAutofit/>
          </a:bodyPr>
          <a:lstStyle/>
          <a:p>
            <a:r>
              <a:rPr lang="en-US">
                <a:solidFill>
                  <a:srgbClr val="FFFFFF"/>
                </a:solidFill>
              </a:rPr>
              <a:t>Effective sexual harassment policy components</a:t>
            </a:r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7550402" y="2455479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6DA020-E59B-40BE-C1CE-1E4FB312660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47308" y="591344"/>
            <a:ext cx="6906491" cy="5585619"/>
          </a:xfrm>
        </p:spPr>
        <p:txBody>
          <a:bodyPr anchor="ctr">
            <a:normAutofit/>
          </a:bodyPr>
          <a:lstStyle/>
          <a:p>
            <a:r>
              <a:rPr lang="en-US" dirty="0"/>
              <a:t>Definition and examples of prohibited conduct</a:t>
            </a:r>
          </a:p>
          <a:p>
            <a:r>
              <a:rPr lang="en-US" dirty="0"/>
              <a:t>Multiple channels to report confidentially</a:t>
            </a:r>
          </a:p>
          <a:p>
            <a:r>
              <a:rPr lang="en-US" dirty="0"/>
              <a:t>Anti-retaliation statement</a:t>
            </a:r>
          </a:p>
          <a:p>
            <a:r>
              <a:rPr lang="en-US" dirty="0"/>
              <a:t>Investigating claims:</a:t>
            </a:r>
          </a:p>
          <a:p>
            <a:pPr lvl="1"/>
            <a:r>
              <a:rPr lang="en-US" dirty="0"/>
              <a:t>Interview all involved parties</a:t>
            </a:r>
          </a:p>
          <a:p>
            <a:pPr lvl="1"/>
            <a:r>
              <a:rPr lang="en-US" dirty="0"/>
              <a:t>Document all investigation steps</a:t>
            </a:r>
          </a:p>
          <a:p>
            <a:pPr lvl="1"/>
            <a:r>
              <a:rPr lang="en-US" dirty="0"/>
              <a:t>Weigh evidence objectively</a:t>
            </a:r>
          </a:p>
          <a:p>
            <a:pPr lvl="1"/>
            <a:r>
              <a:rPr lang="en-US" dirty="0"/>
              <a:t>Determine appropriate response per policies</a:t>
            </a:r>
            <a:endParaRPr lang="en-KE" dirty="0"/>
          </a:p>
        </p:txBody>
      </p:sp>
    </p:spTree>
    <p:extLst>
      <p:ext uri="{BB962C8B-B14F-4D97-AF65-F5344CB8AC3E}">
        <p14:creationId xmlns:p14="http://schemas.microsoft.com/office/powerpoint/2010/main" val="357664558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562B51-4C02-5564-5142-AD3F55C420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400" dirty="0">
                <a:effectLst/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The</a:t>
            </a:r>
            <a:r>
              <a:rPr lang="en-US" sz="4400" spc="40" dirty="0">
                <a:effectLst/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 </a:t>
            </a:r>
            <a:r>
              <a:rPr lang="en-US" sz="4400" dirty="0">
                <a:effectLst/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Role</a:t>
            </a:r>
            <a:r>
              <a:rPr lang="en-US" sz="4400" spc="20" dirty="0">
                <a:effectLst/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 </a:t>
            </a:r>
            <a:r>
              <a:rPr lang="en-US" sz="4400" dirty="0">
                <a:effectLst/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of</a:t>
            </a:r>
            <a:r>
              <a:rPr lang="en-US" sz="4400" spc="35" dirty="0">
                <a:effectLst/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 </a:t>
            </a:r>
            <a:r>
              <a:rPr lang="en-US" sz="4400" dirty="0">
                <a:effectLst/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Management</a:t>
            </a:r>
            <a:r>
              <a:rPr lang="en-US" sz="4400" spc="45" dirty="0">
                <a:effectLst/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 </a:t>
            </a:r>
            <a:r>
              <a:rPr lang="en-US" sz="4400" dirty="0">
                <a:effectLst/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and</a:t>
            </a:r>
            <a:r>
              <a:rPr lang="en-US" sz="4400" spc="30" dirty="0">
                <a:effectLst/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 </a:t>
            </a:r>
            <a:r>
              <a:rPr lang="en-US" sz="4400" dirty="0">
                <a:effectLst/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Leadership</a:t>
            </a:r>
            <a:endParaRPr lang="en-KE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AED8136F-E925-6D04-3BDB-E8D3217387F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313642274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33205238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646593-3EC6-CF90-B57F-301FA4FA2B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800" b="1" dirty="0">
                <a:effectLst/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Implementing</a:t>
            </a:r>
            <a:r>
              <a:rPr lang="en-US" sz="2800" b="1" spc="25" dirty="0">
                <a:effectLst/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 </a:t>
            </a:r>
            <a:r>
              <a:rPr lang="en-US" sz="2800" b="1" dirty="0">
                <a:effectLst/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and</a:t>
            </a:r>
            <a:r>
              <a:rPr lang="en-US" sz="2800" b="1" spc="15" dirty="0">
                <a:effectLst/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 </a:t>
            </a:r>
            <a:r>
              <a:rPr lang="en-US" sz="2800" b="1" dirty="0">
                <a:effectLst/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Enforcing</a:t>
            </a:r>
            <a:r>
              <a:rPr lang="en-US" sz="2800" b="1" spc="30" dirty="0">
                <a:effectLst/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 </a:t>
            </a:r>
            <a:r>
              <a:rPr lang="en-US" sz="2800" b="1" dirty="0">
                <a:effectLst/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Comprehensive</a:t>
            </a:r>
            <a:r>
              <a:rPr lang="en-US" sz="2800" b="1" spc="25" dirty="0">
                <a:effectLst/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 </a:t>
            </a:r>
            <a:r>
              <a:rPr lang="en-US" sz="2800" b="1" dirty="0">
                <a:effectLst/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Anti-Harassment</a:t>
            </a:r>
            <a:r>
              <a:rPr lang="en-US" sz="2800" b="1" spc="25" dirty="0">
                <a:effectLst/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 </a:t>
            </a:r>
            <a:r>
              <a:rPr lang="en-US" sz="2800" b="1" dirty="0">
                <a:effectLst/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Policies</a:t>
            </a:r>
            <a:endParaRPr lang="en-US" sz="2800" b="1" dirty="0"/>
          </a:p>
        </p:txBody>
      </p:sp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735F262D-1873-08DB-2F08-F4D56B349FD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775189601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82906500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F837543A-6020-4505-A233-C9DB4BF740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7E9B027-8B90-1C24-01E6-685E04CEEF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5558489" cy="1325563"/>
          </a:xfrm>
        </p:spPr>
        <p:txBody>
          <a:bodyPr>
            <a:normAutofit fontScale="90000"/>
          </a:bodyPr>
          <a:lstStyle/>
          <a:p>
            <a:r>
              <a:rPr lang="en-US" dirty="0"/>
              <a:t>Protecting Employees from Customers harassment</a:t>
            </a:r>
            <a:endParaRPr lang="en-KE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35B16301-FB18-48BA-A6DD-C37CAF6F9A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208695" y="1"/>
            <a:ext cx="1135066" cy="477997"/>
          </a:xfrm>
          <a:custGeom>
            <a:avLst/>
            <a:gdLst>
              <a:gd name="connsiteX0" fmla="*/ 0 w 1135066"/>
              <a:gd name="connsiteY0" fmla="*/ 0 h 477997"/>
              <a:gd name="connsiteX1" fmla="*/ 1135066 w 1135066"/>
              <a:gd name="connsiteY1" fmla="*/ 0 h 477997"/>
              <a:gd name="connsiteX2" fmla="*/ 1133370 w 1135066"/>
              <a:gd name="connsiteY2" fmla="*/ 16827 h 477997"/>
              <a:gd name="connsiteX3" fmla="*/ 567533 w 1135066"/>
              <a:gd name="connsiteY3" fmla="*/ 477997 h 477997"/>
              <a:gd name="connsiteX4" fmla="*/ 1696 w 1135066"/>
              <a:gd name="connsiteY4" fmla="*/ 16827 h 47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5066" h="477997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B312AB-C157-8A2F-C4BD-0462E23DD9D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624479"/>
            <a:ext cx="5558489" cy="3552484"/>
          </a:xfrm>
        </p:spPr>
        <p:txBody>
          <a:bodyPr>
            <a:normAutofit/>
          </a:bodyPr>
          <a:lstStyle/>
          <a:p>
            <a:r>
              <a:rPr lang="en-US" dirty="0"/>
              <a:t>Manager presence on floor</a:t>
            </a:r>
          </a:p>
          <a:p>
            <a:r>
              <a:rPr lang="en-US" dirty="0"/>
              <a:t>Video surveillance</a:t>
            </a:r>
          </a:p>
          <a:p>
            <a:r>
              <a:rPr lang="en-US" dirty="0"/>
              <a:t>Empower employees to set boundaries</a:t>
            </a:r>
            <a:endParaRPr lang="en-KE" dirty="0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C3C0D90E-074A-4F52-9B11-B52BEF4BCB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21310" y="2624479"/>
            <a:ext cx="812427" cy="812427"/>
          </a:xfrm>
          <a:prstGeom prst="ellipse">
            <a:avLst/>
          </a:prstGeom>
          <a:noFill/>
          <a:ln w="127000"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Block Arc 13">
            <a:extLst>
              <a:ext uri="{FF2B5EF4-FFF2-40B4-BE49-F238E27FC236}">
                <a16:creationId xmlns:a16="http://schemas.microsoft.com/office/drawing/2014/main" id="{CABBD4C1-E6F8-46F6-8152-A8A97490BF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8912417" y="1218531"/>
            <a:ext cx="2387600" cy="2387600"/>
          </a:xfrm>
          <a:prstGeom prst="blockArc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83BA5EF5-1FE9-4BF9-83BB-269BCDDF61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21310" y="0"/>
            <a:ext cx="2315251" cy="1550992"/>
          </a:xfrm>
          <a:custGeom>
            <a:avLst/>
            <a:gdLst>
              <a:gd name="connsiteX0" fmla="*/ 0 w 2315251"/>
              <a:gd name="connsiteY0" fmla="*/ 0 h 1550992"/>
              <a:gd name="connsiteX1" fmla="*/ 138700 w 2315251"/>
              <a:gd name="connsiteY1" fmla="*/ 0 h 1550992"/>
              <a:gd name="connsiteX2" fmla="*/ 138700 w 2315251"/>
              <a:gd name="connsiteY2" fmla="*/ 1361400 h 1550992"/>
              <a:gd name="connsiteX3" fmla="*/ 2107387 w 2315251"/>
              <a:gd name="connsiteY3" fmla="*/ 222673 h 1550992"/>
              <a:gd name="connsiteX4" fmla="*/ 1722420 w 2315251"/>
              <a:gd name="connsiteY4" fmla="*/ 0 h 1550992"/>
              <a:gd name="connsiteX5" fmla="*/ 1999436 w 2315251"/>
              <a:gd name="connsiteY5" fmla="*/ 0 h 1550992"/>
              <a:gd name="connsiteX6" fmla="*/ 2280549 w 2315251"/>
              <a:gd name="connsiteY6" fmla="*/ 162605 h 1550992"/>
              <a:gd name="connsiteX7" fmla="*/ 2305953 w 2315251"/>
              <a:gd name="connsiteY7" fmla="*/ 257336 h 1550992"/>
              <a:gd name="connsiteX8" fmla="*/ 2280549 w 2315251"/>
              <a:gd name="connsiteY8" fmla="*/ 282740 h 1550992"/>
              <a:gd name="connsiteX9" fmla="*/ 104026 w 2315251"/>
              <a:gd name="connsiteY9" fmla="*/ 1541710 h 1550992"/>
              <a:gd name="connsiteX10" fmla="*/ 69351 w 2315251"/>
              <a:gd name="connsiteY10" fmla="*/ 1550992 h 1550992"/>
              <a:gd name="connsiteX11" fmla="*/ 0 w 2315251"/>
              <a:gd name="connsiteY11" fmla="*/ 1481643 h 15509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315251" h="1550992">
                <a:moveTo>
                  <a:pt x="0" y="0"/>
                </a:moveTo>
                <a:lnTo>
                  <a:pt x="138700" y="0"/>
                </a:lnTo>
                <a:lnTo>
                  <a:pt x="138700" y="1361400"/>
                </a:lnTo>
                <a:lnTo>
                  <a:pt x="2107387" y="222673"/>
                </a:lnTo>
                <a:lnTo>
                  <a:pt x="1722420" y="0"/>
                </a:lnTo>
                <a:lnTo>
                  <a:pt x="1999436" y="0"/>
                </a:lnTo>
                <a:lnTo>
                  <a:pt x="2280549" y="162605"/>
                </a:lnTo>
                <a:cubicBezTo>
                  <a:pt x="2313720" y="181745"/>
                  <a:pt x="2325104" y="224155"/>
                  <a:pt x="2305953" y="257336"/>
                </a:cubicBezTo>
                <a:cubicBezTo>
                  <a:pt x="2299872" y="267889"/>
                  <a:pt x="2291101" y="276648"/>
                  <a:pt x="2280549" y="282740"/>
                </a:cubicBezTo>
                <a:lnTo>
                  <a:pt x="104026" y="1541710"/>
                </a:lnTo>
                <a:cubicBezTo>
                  <a:pt x="93484" y="1547802"/>
                  <a:pt x="81523" y="1551003"/>
                  <a:pt x="69351" y="1550992"/>
                </a:cubicBezTo>
                <a:cubicBezTo>
                  <a:pt x="31049" y="1550992"/>
                  <a:pt x="0" y="1519944"/>
                  <a:pt x="0" y="1481643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4B3BCACB-5880-460B-9606-8C433A9AF9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1724638" y="1331572"/>
            <a:ext cx="0" cy="1597708"/>
          </a:xfrm>
          <a:prstGeom prst="line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88853921-7BC9-4BDE-ACAB-133C683C82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005550" y="4112081"/>
            <a:ext cx="1186451" cy="1771650"/>
          </a:xfrm>
          <a:custGeom>
            <a:avLst/>
            <a:gdLst>
              <a:gd name="connsiteX0" fmla="*/ 61913 w 1186451"/>
              <a:gd name="connsiteY0" fmla="*/ 0 h 1771650"/>
              <a:gd name="connsiteX1" fmla="*/ 1186451 w 1186451"/>
              <a:gd name="connsiteY1" fmla="*/ 0 h 1771650"/>
              <a:gd name="connsiteX2" fmla="*/ 1186451 w 1186451"/>
              <a:gd name="connsiteY2" fmla="*/ 123825 h 1771650"/>
              <a:gd name="connsiteX3" fmla="*/ 123825 w 1186451"/>
              <a:gd name="connsiteY3" fmla="*/ 123825 h 1771650"/>
              <a:gd name="connsiteX4" fmla="*/ 123825 w 1186451"/>
              <a:gd name="connsiteY4" fmla="*/ 1647825 h 1771650"/>
              <a:gd name="connsiteX5" fmla="*/ 1186451 w 1186451"/>
              <a:gd name="connsiteY5" fmla="*/ 1647825 h 1771650"/>
              <a:gd name="connsiteX6" fmla="*/ 1186451 w 1186451"/>
              <a:gd name="connsiteY6" fmla="*/ 1771650 h 1771650"/>
              <a:gd name="connsiteX7" fmla="*/ 61913 w 1186451"/>
              <a:gd name="connsiteY7" fmla="*/ 1771650 h 1771650"/>
              <a:gd name="connsiteX8" fmla="*/ 0 w 1186451"/>
              <a:gd name="connsiteY8" fmla="*/ 1709738 h 1771650"/>
              <a:gd name="connsiteX9" fmla="*/ 0 w 1186451"/>
              <a:gd name="connsiteY9" fmla="*/ 61913 h 1771650"/>
              <a:gd name="connsiteX10" fmla="*/ 61913 w 1186451"/>
              <a:gd name="connsiteY10" fmla="*/ 0 h 17716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186451" h="1771650">
                <a:moveTo>
                  <a:pt x="61913" y="0"/>
                </a:moveTo>
                <a:lnTo>
                  <a:pt x="1186451" y="0"/>
                </a:lnTo>
                <a:lnTo>
                  <a:pt x="1186451" y="123825"/>
                </a:lnTo>
                <a:lnTo>
                  <a:pt x="123825" y="123825"/>
                </a:lnTo>
                <a:lnTo>
                  <a:pt x="123825" y="1647825"/>
                </a:lnTo>
                <a:lnTo>
                  <a:pt x="1186451" y="1647825"/>
                </a:lnTo>
                <a:lnTo>
                  <a:pt x="1186451" y="1771650"/>
                </a:lnTo>
                <a:lnTo>
                  <a:pt x="61913" y="1771650"/>
                </a:lnTo>
                <a:cubicBezTo>
                  <a:pt x="27719" y="1771650"/>
                  <a:pt x="0" y="1743932"/>
                  <a:pt x="0" y="1709738"/>
                </a:cubicBezTo>
                <a:lnTo>
                  <a:pt x="0" y="61913"/>
                </a:lnTo>
                <a:cubicBezTo>
                  <a:pt x="0" y="27719"/>
                  <a:pt x="27719" y="0"/>
                  <a:pt x="61913" y="0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2" name="Arc 21">
            <a:extLst>
              <a:ext uri="{FF2B5EF4-FFF2-40B4-BE49-F238E27FC236}">
                <a16:creationId xmlns:a16="http://schemas.microsoft.com/office/drawing/2014/main" id="{09192968-3AE7-4470-A61C-97294BB927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992895">
            <a:off x="6086940" y="4145122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3AB72E55-43E4-4356-BFE8-E2102CB0B5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21310" y="4962670"/>
            <a:ext cx="2643352" cy="1895331"/>
          </a:xfrm>
          <a:custGeom>
            <a:avLst/>
            <a:gdLst>
              <a:gd name="connsiteX0" fmla="*/ 1321676 w 2643352"/>
              <a:gd name="connsiteY0" fmla="*/ 0 h 1895331"/>
              <a:gd name="connsiteX1" fmla="*/ 2643352 w 2643352"/>
              <a:gd name="connsiteY1" fmla="*/ 1321676 h 1895331"/>
              <a:gd name="connsiteX2" fmla="*/ 2539488 w 2643352"/>
              <a:gd name="connsiteY2" fmla="*/ 1836132 h 1895331"/>
              <a:gd name="connsiteX3" fmla="*/ 2510970 w 2643352"/>
              <a:gd name="connsiteY3" fmla="*/ 1895331 h 1895331"/>
              <a:gd name="connsiteX4" fmla="*/ 132382 w 2643352"/>
              <a:gd name="connsiteY4" fmla="*/ 1895331 h 1895331"/>
              <a:gd name="connsiteX5" fmla="*/ 103864 w 2643352"/>
              <a:gd name="connsiteY5" fmla="*/ 1836132 h 1895331"/>
              <a:gd name="connsiteX6" fmla="*/ 0 w 2643352"/>
              <a:gd name="connsiteY6" fmla="*/ 1321676 h 1895331"/>
              <a:gd name="connsiteX7" fmla="*/ 1321676 w 2643352"/>
              <a:gd name="connsiteY7" fmla="*/ 0 h 18953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643352" h="1895331">
                <a:moveTo>
                  <a:pt x="1321676" y="0"/>
                </a:moveTo>
                <a:cubicBezTo>
                  <a:pt x="2051617" y="0"/>
                  <a:pt x="2643352" y="591735"/>
                  <a:pt x="2643352" y="1321676"/>
                </a:cubicBezTo>
                <a:cubicBezTo>
                  <a:pt x="2643352" y="1504161"/>
                  <a:pt x="2606369" y="1678009"/>
                  <a:pt x="2539488" y="1836132"/>
                </a:cubicBezTo>
                <a:lnTo>
                  <a:pt x="2510970" y="1895331"/>
                </a:lnTo>
                <a:lnTo>
                  <a:pt x="132382" y="1895331"/>
                </a:lnTo>
                <a:lnTo>
                  <a:pt x="103864" y="1836132"/>
                </a:lnTo>
                <a:cubicBezTo>
                  <a:pt x="36984" y="1678009"/>
                  <a:pt x="0" y="1504161"/>
                  <a:pt x="0" y="1321676"/>
                </a:cubicBezTo>
                <a:cubicBezTo>
                  <a:pt x="0" y="591735"/>
                  <a:pt x="591735" y="0"/>
                  <a:pt x="1321676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575517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EB75DF-3E35-B6CE-6963-B72FAD4B5F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63500" marR="0">
              <a:spcBef>
                <a:spcPts val="0"/>
              </a:spcBef>
              <a:spcAft>
                <a:spcPts val="0"/>
              </a:spcAft>
            </a:pPr>
            <a:r>
              <a:rPr lang="en-US" sz="4400" b="1" kern="0" dirty="0">
                <a:effectLst/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				Conclusion</a:t>
            </a:r>
          </a:p>
        </p:txBody>
      </p:sp>
      <p:graphicFrame>
        <p:nvGraphicFramePr>
          <p:cNvPr id="20" name="Content Placeholder 2">
            <a:extLst>
              <a:ext uri="{FF2B5EF4-FFF2-40B4-BE49-F238E27FC236}">
                <a16:creationId xmlns:a16="http://schemas.microsoft.com/office/drawing/2014/main" id="{ACB33799-E27F-25ED-39E7-C779767F512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376493557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61449401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AB4A9D-F45D-DA7B-0B60-B64CC59E67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Reference</a:t>
            </a:r>
            <a:endParaRPr lang="en-K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EE9E66-A111-4BCD-AA1F-BC1B9DB5F18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Welsh, S. (1999). Gender and sexual harassment. Annual review of sociology, 25(1), 169-190.</a:t>
            </a:r>
          </a:p>
          <a:p>
            <a:r>
              <a:rPr lang="en-US" dirty="0"/>
              <a:t>Peirce, M. R. (1988). Sexual Harassment and Title VII--A Better Solution. BCL Rev., 30, 1071.</a:t>
            </a:r>
          </a:p>
          <a:p>
            <a:r>
              <a:rPr lang="en-US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Nawyn, S. J., Richman, J. A., </a:t>
            </a:r>
            <a:r>
              <a:rPr lang="en-US" b="0" i="0" dirty="0" err="1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Rospenda</a:t>
            </a:r>
            <a:r>
              <a:rPr lang="en-US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, K. M., &amp; Hughes, T. L. (2000). Sexual identity and alcohol-related outcomes: Contributions of workplace harassment. </a:t>
            </a:r>
            <a:r>
              <a:rPr lang="en-US" b="0" i="1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Journal of Substance Abuse</a:t>
            </a:r>
            <a:r>
              <a:rPr lang="en-US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, </a:t>
            </a:r>
            <a:r>
              <a:rPr lang="en-US" b="0" i="1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11</a:t>
            </a:r>
            <a:r>
              <a:rPr lang="en-US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(3), 289-304.</a:t>
            </a:r>
          </a:p>
          <a:p>
            <a:r>
              <a:rPr lang="en-US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Matulewicz, K. (2015). Law and the construction of institutionalized sexual harassment in restaurants. </a:t>
            </a:r>
            <a:r>
              <a:rPr lang="en-US" b="0" i="1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Canadian Journal of Law and Society/La Revue Canadienne Droit et Société</a:t>
            </a:r>
            <a:r>
              <a:rPr lang="en-US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, </a:t>
            </a:r>
            <a:r>
              <a:rPr lang="en-US" b="0" i="1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30</a:t>
            </a:r>
            <a:r>
              <a:rPr lang="en-US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(3), 401-419.</a:t>
            </a:r>
            <a:endParaRPr lang="en-KE" dirty="0"/>
          </a:p>
        </p:txBody>
      </p:sp>
    </p:spTree>
    <p:extLst>
      <p:ext uri="{BB962C8B-B14F-4D97-AF65-F5344CB8AC3E}">
        <p14:creationId xmlns:p14="http://schemas.microsoft.com/office/powerpoint/2010/main" val="31396853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871</TotalTime>
  <Words>527</Words>
  <Application>Microsoft Office PowerPoint</Application>
  <PresentationFormat>Widescreen</PresentationFormat>
  <Paragraphs>72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9" baseType="lpstr">
      <vt:lpstr>Arial</vt:lpstr>
      <vt:lpstr>Calibri</vt:lpstr>
      <vt:lpstr>Calibri Light</vt:lpstr>
      <vt:lpstr>Cambria</vt:lpstr>
      <vt:lpstr>Office Theme</vt:lpstr>
      <vt:lpstr>Sexual Harassment cases in Restaurant business</vt:lpstr>
      <vt:lpstr>Defining Sexual Harassment</vt:lpstr>
      <vt:lpstr>Scope of the Problem</vt:lpstr>
      <vt:lpstr>Common Forms of Harassment</vt:lpstr>
      <vt:lpstr>Impact on Victims</vt:lpstr>
      <vt:lpstr>Bystander Intervention Tips</vt:lpstr>
      <vt:lpstr>Customer Role in Solutions</vt:lpstr>
      <vt:lpstr>Effective Policy Components</vt:lpstr>
      <vt:lpstr>Effective sexual harassment policy components</vt:lpstr>
      <vt:lpstr>The Role of Management and Leadership</vt:lpstr>
      <vt:lpstr>Implementing and Enforcing Comprehensive Anti-Harassment Policies</vt:lpstr>
      <vt:lpstr>Protecting Employees from Customers harassment</vt:lpstr>
      <vt:lpstr>    Conclusion</vt:lpstr>
      <vt:lpstr>Reference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Sexual Harassment in Restaurants</dc:title>
  <dc:subject/>
  <dc:creator>MAJED ALJASIR</dc:creator>
  <cp:keywords/>
  <dc:description/>
  <cp:lastModifiedBy>Faris alsubaie</cp:lastModifiedBy>
  <cp:revision>6</cp:revision>
  <dcterms:created xsi:type="dcterms:W3CDTF">2023-12-08T18:09:47Z</dcterms:created>
  <dcterms:modified xsi:type="dcterms:W3CDTF">2023-12-09T14:07:09Z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defa4170-0d19-0005-0004-bc88714345d2_Enabled">
    <vt:lpwstr>true</vt:lpwstr>
  </property>
  <property fmtid="{D5CDD505-2E9C-101B-9397-08002B2CF9AE}" pid="3" name="MSIP_Label_defa4170-0d19-0005-0004-bc88714345d2_SetDate">
    <vt:lpwstr>2023-12-08T18:16:31Z</vt:lpwstr>
  </property>
  <property fmtid="{D5CDD505-2E9C-101B-9397-08002B2CF9AE}" pid="4" name="MSIP_Label_defa4170-0d19-0005-0004-bc88714345d2_Method">
    <vt:lpwstr>Standard</vt:lpwstr>
  </property>
  <property fmtid="{D5CDD505-2E9C-101B-9397-08002B2CF9AE}" pid="5" name="MSIP_Label_defa4170-0d19-0005-0004-bc88714345d2_Name">
    <vt:lpwstr>defa4170-0d19-0005-0004-bc88714345d2</vt:lpwstr>
  </property>
  <property fmtid="{D5CDD505-2E9C-101B-9397-08002B2CF9AE}" pid="6" name="MSIP_Label_defa4170-0d19-0005-0004-bc88714345d2_SiteId">
    <vt:lpwstr>5af1fa34-2ed4-4858-b513-41f277d52acc</vt:lpwstr>
  </property>
  <property fmtid="{D5CDD505-2E9C-101B-9397-08002B2CF9AE}" pid="7" name="MSIP_Label_defa4170-0d19-0005-0004-bc88714345d2_ActionId">
    <vt:lpwstr>95e676c0-1f4e-45c1-b43d-b7f891baf18f</vt:lpwstr>
  </property>
  <property fmtid="{D5CDD505-2E9C-101B-9397-08002B2CF9AE}" pid="8" name="MSIP_Label_defa4170-0d19-0005-0004-bc88714345d2_ContentBits">
    <vt:lpwstr>0</vt:lpwstr>
  </property>
</Properties>
</file>